
<file path=[Content_Types].xml><?xml version="1.0" encoding="utf-8"?>
<Types xmlns="http://schemas.openxmlformats.org/package/2006/content-types">
  <Default Extension="bin" ContentType="image/unknown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7" r:id="rId2"/>
    <p:sldId id="258" r:id="rId3"/>
    <p:sldId id="272" r:id="rId4"/>
    <p:sldId id="270" r:id="rId5"/>
    <p:sldId id="269" r:id="rId6"/>
    <p:sldId id="271" r:id="rId7"/>
    <p:sldId id="259" r:id="rId8"/>
    <p:sldId id="260" r:id="rId9"/>
    <p:sldId id="261" r:id="rId10"/>
    <p:sldId id="262" r:id="rId11"/>
    <p:sldId id="263" r:id="rId12"/>
    <p:sldId id="264" r:id="rId13"/>
    <p:sldId id="266" r:id="rId14"/>
    <p:sldId id="265" r:id="rId15"/>
    <p:sldId id="267" r:id="rId16"/>
    <p:sldId id="268" r:id="rId17"/>
    <p:sldId id="256" r:id="rId18"/>
  </p:sldIdLst>
  <p:sldSz cx="18288000" cy="10287000"/>
  <p:notesSz cx="7104063" cy="102346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A0B4"/>
    <a:srgbClr val="E5A330"/>
    <a:srgbClr val="E60013"/>
    <a:srgbClr val="002E6E"/>
    <a:srgbClr val="FAF8F3"/>
    <a:srgbClr val="0064A0"/>
    <a:srgbClr val="1518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淡色スタイル 1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淡色スタイル 1 - アクセント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中間スタイル 1 - アクセント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96" autoAdjust="0"/>
    <p:restoredTop sz="90707" autoAdjust="0"/>
  </p:normalViewPr>
  <p:slideViewPr>
    <p:cSldViewPr snapToGrid="0" snapToObjects="1">
      <p:cViewPr varScale="1">
        <p:scale>
          <a:sx n="44" d="100"/>
          <a:sy n="44" d="100"/>
        </p:scale>
        <p:origin x="1306" y="-1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53" d="100"/>
          <a:sy n="53" d="100"/>
        </p:scale>
        <p:origin x="3384" y="5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CF9DA328-2A6A-C63E-7874-D705918FE3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73F1901-C14E-EFC4-2144-1CF2246A0B6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3883D-613B-449A-8E41-D9D863F486E3}" type="datetimeFigureOut">
              <a:rPr kumimoji="1" lang="ja-JP" altLang="en-US" smtClean="0"/>
              <a:t>2026/6/20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B35E344-8B95-5B91-E74A-97767D9A292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4A434D0-A8E6-0503-5376-8F5CE9CD46B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CC74C4-5769-40ED-BF05-38AA2B123D2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87054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2978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noroshi.design/blog/mvp-development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blog.nijibox.jp/article/mvp_basic/" TargetMode="External"/><Relationship Id="rId5" Type="http://schemas.openxmlformats.org/officeDocument/2006/relationships/hyperlink" Target="https://www.youtube.com/watch?v=MY-eM_Xcohs" TargetMode="External"/><Relationship Id="rId4" Type="http://schemas.openxmlformats.org/officeDocument/2006/relationships/hyperlink" Target="https://ops-in.com/blog/mvp-development/" TargetMode="Externa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2DF32-958B-7FA9-E368-AB60F278A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70D7CF-E418-714B-C574-A5C2C99B95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E54FB7-6A7F-895C-70FF-1D680A0B50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D2C5CD-1CDC-E12B-846A-B3151EDE2E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9952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62719-0D46-BFCD-0E7E-F09F15E34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C91FA1-D792-4092-A323-DAA800A061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D9977A-3828-8186-F7AD-0F77BCF2A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r>
              <a:rPr lang="ja-JP" altLang="en-US"/>
              <a:t>課題</a:t>
            </a:r>
            <a:r>
              <a:rPr lang="en-US" altLang="ja-JP"/>
              <a:t>1</a:t>
            </a:r>
            <a:r>
              <a:rPr lang="ja-JP" altLang="en-US"/>
              <a:t>の必須要件である「申請・承認」「開発進捗管理」「予算管理」は、案件を中心に一気通貫で扱える形で実装しました。申請者は案件申請・進捗入力・予算実績入力、部門管理者は一次承認と自部門の進捗確認、本部管理者は最終承認と関連部門全体の進捗・予算確認を行えます。加えて、承認ステッパー、監査証跡、却下・再申請、自己承認防止、予算消費率の警告表示により、</a:t>
            </a:r>
            <a:r>
              <a:rPr lang="en-US" altLang="ja-JP"/>
              <a:t>PoC</a:t>
            </a:r>
            <a:r>
              <a:rPr lang="ja-JP" altLang="en-US"/>
              <a:t>としての運用性も高めました。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A877A-C945-3D8F-F1F9-C81067EC46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9806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62719-0D46-BFCD-0E7E-F09F15E34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C91FA1-D792-4092-A323-DAA800A061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D9977A-3828-8186-F7AD-0F77BCF2A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A877A-C945-3D8F-F1F9-C81067EC46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3060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A747B-13B3-1A46-972A-2ADADE579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97425B-3229-BCAC-8B3A-AD0782544F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80AB86-5E58-DE90-C860-5F787BB649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層 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採用技術 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endParaRPr kumimoji="1" lang="ja-JP" altLang="en-US" sz="1200" b="0" kern="1200"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|---|---|</a:t>
            </a:r>
            <a:endParaRPr kumimoji="1" lang="ja-JP" altLang="en-US" sz="1200" b="0" kern="1200"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バックエンド 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PHP 8.2 + Laravel 11 |</a:t>
            </a:r>
          </a:p>
          <a:p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 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認証 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Laravel Breeze (Inertia + React) |</a:t>
            </a:r>
          </a:p>
          <a:p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 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権限管理 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spatie/laravel-permission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（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1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ユーザー複数ロール） 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endParaRPr kumimoji="1" lang="ja-JP" altLang="en-US" sz="1200" b="0" kern="1200"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フロントエンド 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React 18 + TypeScript + Inertia.js |</a:t>
            </a:r>
          </a:p>
          <a:p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 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スタイル 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Tailwind CSS |</a:t>
            </a:r>
          </a:p>
          <a:p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 UI 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コンポーネント 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shadcn/ui + lucide-react |</a:t>
            </a:r>
          </a:p>
          <a:p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 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グラフ 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Recharts |</a:t>
            </a:r>
          </a:p>
          <a:p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 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データベース 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MySQL 8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（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XAMPP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） 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</a:p>
          <a:p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 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デプロイ 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|</a:t>
            </a:r>
            <a:r>
              <a:rPr kumimoji="1" lang="ja-JP" altLang="en-US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 </a:t>
            </a:r>
            <a: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Laravel Cloud |</a:t>
            </a:r>
          </a:p>
          <a:p>
            <a:br>
              <a:rPr kumimoji="1" lang="en-US" altLang="ja-JP" sz="1200" b="0" kern="1200">
                <a:solidFill>
                  <a:schemeClr val="tx1"/>
                </a:solidFill>
                <a:effectLst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</a:br>
            <a:endParaRPr kumimoji="1" lang="en-US" altLang="ja-JP" sz="1200" b="0" kern="1200">
              <a:solidFill>
                <a:schemeClr val="tx1"/>
              </a:solidFill>
              <a:effectLst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endParaRPr 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F5F674-DAD4-D756-D515-F46022CE5E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751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pPr defTabSz="554766"/>
            <a:r>
              <a:rPr lang="en-US" altLang="ja-JP" sz="700">
                <a:solidFill>
                  <a:srgbClr val="3A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は機能網羅ではなく </a:t>
            </a:r>
            <a:r>
              <a:rPr lang="en-US" altLang="ja-JP" sz="700" b="1">
                <a:solidFill>
                  <a:srgbClr val="3A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「Excelに戻らない設計」 </a:t>
            </a:r>
            <a:r>
              <a:rPr lang="en-US" altLang="ja-JP" sz="700">
                <a:solidFill>
                  <a:srgbClr val="3A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を目標に置く。そのために誰が・何に困っていて・何があれば移行できるかを先に言語化した。</a:t>
            </a:r>
            <a:endParaRPr lang="en-US" altLang="ja-JP" sz="700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pPr defTabSz="554766"/>
            <a:r>
              <a:rPr lang="en-US" altLang="ja-JP" sz="700">
                <a:solidFill>
                  <a:srgbClr val="3A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 に </a:t>
            </a:r>
            <a:r>
              <a:rPr lang="en-US" altLang="ja-JP" sz="700" b="1">
                <a:solidFill>
                  <a:srgbClr val="2F2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31時間 </a:t>
            </a:r>
            <a:r>
              <a:rPr lang="en-US" altLang="ja-JP" sz="700">
                <a:solidFill>
                  <a:srgbClr val="3A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を投資。実装前に解像度を上げ、AIへの指示回数を減らして時間内の完成度を高める。</a:t>
            </a:r>
            <a:endParaRPr lang="en-US" altLang="ja-JP" sz="700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pPr defTabSz="554766"/>
            <a:r>
              <a:rPr lang="en-US" altLang="ja-JP" sz="700">
                <a:solidFill>
                  <a:srgbClr val="3A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</a:t>
            </a:r>
            <a:r>
              <a:rPr lang="en-US" altLang="ja-JP" sz="700" err="1">
                <a:solidFill>
                  <a:srgbClr val="3A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を「速度と品質を補助する道具」と定義。自分で判断すべき部分と任せる部分を分けたことで、時間内の完成度を高めた</a:t>
            </a:r>
            <a:r>
              <a:rPr lang="en-US" altLang="ja-JP" sz="700">
                <a:solidFill>
                  <a:srgbClr val="3A3E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altLang="ja-JP" sz="700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作業・判断・残課題を</a:t>
            </a:r>
            <a:r>
              <a:rPr lang="en-US" altLang="ja-JP" sz="1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1 </a:t>
            </a:r>
            <a:r>
              <a:rPr lang="en-US" altLang="ja-JP" sz="12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日単位で閉じる。</a:t>
            </a:r>
            <a:r>
              <a:rPr lang="en-US" altLang="ja-JP" sz="1200" b="1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やらないこと</a:t>
            </a:r>
            <a:r>
              <a:rPr lang="en-US" altLang="ja-JP" sz="1200" b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altLang="ja-JP" sz="12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も明文化し、AI</a:t>
            </a:r>
            <a:r>
              <a:rPr lang="en-US" altLang="ja-JP" sz="1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altLang="ja-JP" sz="12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セッションをまたいでも文脈を失わない</a:t>
            </a:r>
            <a:r>
              <a:rPr lang="en-US" altLang="ja-JP" sz="1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altLang="ja-JP" sz="12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b="1" kern="0" spc="147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UI </a:t>
            </a:r>
            <a:r>
              <a:rPr lang="en-US" altLang="ja-JP" sz="1200" b="1" kern="0" spc="147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の作り込み</a:t>
            </a:r>
            <a:endParaRPr lang="en-US" altLang="ja-JP" sz="12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画面数を増やすのではなく、</a:t>
            </a:r>
            <a:r>
              <a:rPr lang="en-US" altLang="ja-JP" sz="1200" b="1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同じ画面で視点を切り替え</a:t>
            </a:r>
            <a:r>
              <a:rPr lang="en-US" altLang="ja-JP" sz="1200" b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altLang="ja-JP" sz="12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て導線を短く保つ。ロゴ由来のグラデで承認進捗を表現</a:t>
            </a:r>
            <a:r>
              <a:rPr lang="en-US" altLang="ja-JP" sz="1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altLang="ja-JP" sz="12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設計判断の根拠を残しているため</a:t>
            </a:r>
            <a:r>
              <a:rPr lang="en-US" altLang="ja-JP" sz="12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</a:t>
            </a:r>
            <a:r>
              <a:rPr lang="en-US" altLang="ja-JP" sz="1200" b="1">
                <a:solidFill>
                  <a:srgbClr val="E5A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</a:t>
            </a:r>
            <a:r>
              <a:rPr lang="en-US" altLang="ja-JP" sz="1200" b="1" err="1">
                <a:solidFill>
                  <a:srgbClr val="E5A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なぜその実装にしたか</a:t>
            </a:r>
            <a:r>
              <a:rPr lang="en-US" altLang="ja-JP" sz="1200" b="1">
                <a:solidFill>
                  <a:srgbClr val="E5A3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」</a:t>
            </a:r>
            <a:endParaRPr lang="en-US" altLang="ja-JP" sz="120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sz="1200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r>
              <a:rPr lang="ja-JP" altLang="ja-JP"/>
              <a:t>バーンダウンチャート（Burndown Chart）とは、プロジェクトの残りの作業量と経過時間を可視化したグラフ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2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入力画面の見やすさより、その後の</a:t>
            </a:r>
            <a:r>
              <a:rPr lang="en-US" altLang="ja-JP" sz="1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altLang="ja-JP" sz="1200" b="1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転記</a:t>
            </a:r>
            <a:r>
              <a:rPr lang="en-US" altLang="ja-JP" sz="1200" b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/ </a:t>
            </a:r>
            <a:r>
              <a:rPr lang="en-US" altLang="ja-JP" sz="1200" b="1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連絡</a:t>
            </a:r>
            <a:r>
              <a:rPr lang="en-US" altLang="ja-JP" sz="1200" b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/ </a:t>
            </a:r>
            <a:r>
              <a:rPr lang="en-US" altLang="ja-JP" sz="1200" b="1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監査</a:t>
            </a:r>
            <a:r>
              <a:rPr lang="en-US" altLang="ja-JP" sz="1200" b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altLang="ja-JP" sz="12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がアプリだけで回るかを優先</a:t>
            </a:r>
            <a:r>
              <a:rPr lang="en-US" altLang="ja-JP" sz="1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altLang="ja-JP" sz="12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br>
              <a:rPr lang="en-US"/>
            </a:br>
            <a:r>
              <a:rPr lang="en-US" altLang="ja-JP"/>
              <a:t>MVP</a:t>
            </a:r>
            <a:r>
              <a:rPr lang="ja-JP" altLang="en-US"/>
              <a:t>開発</a:t>
            </a:r>
            <a:br>
              <a:rPr lang="en-US"/>
            </a:br>
            <a:r>
              <a:rPr kumimoji="1" lang="ja-JP" altLang="ja-JP" sz="1200" b="1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略元の英語:</a:t>
            </a:r>
            <a:r>
              <a:rPr kumimoji="1" lang="ja-JP" altLang="ja-JP" sz="1200" b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Minimum Viable Product（ミニマム・バイアブル・プロダクト）</a:t>
            </a:r>
            <a:r>
              <a:rPr kumimoji="1" lang="ja-JP" altLang="ja-JP" sz="1200" b="1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日本語での意味:</a:t>
            </a:r>
            <a:r>
              <a:rPr kumimoji="1" lang="ja-JP" altLang="ja-JP" sz="1200" b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kumimoji="1" lang="ja-JP" altLang="ja-JP" sz="1200" b="1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実用最小限の製品</a:t>
            </a:r>
            <a:r>
              <a:rPr lang="ja-JP" altLang="ja-JP"/>
              <a:t> [</a:t>
            </a:r>
            <a:r>
              <a:rPr lang="ja-JP" altLang="ja-JP">
                <a:hlinkClick r:id="rId3"/>
              </a:rPr>
              <a:t>1</a:t>
            </a:r>
            <a:r>
              <a:rPr lang="ja-JP" altLang="ja-JP"/>
              <a:t>, </a:t>
            </a:r>
            <a:r>
              <a:rPr lang="ja-JP" altLang="ja-JP">
                <a:hlinkClick r:id="rId4"/>
              </a:rPr>
              <a:t>2</a:t>
            </a:r>
            <a:r>
              <a:rPr lang="ja-JP" altLang="ja-JP"/>
              <a:t>, </a:t>
            </a:r>
            <a:r>
              <a:rPr lang="ja-JP" altLang="ja-JP">
                <a:hlinkClick r:id="rId5"/>
              </a:rPr>
              <a:t>3</a:t>
            </a:r>
            <a:r>
              <a:rPr lang="ja-JP" altLang="ja-JP"/>
              <a:t>, </a:t>
            </a:r>
            <a:r>
              <a:rPr lang="ja-JP" altLang="ja-JP">
                <a:hlinkClick r:id="rId6"/>
              </a:rPr>
              <a:t>4</a:t>
            </a:r>
            <a:r>
              <a:rPr lang="ja-JP" altLang="ja-JP"/>
              <a:t>]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r>
              <a:rPr lang="ja-JP" altLang="ja-JP"/>
              <a:t>Minimum Viable Product（ミニマム・バイアブル・プロダクト）</a:t>
            </a:r>
            <a:br>
              <a:rPr lang="en-US" altLang="ja-JP"/>
            </a:br>
            <a:r>
              <a:rPr lang="ja-JP" altLang="ja-JP"/>
              <a:t>MVP（実用最小限の製品）開発とは、顧客に提供できる最小限の機能を備えたプロダクトを短期間・低コストで市場に投入し、</a:t>
            </a:r>
            <a:br>
              <a:rPr lang="en-US" altLang="ja-JP"/>
            </a:br>
            <a:r>
              <a:rPr lang="ja-JP" altLang="ja-JP"/>
              <a:t>実際のユーザーの反応を検証する手法です。開発リスクとコストを最小限に抑え、市場ニーズに合致した事業の構築を可能に</a:t>
            </a:r>
            <a:r>
              <a:rPr lang="ja-JP" altLang="en-US"/>
              <a:t>する</a:t>
            </a:r>
            <a:br>
              <a:rPr lang="en-US" altLang="ja-JP"/>
            </a:br>
            <a:br>
              <a:rPr lang="en-US" altLang="ja-JP"/>
            </a:b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55477" tIns="27738" rIns="55477" bIns="2773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/>
              <a:t>【</a:t>
            </a:r>
            <a:r>
              <a:rPr lang="ja-JP" altLang="en-US" b="1"/>
              <a:t>カラーガイド：</a:t>
            </a:r>
            <a:r>
              <a:rPr lang="en-US" altLang="ja-JP" b="1"/>
              <a:t>RGB</a:t>
            </a:r>
            <a:r>
              <a:rPr lang="ja-JP" altLang="en-US" b="1"/>
              <a:t>指定</a:t>
            </a:r>
            <a:r>
              <a:rPr lang="en-US" altLang="ja-JP" b="1"/>
              <a:t>】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err="1"/>
              <a:t>jpt</a:t>
            </a:r>
            <a:r>
              <a:rPr lang="en-US" altLang="ja-JP" b="1"/>
              <a:t>-indigo</a:t>
            </a:r>
            <a:r>
              <a:rPr lang="ja-JP" altLang="en-US" b="1"/>
              <a:t>：</a:t>
            </a:r>
            <a:r>
              <a:rPr lang="en-US" altLang="ja-JP" b="1"/>
              <a:t>R47 / G46 / B110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err="1"/>
              <a:t>jpt</a:t>
            </a:r>
            <a:r>
              <a:rPr lang="en-US" altLang="ja-JP" b="1"/>
              <a:t>-blue</a:t>
            </a:r>
            <a:r>
              <a:rPr lang="ja-JP" altLang="en-US" b="1"/>
              <a:t>：</a:t>
            </a:r>
            <a:r>
              <a:rPr lang="en-US" altLang="ja-JP" b="1"/>
              <a:t>R0 / G100 / B160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err="1"/>
              <a:t>jpt</a:t>
            </a:r>
            <a:r>
              <a:rPr lang="en-US" altLang="ja-JP" b="1"/>
              <a:t>-cyan</a:t>
            </a:r>
            <a:r>
              <a:rPr lang="ja-JP" altLang="en-US" b="1"/>
              <a:t>：</a:t>
            </a:r>
            <a:r>
              <a:rPr lang="en-US" altLang="ja-JP" b="1"/>
              <a:t>R20 / G160 / B180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err="1"/>
              <a:t>jpt</a:t>
            </a:r>
            <a:r>
              <a:rPr lang="en-US" altLang="ja-JP" b="1"/>
              <a:t>-amber</a:t>
            </a:r>
            <a:r>
              <a:rPr lang="ja-JP" altLang="en-US" b="1"/>
              <a:t>：</a:t>
            </a:r>
            <a:r>
              <a:rPr lang="en-US" altLang="ja-JP" b="1"/>
              <a:t>R229 / G163 / B48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 err="1"/>
              <a:t>jpt</a:t>
            </a:r>
            <a:r>
              <a:rPr lang="en-US" altLang="ja-JP" b="1"/>
              <a:t>-red</a:t>
            </a:r>
            <a:r>
              <a:rPr lang="ja-JP" altLang="en-US" b="1"/>
              <a:t>（</a:t>
            </a:r>
            <a:r>
              <a:rPr lang="en-US" altLang="ja-JP" b="1"/>
              <a:t>CTA</a:t>
            </a:r>
            <a:r>
              <a:rPr lang="ja-JP" altLang="en-US" b="1"/>
              <a:t>）：</a:t>
            </a:r>
            <a:r>
              <a:rPr lang="en-US" altLang="ja-JP" b="1"/>
              <a:t>R230 / G0 / B19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/>
              <a:t>paper</a:t>
            </a:r>
            <a:r>
              <a:rPr lang="ja-JP" altLang="en-US" b="1"/>
              <a:t>：</a:t>
            </a:r>
            <a:r>
              <a:rPr lang="en-US" altLang="ja-JP" b="1"/>
              <a:t>R250 / G248 / B243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b="1"/>
              <a:t>ink</a:t>
            </a:r>
            <a:r>
              <a:rPr lang="ja-JP" altLang="en-US" b="1"/>
              <a:t>：</a:t>
            </a:r>
            <a:r>
              <a:rPr lang="en-US" altLang="ja-JP" b="1"/>
              <a:t>R21 / G24 / B42</a:t>
            </a:r>
            <a:br>
              <a:rPr lang="en-US" altLang="ja-JP" b="1"/>
            </a:br>
            <a:br>
              <a:rPr lang="en-US" altLang="ja-JP" b="1"/>
            </a:br>
            <a:r>
              <a:rPr lang="en-US" altLang="ja-JP" sz="1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CTA</a:t>
            </a:r>
            <a:r>
              <a:rPr lang="ja-JP" altLang="en-US" sz="1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　</a:t>
            </a:r>
            <a:r>
              <a:rPr lang="en-US" altLang="ja-JP" sz="1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Call To</a:t>
            </a:r>
            <a:r>
              <a:rPr lang="ja-JP" altLang="en-US" sz="1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　</a:t>
            </a:r>
            <a:r>
              <a:rPr lang="en-US" altLang="ja-JP" sz="1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Action</a:t>
            </a:r>
            <a:r>
              <a:rPr lang="ja-JP" altLang="en-US" sz="12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　だけ</a:t>
            </a:r>
            <a:endParaRPr lang="en-US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55477" tIns="27738" rIns="55477" bIns="27738"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5A330">
              <a:alpha val="10000"/>
            </a:srgbClr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E60013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90600" y="971550"/>
            <a:ext cx="4892652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275" b="1" kern="0" spc="230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開発管理プロセス一元化アプリケーション · PoC</a:t>
            </a:r>
            <a:endParaRPr lang="en-US" sz="1275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Text 6"/>
          <p:cNvSpPr/>
          <p:nvPr/>
        </p:nvSpPr>
        <p:spPr>
          <a:xfrm>
            <a:off x="990600" y="1585020"/>
            <a:ext cx="8892372" cy="1703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3800" b="1" kern="0" spc="-276">
                <a:solidFill>
                  <a:srgbClr val="000000"/>
                </a:solidFill>
                <a:latin typeface="Arial" pitchFamily="34" charset="0"/>
                <a:ea typeface="Meiryo UI" panose="020B0604030504040204" pitchFamily="50" charset="-128"/>
                <a:cs typeface="Arial" pitchFamily="34" charset="-120"/>
              </a:rPr>
              <a:t>Proj</a:t>
            </a:r>
            <a:r>
              <a:rPr lang="en-US" sz="13800" b="1" kern="0" spc="-276">
                <a:solidFill>
                  <a:srgbClr val="0064A0"/>
                </a:solidFill>
                <a:latin typeface="Arial" pitchFamily="34" charset="0"/>
                <a:ea typeface="Meiryo UI" panose="020B0604030504040204" pitchFamily="50" charset="-128"/>
                <a:cs typeface="Arial" pitchFamily="34" charset="-120"/>
              </a:rPr>
              <a:t>N</a:t>
            </a:r>
            <a:r>
              <a:rPr lang="en-US" sz="13800" b="1" kern="0" spc="-276">
                <a:solidFill>
                  <a:srgbClr val="000000"/>
                </a:solidFill>
                <a:latin typeface="Arial" pitchFamily="34" charset="0"/>
                <a:ea typeface="Meiryo UI" panose="020B0604030504040204" pitchFamily="50" charset="-128"/>
                <a:cs typeface="Arial" pitchFamily="34" charset="-120"/>
              </a:rPr>
              <a:t>exus</a:t>
            </a:r>
            <a:r>
              <a:rPr lang="en-US" sz="13800" b="1" kern="0" spc="-276">
                <a:solidFill>
                  <a:srgbClr val="E5A330"/>
                </a:solidFill>
                <a:latin typeface="Arial" pitchFamily="34" charset="0"/>
                <a:ea typeface="Meiryo UI" panose="020B0604030504040204" pitchFamily="50" charset="-128"/>
                <a:cs typeface="Arial" pitchFamily="34" charset="-120"/>
              </a:rPr>
              <a:t>.</a:t>
            </a:r>
            <a:endParaRPr lang="en-US" sz="13800"/>
          </a:p>
        </p:txBody>
      </p:sp>
      <p:sp>
        <p:nvSpPr>
          <p:cNvPr id="11" name="Shape 9"/>
          <p:cNvSpPr/>
          <p:nvPr/>
        </p:nvSpPr>
        <p:spPr>
          <a:xfrm>
            <a:off x="990600" y="8582025"/>
            <a:ext cx="8633371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92641" y="7648575"/>
            <a:ext cx="275544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kern="0" spc="168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PRESENTED BY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153102" y="7608690"/>
            <a:ext cx="2308366" cy="663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28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高橋 朋子</a:t>
            </a: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153102" y="8058150"/>
            <a:ext cx="145896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35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Takahashi Tomoko</a:t>
            </a:r>
            <a:endParaRPr lang="en-US" sz="13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10305633" y="4941689"/>
            <a:ext cx="7063829" cy="363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10696158" y="5293694"/>
            <a:ext cx="6471263" cy="486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kern="0" spc="189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★ プロジェクト名の由来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10696158" y="5733967"/>
            <a:ext cx="6471263" cy="9436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550" b="1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ProjNexus </a:t>
            </a:r>
            <a:r>
              <a:rPr lang="en-US" sz="2550" b="1">
                <a:solidFill>
                  <a:srgbClr val="C686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= </a:t>
            </a:r>
            <a:r>
              <a:rPr lang="en-US" sz="2550" b="1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Project</a:t>
            </a:r>
            <a:r>
              <a:rPr lang="ja-JP" altLang="en-US" sz="2550" b="1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　</a:t>
            </a:r>
            <a:r>
              <a:rPr lang="en-US" sz="2550" b="1">
                <a:solidFill>
                  <a:srgbClr val="C686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+ </a:t>
            </a:r>
            <a:r>
              <a:rPr lang="en-US" sz="2550" b="1">
                <a:solidFill>
                  <a:srgbClr val="14A0B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Nexus</a:t>
            </a:r>
            <a:endParaRPr lang="en-US" sz="25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10696158" y="6788699"/>
            <a:ext cx="6282779" cy="9514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10696157" y="6990893"/>
            <a:ext cx="6471263" cy="14270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5000"/>
              </a:lnSpc>
              <a:buNone/>
            </a:pPr>
            <a:r>
              <a:rPr lang="en-US" sz="1500" b="1">
                <a:solidFill>
                  <a:srgbClr val="2F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Nexus（ネクサス） </a:t>
            </a:r>
            <a:r>
              <a:rPr lang="en-US" sz="15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とは「すべてが繋がる中心点」を意味します。 申請者・部門管理者・本部管理者 — それぞれの視点を </a:t>
            </a:r>
            <a:r>
              <a:rPr lang="en-US" sz="1500" b="1">
                <a:solidFill>
                  <a:srgbClr val="2F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ひとつの軸に繋ぎ </a:t>
            </a:r>
            <a:r>
              <a:rPr lang="en-US" sz="15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、プロジェクトを目標へと導く。それが </a:t>
            </a:r>
            <a:r>
              <a:rPr lang="en-US" sz="1500" b="1">
                <a:solidFill>
                  <a:srgbClr val="2F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ProjNexus </a:t>
            </a:r>
            <a:r>
              <a:rPr lang="en-US" sz="15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のコンセプトです。</a:t>
            </a:r>
            <a:endParaRPr lang="en-US" sz="15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32" name="グループ化 31">
            <a:extLst>
              <a:ext uri="{FF2B5EF4-FFF2-40B4-BE49-F238E27FC236}">
                <a16:creationId xmlns:a16="http://schemas.microsoft.com/office/drawing/2014/main" id="{2677FEEC-872A-379B-5481-DA90C4981AA3}"/>
              </a:ext>
            </a:extLst>
          </p:cNvPr>
          <p:cNvGrpSpPr/>
          <p:nvPr/>
        </p:nvGrpSpPr>
        <p:grpSpPr>
          <a:xfrm>
            <a:off x="10233571" y="1219198"/>
            <a:ext cx="7063829" cy="5811659"/>
            <a:chOff x="990601" y="5590282"/>
            <a:chExt cx="7063829" cy="3515987"/>
          </a:xfrm>
        </p:grpSpPr>
        <p:grpSp>
          <p:nvGrpSpPr>
            <p:cNvPr id="30" name="グループ化 29">
              <a:extLst>
                <a:ext uri="{FF2B5EF4-FFF2-40B4-BE49-F238E27FC236}">
                  <a16:creationId xmlns:a16="http://schemas.microsoft.com/office/drawing/2014/main" id="{A5156A7B-AA25-7AEB-8BDC-BA3850662B5C}"/>
                </a:ext>
              </a:extLst>
            </p:cNvPr>
            <p:cNvGrpSpPr/>
            <p:nvPr/>
          </p:nvGrpSpPr>
          <p:grpSpPr>
            <a:xfrm>
              <a:off x="990601" y="5590282"/>
              <a:ext cx="7063829" cy="2038350"/>
              <a:chOff x="10233571" y="952500"/>
              <a:chExt cx="7063829" cy="2038350"/>
            </a:xfrm>
          </p:grpSpPr>
          <p:sp>
            <p:nvSpPr>
              <p:cNvPr id="7" name="Shape 15"/>
              <p:cNvSpPr/>
              <p:nvPr/>
            </p:nvSpPr>
            <p:spPr>
              <a:xfrm>
                <a:off x="10233571" y="952500"/>
                <a:ext cx="7063829" cy="20383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DCD8CE"/>
                </a:solidFill>
                <a:prstDash val="solid"/>
              </a:ln>
            </p:spPr>
            <p:txBody>
              <a:bodyPr>
                <a:noAutofit/>
              </a:bodyPr>
              <a:lstStyle/>
              <a:p>
                <a:endParaRPr lang="ja-JP" altLang="en-US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10" name="Text 16"/>
              <p:cNvSpPr/>
              <p:nvPr/>
            </p:nvSpPr>
            <p:spPr>
              <a:xfrm>
                <a:off x="12186196" y="1378744"/>
                <a:ext cx="2394347" cy="223838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Autofit/>
              </a:bodyPr>
              <a:lstStyle/>
              <a:p>
                <a:pPr marL="0" indent="0" algn="l">
                  <a:lnSpc>
                    <a:spcPct val="150000"/>
                  </a:lnSpc>
                  <a:buNone/>
                </a:pPr>
                <a:r>
                  <a:rPr lang="en-US" sz="975" kern="0" spc="176">
                    <a:solidFill>
                      <a:srgbClr val="6F7388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Courier New" pitchFamily="34" charset="-120"/>
                  </a:rPr>
                  <a:t>JPT INTERNSHIP CHALLENGE</a:t>
                </a:r>
                <a:endParaRPr lang="en-US" sz="975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15" name="Text 17"/>
              <p:cNvSpPr/>
              <p:nvPr/>
            </p:nvSpPr>
            <p:spPr>
              <a:xfrm>
                <a:off x="12290970" y="1630851"/>
                <a:ext cx="1333500" cy="3429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1650" b="1">
                    <a:solidFill>
                      <a:srgbClr val="15182A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日揮パラレル</a:t>
                </a:r>
                <a:endParaRPr lang="en-US" sz="165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28" name="Text 18"/>
              <p:cNvSpPr/>
              <p:nvPr/>
            </p:nvSpPr>
            <p:spPr>
              <a:xfrm>
                <a:off x="12290970" y="1945176"/>
                <a:ext cx="1543050" cy="3429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1650" b="1">
                    <a:solidFill>
                      <a:srgbClr val="15182A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テクノロジーズ</a:t>
                </a:r>
                <a:endParaRPr lang="en-US" sz="165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29" name="Text 19"/>
              <p:cNvSpPr/>
              <p:nvPr/>
            </p:nvSpPr>
            <p:spPr>
              <a:xfrm>
                <a:off x="12290970" y="2259501"/>
                <a:ext cx="1752600" cy="3429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1650" b="1">
                    <a:solidFill>
                      <a:srgbClr val="15182A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インターンシップ</a:t>
                </a:r>
                <a:endParaRPr lang="en-US" sz="165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</p:grpSp>
        <p:sp>
          <p:nvSpPr>
            <p:cNvPr id="16" name="Text 14"/>
            <p:cNvSpPr/>
            <p:nvPr/>
          </p:nvSpPr>
          <p:spPr>
            <a:xfrm>
              <a:off x="3048000" y="7194000"/>
              <a:ext cx="4532226" cy="47622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>
                <a:buNone/>
              </a:pPr>
              <a:r>
                <a:rPr lang="en-US" kern="0" spc="144">
                  <a:solidFill>
                    <a:schemeClr val="tx1">
                      <a:lumMod val="95000"/>
                      <a:lumOff val="5000"/>
                    </a:schemeClr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2026.04.13 — 05.15</a:t>
              </a:r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3" name="Text 14">
              <a:extLst>
                <a:ext uri="{FF2B5EF4-FFF2-40B4-BE49-F238E27FC236}">
                  <a16:creationId xmlns:a16="http://schemas.microsoft.com/office/drawing/2014/main" id="{E3540B2F-E555-4397-1E83-2E5F69F74F74}"/>
                </a:ext>
              </a:extLst>
            </p:cNvPr>
            <p:cNvSpPr/>
            <p:nvPr/>
          </p:nvSpPr>
          <p:spPr>
            <a:xfrm>
              <a:off x="3782750" y="8630048"/>
              <a:ext cx="1855403" cy="47622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r>
                <a:rPr lang="en-US" altLang="ja-JP">
                  <a:solidFill>
                    <a:srgbClr val="6F7388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案件管理</a:t>
              </a:r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4" name="Text 14">
              <a:extLst>
                <a:ext uri="{FF2B5EF4-FFF2-40B4-BE49-F238E27FC236}">
                  <a16:creationId xmlns:a16="http://schemas.microsoft.com/office/drawing/2014/main" id="{90E33BDA-6E86-BB89-C5B4-4E212B5D7002}"/>
                </a:ext>
              </a:extLst>
            </p:cNvPr>
            <p:cNvSpPr/>
            <p:nvPr/>
          </p:nvSpPr>
          <p:spPr>
            <a:xfrm>
              <a:off x="5582828" y="8630048"/>
              <a:ext cx="1855403" cy="47622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r>
                <a:rPr lang="en-US" altLang="ja-JP">
                  <a:solidFill>
                    <a:srgbClr val="6F7388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接続点・中枢</a:t>
              </a:r>
              <a:endParaRPr lang="en-US">
                <a:solidFill>
                  <a:schemeClr val="tx1">
                    <a:lumMod val="95000"/>
                    <a:lumOff val="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9" name="Text 14">
              <a:extLst>
                <a:ext uri="{FF2B5EF4-FFF2-40B4-BE49-F238E27FC236}">
                  <a16:creationId xmlns:a16="http://schemas.microsoft.com/office/drawing/2014/main" id="{EC2A707B-9CC6-17C2-1DE0-192A85855D4D}"/>
                </a:ext>
              </a:extLst>
            </p:cNvPr>
            <p:cNvSpPr/>
            <p:nvPr/>
          </p:nvSpPr>
          <p:spPr>
            <a:xfrm>
              <a:off x="1405802" y="8630048"/>
              <a:ext cx="2266862" cy="47622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r>
                <a:rPr lang="ja-JP" altLang="en-US">
                  <a:solidFill>
                    <a:srgbClr val="6F7388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（プロジ・ネクサス）</a:t>
              </a:r>
              <a:endParaRPr lang="en-US" altLang="ja-JP">
                <a:solidFill>
                  <a:schemeClr val="tx1">
                    <a:lumMod val="95000"/>
                    <a:lumOff val="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5" name="楕円 4">
            <a:extLst>
              <a:ext uri="{FF2B5EF4-FFF2-40B4-BE49-F238E27FC236}">
                <a16:creationId xmlns:a16="http://schemas.microsoft.com/office/drawing/2014/main" id="{148B7858-99E0-B3C1-BF8B-E3BF912840DA}"/>
              </a:ext>
            </a:extLst>
          </p:cNvPr>
          <p:cNvSpPr/>
          <p:nvPr/>
        </p:nvSpPr>
        <p:spPr>
          <a:xfrm>
            <a:off x="10624096" y="2385293"/>
            <a:ext cx="720000" cy="720000"/>
          </a:xfrm>
          <a:prstGeom prst="ellipse">
            <a:avLst/>
          </a:prstGeom>
          <a:solidFill>
            <a:srgbClr val="002E6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E5A330"/>
              </a:solidFill>
            </a:endParaRP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DF4CE6C0-C361-0427-C65A-03AFF5E5A110}"/>
              </a:ext>
            </a:extLst>
          </p:cNvPr>
          <p:cNvSpPr/>
          <p:nvPr/>
        </p:nvSpPr>
        <p:spPr>
          <a:xfrm>
            <a:off x="10624096" y="3039962"/>
            <a:ext cx="720000" cy="720000"/>
          </a:xfrm>
          <a:prstGeom prst="ellipse">
            <a:avLst/>
          </a:prstGeom>
          <a:solidFill>
            <a:srgbClr val="0064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E5A330"/>
              </a:solidFill>
            </a:endParaRPr>
          </a:p>
        </p:txBody>
      </p:sp>
      <p:sp>
        <p:nvSpPr>
          <p:cNvPr id="18" name="楕円 17">
            <a:extLst>
              <a:ext uri="{FF2B5EF4-FFF2-40B4-BE49-F238E27FC236}">
                <a16:creationId xmlns:a16="http://schemas.microsoft.com/office/drawing/2014/main" id="{96DCB5B1-0C58-27B7-9E47-F81120FCE586}"/>
              </a:ext>
            </a:extLst>
          </p:cNvPr>
          <p:cNvSpPr/>
          <p:nvPr/>
        </p:nvSpPr>
        <p:spPr>
          <a:xfrm>
            <a:off x="10624096" y="3694632"/>
            <a:ext cx="720000" cy="720000"/>
          </a:xfrm>
          <a:prstGeom prst="ellipse">
            <a:avLst/>
          </a:prstGeom>
          <a:solidFill>
            <a:srgbClr val="14A0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E5A330"/>
              </a:solidFill>
            </a:endParaRPr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5DD715EF-00BF-8C60-EF9A-EC0BEB398A0D}"/>
              </a:ext>
            </a:extLst>
          </p:cNvPr>
          <p:cNvSpPr/>
          <p:nvPr/>
        </p:nvSpPr>
        <p:spPr>
          <a:xfrm>
            <a:off x="10624096" y="1585020"/>
            <a:ext cx="720000" cy="720000"/>
          </a:xfrm>
          <a:prstGeom prst="ellipse">
            <a:avLst/>
          </a:prstGeom>
          <a:solidFill>
            <a:srgbClr val="E5A3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E5A33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図 71">
            <a:extLst>
              <a:ext uri="{FF2B5EF4-FFF2-40B4-BE49-F238E27FC236}">
                <a16:creationId xmlns:a16="http://schemas.microsoft.com/office/drawing/2014/main" id="{4C913A72-6A0F-880C-F03C-33E84CFAD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5275" y="3101250"/>
            <a:ext cx="4031665" cy="868917"/>
          </a:xfrm>
          <a:prstGeom prst="rect">
            <a:avLst/>
          </a:prstGeom>
          <a:ln>
            <a:solidFill>
              <a:srgbClr val="002E6E"/>
            </a:solidFill>
          </a:ln>
        </p:spPr>
      </p:pic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399" y="342899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002E6E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プロダクト　概要</a:t>
            </a:r>
            <a:endParaRPr lang="en-US" sz="2400" b="1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1123950"/>
            <a:ext cx="9366945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3ツール</a:t>
            </a:r>
            <a:r>
              <a:rPr lang="ja-JP" alt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に分断された業務を</a:t>
            </a:r>
            <a:br>
              <a:rPr 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ja-JP" altLang="en-US" sz="5400" b="1" kern="0" spc="-8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ひとつの画面体験</a:t>
            </a:r>
            <a:r>
              <a:rPr lang="ja-JP" alt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にまとめる</a:t>
            </a:r>
            <a:endParaRPr lang="en-US" sz="5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914400" y="8558867"/>
            <a:ext cx="16459200" cy="1095226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874961" y="8558867"/>
            <a:ext cx="1273671" cy="1086715"/>
          </a:xfrm>
          <a:prstGeom prst="rect">
            <a:avLst/>
          </a:prstGeom>
          <a:solidFill>
            <a:srgbClr val="E5A330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1181100" y="9025355"/>
            <a:ext cx="1528750" cy="362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kern="0" spc="72">
                <a:solidFill>
                  <a:srgbClr val="1E1D5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VALUE</a:t>
            </a:r>
            <a:endParaRPr lang="en-US" sz="1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2454771" y="8767408"/>
            <a:ext cx="14918829" cy="624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55000"/>
              </a:lnSpc>
            </a:pPr>
            <a:r>
              <a:rPr lang="en-US" altLang="ja-JP" sz="280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部署を越えた情報連携を</a:t>
            </a:r>
            <a:r>
              <a:rPr lang="en-US" altLang="ja-JP" sz="3600" b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自動化</a:t>
            </a:r>
            <a:r>
              <a:rPr lang="ja-JP" altLang="en-US" sz="28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し、</a:t>
            </a:r>
            <a:r>
              <a:rPr lang="en-US" altLang="ja-JP" sz="280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ロール別に</a:t>
            </a:r>
            <a:r>
              <a:rPr lang="en-US" altLang="ja-JP" sz="3600" b="1" err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「今やるべきこと」</a:t>
            </a:r>
            <a:r>
              <a:rPr lang="en-US" altLang="ja-JP" sz="3600" b="1" err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を即把握</a:t>
            </a:r>
            <a:r>
              <a:rPr lang="ja-JP" altLang="en-US" sz="280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できるようにする</a:t>
            </a:r>
            <a:endParaRPr lang="en-US" altLang="ja-JP" sz="28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l">
              <a:lnSpc>
                <a:spcPct val="155000"/>
              </a:lnSpc>
              <a:buNone/>
            </a:pP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3521571" y="9159627"/>
            <a:ext cx="196215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5407521" y="9197727"/>
            <a:ext cx="366922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8969871" y="9159627"/>
            <a:ext cx="70485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9598521" y="9197727"/>
            <a:ext cx="7048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F20E72FC-2BEE-C765-3322-AC23F21003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0838" y="-1975991"/>
            <a:ext cx="1133475" cy="923925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FFC79686-6507-27E4-6CFC-997E48D62F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961" y="2994330"/>
            <a:ext cx="8201781" cy="4999050"/>
          </a:xfrm>
          <a:prstGeom prst="rect">
            <a:avLst/>
          </a:prstGeom>
        </p:spPr>
      </p:pic>
      <p:sp>
        <p:nvSpPr>
          <p:cNvPr id="5" name="Text 16">
            <a:extLst>
              <a:ext uri="{FF2B5EF4-FFF2-40B4-BE49-F238E27FC236}">
                <a16:creationId xmlns:a16="http://schemas.microsoft.com/office/drawing/2014/main" id="{5610CE0C-7D01-23FA-AC21-521583714637}"/>
              </a:ext>
            </a:extLst>
          </p:cNvPr>
          <p:cNvSpPr/>
          <p:nvPr/>
        </p:nvSpPr>
        <p:spPr>
          <a:xfrm rot="20884023">
            <a:off x="5522090" y="4298228"/>
            <a:ext cx="2013024" cy="581522"/>
          </a:xfrm>
          <a:prstGeom prst="roundRect">
            <a:avLst/>
          </a:prstGeom>
          <a:solidFill>
            <a:srgbClr val="E60013"/>
          </a:solidFill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ja-JP" altLang="en-US" sz="2900" b="1" kern="0" spc="195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転記不要</a:t>
            </a:r>
            <a:endParaRPr lang="en-US" sz="975" b="1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7" name="図 26">
            <a:extLst>
              <a:ext uri="{FF2B5EF4-FFF2-40B4-BE49-F238E27FC236}">
                <a16:creationId xmlns:a16="http://schemas.microsoft.com/office/drawing/2014/main" id="{837E8F1D-86DF-712D-E6F5-E46796D566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50440" y="3970167"/>
            <a:ext cx="7437560" cy="3367273"/>
          </a:xfrm>
          <a:prstGeom prst="rect">
            <a:avLst/>
          </a:prstGeom>
          <a:ln>
            <a:solidFill>
              <a:srgbClr val="002E6E"/>
            </a:solidFill>
          </a:ln>
        </p:spPr>
      </p:pic>
      <p:pic>
        <p:nvPicPr>
          <p:cNvPr id="65" name="図 64">
            <a:extLst>
              <a:ext uri="{FF2B5EF4-FFF2-40B4-BE49-F238E27FC236}">
                <a16:creationId xmlns:a16="http://schemas.microsoft.com/office/drawing/2014/main" id="{5AFDBAEC-DEA9-C1D5-33DB-48140AA6AA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5275" y="5338225"/>
            <a:ext cx="6221771" cy="2823879"/>
          </a:xfrm>
          <a:prstGeom prst="rect">
            <a:avLst/>
          </a:prstGeom>
          <a:ln>
            <a:solidFill>
              <a:srgbClr val="002E6E"/>
            </a:solidFill>
          </a:ln>
        </p:spPr>
      </p:pic>
      <p:sp>
        <p:nvSpPr>
          <p:cNvPr id="73" name="Text 4">
            <a:extLst>
              <a:ext uri="{FF2B5EF4-FFF2-40B4-BE49-F238E27FC236}">
                <a16:creationId xmlns:a16="http://schemas.microsoft.com/office/drawing/2014/main" id="{40E95ABD-1A07-896B-F926-175050845DE1}"/>
              </a:ext>
            </a:extLst>
          </p:cNvPr>
          <p:cNvSpPr/>
          <p:nvPr/>
        </p:nvSpPr>
        <p:spPr>
          <a:xfrm>
            <a:off x="9885748" y="1123950"/>
            <a:ext cx="8191238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ja-JP" alt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情報を連携させ、</a:t>
            </a:r>
            <a:br>
              <a:rPr lang="en-US" altLang="ja-JP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ja-JP" alt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課題を</a:t>
            </a:r>
            <a:r>
              <a:rPr lang="ja-JP" altLang="en-US" sz="5400" b="1" kern="0" spc="-8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見える化</a:t>
            </a:r>
            <a:r>
              <a:rPr lang="ja-JP" alt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する</a:t>
            </a:r>
            <a:endParaRPr lang="en-US" sz="5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Text 16">
            <a:extLst>
              <a:ext uri="{FF2B5EF4-FFF2-40B4-BE49-F238E27FC236}">
                <a16:creationId xmlns:a16="http://schemas.microsoft.com/office/drawing/2014/main" id="{9C72FED8-26A8-7E9F-F8B2-029D8C2DFE3D}"/>
              </a:ext>
            </a:extLst>
          </p:cNvPr>
          <p:cNvSpPr/>
          <p:nvPr/>
        </p:nvSpPr>
        <p:spPr>
          <a:xfrm rot="20884023">
            <a:off x="5522090" y="5248531"/>
            <a:ext cx="2013024" cy="581522"/>
          </a:xfrm>
          <a:prstGeom prst="roundRect">
            <a:avLst/>
          </a:prstGeom>
          <a:solidFill>
            <a:srgbClr val="E60013"/>
          </a:solidFill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ja-JP" altLang="en-US" sz="2900" b="1" kern="0" spc="195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連絡不要</a:t>
            </a:r>
            <a:endParaRPr lang="en-US" sz="975" b="1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Text 16">
            <a:extLst>
              <a:ext uri="{FF2B5EF4-FFF2-40B4-BE49-F238E27FC236}">
                <a16:creationId xmlns:a16="http://schemas.microsoft.com/office/drawing/2014/main" id="{84BF9242-E424-B788-54E0-448057079B30}"/>
              </a:ext>
            </a:extLst>
          </p:cNvPr>
          <p:cNvSpPr/>
          <p:nvPr/>
        </p:nvSpPr>
        <p:spPr>
          <a:xfrm rot="20884023">
            <a:off x="12974855" y="5160606"/>
            <a:ext cx="2013024" cy="581522"/>
          </a:xfrm>
          <a:prstGeom prst="roundRect">
            <a:avLst/>
          </a:prstGeom>
          <a:solidFill>
            <a:srgbClr val="E60013"/>
          </a:solidFill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ja-JP" altLang="en-US" sz="2900" b="1" kern="0" spc="195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迷わない</a:t>
            </a:r>
            <a:endParaRPr lang="en-US" sz="975" b="1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AF8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C2CE4F-87AF-55DE-F397-F33247B54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20">
            <a:extLst>
              <a:ext uri="{FF2B5EF4-FFF2-40B4-BE49-F238E27FC236}">
                <a16:creationId xmlns:a16="http://schemas.microsoft.com/office/drawing/2014/main" id="{17F4B53F-AA5B-C991-A942-B291C0B9CDE3}"/>
              </a:ext>
            </a:extLst>
          </p:cNvPr>
          <p:cNvSpPr/>
          <p:nvPr/>
        </p:nvSpPr>
        <p:spPr>
          <a:xfrm>
            <a:off x="9076742" y="2930127"/>
            <a:ext cx="8754058" cy="5046369"/>
          </a:xfrm>
          <a:prstGeom prst="rect">
            <a:avLst/>
          </a:prstGeom>
          <a:solidFill>
            <a:srgbClr val="FFFFFF"/>
          </a:solidFill>
          <a:ln w="76200">
            <a:solidFill>
              <a:srgbClr val="C00000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ED69B761-F414-D7EE-3CC6-73507527C043}"/>
              </a:ext>
            </a:extLst>
          </p:cNvPr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49F3504-B60F-7DF3-66BB-30999E2B7395}"/>
              </a:ext>
            </a:extLst>
          </p:cNvPr>
          <p:cNvSpPr/>
          <p:nvPr/>
        </p:nvSpPr>
        <p:spPr>
          <a:xfrm>
            <a:off x="914399" y="342899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002E6E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プロダクト　概要</a:t>
            </a:r>
            <a:endParaRPr lang="en-US" sz="2400" b="1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790C21C-2BFA-BD11-6D0C-ECE1392EF8E8}"/>
              </a:ext>
            </a:extLst>
          </p:cNvPr>
          <p:cNvSpPr/>
          <p:nvPr/>
        </p:nvSpPr>
        <p:spPr>
          <a:xfrm>
            <a:off x="914400" y="1123950"/>
            <a:ext cx="9366945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3ツール</a:t>
            </a:r>
            <a:r>
              <a:rPr lang="ja-JP" alt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に分断された業務を</a:t>
            </a:r>
            <a:br>
              <a:rPr 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ja-JP" altLang="en-US" sz="5400" b="1" kern="0" spc="-8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ひとつの画面体験</a:t>
            </a:r>
            <a:r>
              <a:rPr lang="ja-JP" alt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にまとめる</a:t>
            </a:r>
            <a:endParaRPr lang="en-US" sz="5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3331942-C70F-8E0F-FC75-D4CC3D07DAA7}"/>
              </a:ext>
            </a:extLst>
          </p:cNvPr>
          <p:cNvSpPr/>
          <p:nvPr/>
        </p:nvSpPr>
        <p:spPr>
          <a:xfrm>
            <a:off x="914399" y="3135511"/>
            <a:ext cx="1476000" cy="432000"/>
          </a:xfrm>
          <a:prstGeom prst="roundRect">
            <a:avLst>
              <a:gd name="adj" fmla="val 50000"/>
            </a:avLst>
          </a:prstGeom>
          <a:solidFill>
            <a:srgbClr val="E9E6DC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39A6336F-D811-6995-DAFA-30B508123061}"/>
              </a:ext>
            </a:extLst>
          </p:cNvPr>
          <p:cNvSpPr/>
          <p:nvPr/>
        </p:nvSpPr>
        <p:spPr>
          <a:xfrm>
            <a:off x="1110270" y="3194545"/>
            <a:ext cx="1224005" cy="3346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kern="0" spc="216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BEFORE</a:t>
            </a:r>
            <a:endParaRPr 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A21FEB7-EC7A-ACB3-9EA6-2DC78C6151DD}"/>
              </a:ext>
            </a:extLst>
          </p:cNvPr>
          <p:cNvSpPr/>
          <p:nvPr/>
        </p:nvSpPr>
        <p:spPr>
          <a:xfrm>
            <a:off x="2533717" y="3181871"/>
            <a:ext cx="2385523" cy="499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kern="0" spc="216">
                <a:solidFill>
                  <a:schemeClr val="tx1">
                    <a:lumMod val="95000"/>
                    <a:lumOff val="5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3ツール分断</a:t>
            </a:r>
            <a:endParaRPr lang="en-US" sz="2400" b="1">
              <a:solidFill>
                <a:schemeClr val="tx1">
                  <a:lumMod val="95000"/>
                  <a:lumOff val="5000"/>
                </a:schemeClr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2DF19CF-4A7D-DDD6-A41C-05034A1E718B}"/>
              </a:ext>
            </a:extLst>
          </p:cNvPr>
          <p:cNvSpPr/>
          <p:nvPr/>
        </p:nvSpPr>
        <p:spPr>
          <a:xfrm>
            <a:off x="914400" y="3782318"/>
            <a:ext cx="5456903" cy="1030486"/>
          </a:xfrm>
          <a:prstGeom prst="rect">
            <a:avLst/>
          </a:prstGeom>
          <a:solidFill>
            <a:srgbClr val="ECE9DF"/>
          </a:solidFill>
          <a:ln w="9525">
            <a:solidFill>
              <a:srgbClr val="B9B5A8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48BCD482-5EA0-713E-BC8A-008742ED5C4E}"/>
              </a:ext>
            </a:extLst>
          </p:cNvPr>
          <p:cNvSpPr/>
          <p:nvPr/>
        </p:nvSpPr>
        <p:spPr>
          <a:xfrm>
            <a:off x="1152525" y="3984129"/>
            <a:ext cx="47625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9B5A8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05C86031-AEFA-DBC2-D545-76B4121B5CFA}"/>
              </a:ext>
            </a:extLst>
          </p:cNvPr>
          <p:cNvSpPr/>
          <p:nvPr/>
        </p:nvSpPr>
        <p:spPr>
          <a:xfrm>
            <a:off x="1123950" y="3993654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1650" b="1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申</a:t>
            </a:r>
            <a:endParaRPr lang="en-US" sz="16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17425A1-89A5-ACDF-288F-5213732F5680}"/>
              </a:ext>
            </a:extLst>
          </p:cNvPr>
          <p:cNvSpPr/>
          <p:nvPr/>
        </p:nvSpPr>
        <p:spPr>
          <a:xfrm>
            <a:off x="1724025" y="3926086"/>
            <a:ext cx="339198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800" b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申請システム</a:t>
            </a:r>
            <a:endParaRPr lang="en-US" sz="1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C84CEF7-8609-8948-7C51-CE44B35454F6}"/>
              </a:ext>
            </a:extLst>
          </p:cNvPr>
          <p:cNvSpPr/>
          <p:nvPr/>
        </p:nvSpPr>
        <p:spPr>
          <a:xfrm>
            <a:off x="1724025" y="4297561"/>
            <a:ext cx="7102983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0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承認状況の確認 / 申請フロー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B2F0B68F-C767-1D99-6C19-576719B5BF38}"/>
              </a:ext>
            </a:extLst>
          </p:cNvPr>
          <p:cNvSpPr/>
          <p:nvPr/>
        </p:nvSpPr>
        <p:spPr>
          <a:xfrm>
            <a:off x="914400" y="4994672"/>
            <a:ext cx="3727996" cy="9525"/>
          </a:xfrm>
          <a:prstGeom prst="lightningBolt">
            <a:avLst/>
          </a:prstGeom>
          <a:solidFill>
            <a:srgbClr val="C7C1AF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9346BE4-BC23-A985-7F3D-645F8C6D8B0C}"/>
              </a:ext>
            </a:extLst>
          </p:cNvPr>
          <p:cNvSpPr/>
          <p:nvPr/>
        </p:nvSpPr>
        <p:spPr>
          <a:xfrm>
            <a:off x="2473821" y="4766936"/>
            <a:ext cx="2013024" cy="581522"/>
          </a:xfrm>
          <a:prstGeom prst="star24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en-US" sz="2900" b="1" kern="0" spc="195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転記</a:t>
            </a:r>
            <a:endParaRPr lang="en-US" sz="975" b="1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95001EAB-8E19-22C0-991B-AE0E867CE61A}"/>
              </a:ext>
            </a:extLst>
          </p:cNvPr>
          <p:cNvSpPr/>
          <p:nvPr/>
        </p:nvSpPr>
        <p:spPr>
          <a:xfrm>
            <a:off x="914400" y="5336679"/>
            <a:ext cx="5456903" cy="1030486"/>
          </a:xfrm>
          <a:prstGeom prst="rect">
            <a:avLst/>
          </a:prstGeom>
          <a:solidFill>
            <a:srgbClr val="ECE9DF"/>
          </a:solidFill>
          <a:ln w="9525">
            <a:solidFill>
              <a:srgbClr val="B9B5A8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7CCBC4AF-7226-5D0A-E91D-4D896DC5C7F3}"/>
              </a:ext>
            </a:extLst>
          </p:cNvPr>
          <p:cNvSpPr/>
          <p:nvPr/>
        </p:nvSpPr>
        <p:spPr>
          <a:xfrm>
            <a:off x="1152525" y="5538490"/>
            <a:ext cx="47625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9B5A8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4857041-6B4D-C364-2AB5-22EB27A0AEF2}"/>
              </a:ext>
            </a:extLst>
          </p:cNvPr>
          <p:cNvSpPr/>
          <p:nvPr/>
        </p:nvSpPr>
        <p:spPr>
          <a:xfrm>
            <a:off x="1123950" y="5548015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1650" b="1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XL</a:t>
            </a:r>
            <a:endParaRPr lang="en-US" sz="16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30E3DC9D-6501-400A-8E6C-8440A3E1B037}"/>
              </a:ext>
            </a:extLst>
          </p:cNvPr>
          <p:cNvSpPr/>
          <p:nvPr/>
        </p:nvSpPr>
        <p:spPr>
          <a:xfrm>
            <a:off x="1724025" y="5480447"/>
            <a:ext cx="710298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800" b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部門別 Excel</a:t>
            </a:r>
            <a:endParaRPr lang="en-US" sz="1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C29C6159-CEC0-8A63-DD54-CA5D384B5E8F}"/>
              </a:ext>
            </a:extLst>
          </p:cNvPr>
          <p:cNvSpPr/>
          <p:nvPr/>
        </p:nvSpPr>
        <p:spPr>
          <a:xfrm>
            <a:off x="1724025" y="5851922"/>
            <a:ext cx="7102983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0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タスク・進捗管理（部門ごとに様式バラバラ）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A0ACA3D7-7622-523E-8676-B0BFA87B744A}"/>
              </a:ext>
            </a:extLst>
          </p:cNvPr>
          <p:cNvSpPr/>
          <p:nvPr/>
        </p:nvSpPr>
        <p:spPr>
          <a:xfrm>
            <a:off x="914400" y="6549033"/>
            <a:ext cx="3727996" cy="9525"/>
          </a:xfrm>
          <a:prstGeom prst="rect">
            <a:avLst/>
          </a:prstGeom>
          <a:solidFill>
            <a:srgbClr val="C7C1AF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83CAAE51-0969-982B-8DE9-BE587D0B0CE8}"/>
              </a:ext>
            </a:extLst>
          </p:cNvPr>
          <p:cNvSpPr/>
          <p:nvPr/>
        </p:nvSpPr>
        <p:spPr>
          <a:xfrm>
            <a:off x="914400" y="6891040"/>
            <a:ext cx="5456903" cy="1030486"/>
          </a:xfrm>
          <a:prstGeom prst="rect">
            <a:avLst/>
          </a:prstGeom>
          <a:solidFill>
            <a:srgbClr val="ECE9DF"/>
          </a:solidFill>
          <a:ln w="9525">
            <a:solidFill>
              <a:srgbClr val="B9B5A8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A4CBA824-36F6-EFD9-E364-8EBD1EBE540F}"/>
              </a:ext>
            </a:extLst>
          </p:cNvPr>
          <p:cNvSpPr/>
          <p:nvPr/>
        </p:nvSpPr>
        <p:spPr>
          <a:xfrm>
            <a:off x="1152525" y="7092851"/>
            <a:ext cx="47625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B9B5A8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7BF44E4F-F2E7-E7C0-69AD-ADA931D74249}"/>
              </a:ext>
            </a:extLst>
          </p:cNvPr>
          <p:cNvSpPr/>
          <p:nvPr/>
        </p:nvSpPr>
        <p:spPr>
          <a:xfrm>
            <a:off x="1123950" y="7102376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1650" b="1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¥</a:t>
            </a:r>
            <a:endParaRPr lang="en-US" sz="16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3281B317-3B1F-2C0D-7B82-05C4A414C39A}"/>
              </a:ext>
            </a:extLst>
          </p:cNvPr>
          <p:cNvSpPr/>
          <p:nvPr/>
        </p:nvSpPr>
        <p:spPr>
          <a:xfrm>
            <a:off x="1724025" y="7034808"/>
            <a:ext cx="710298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800" b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予算管理 Excel</a:t>
            </a:r>
            <a:endParaRPr lang="en-US" sz="1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7EE535E4-A046-899C-2420-439519ACFEDB}"/>
              </a:ext>
            </a:extLst>
          </p:cNvPr>
          <p:cNvSpPr/>
          <p:nvPr/>
        </p:nvSpPr>
        <p:spPr>
          <a:xfrm>
            <a:off x="1724025" y="7406283"/>
            <a:ext cx="7102983" cy="258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0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予算 / 実績 / 消費率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82CB08B2-44BB-B0B8-BB58-4E2C7C80927E}"/>
              </a:ext>
            </a:extLst>
          </p:cNvPr>
          <p:cNvSpPr/>
          <p:nvPr/>
        </p:nvSpPr>
        <p:spPr>
          <a:xfrm>
            <a:off x="8877300" y="5940177"/>
            <a:ext cx="609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endParaRPr lang="en-US" sz="4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5" name="Shape 33">
            <a:extLst>
              <a:ext uri="{FF2B5EF4-FFF2-40B4-BE49-F238E27FC236}">
                <a16:creationId xmlns:a16="http://schemas.microsoft.com/office/drawing/2014/main" id="{F0DC1E75-3432-9636-8625-14DDE989CCE0}"/>
              </a:ext>
            </a:extLst>
          </p:cNvPr>
          <p:cNvSpPr/>
          <p:nvPr/>
        </p:nvSpPr>
        <p:spPr>
          <a:xfrm>
            <a:off x="9429750" y="3545086"/>
            <a:ext cx="794385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93CF7969-E986-ACA7-8E8F-DB30FEB914E6}"/>
              </a:ext>
            </a:extLst>
          </p:cNvPr>
          <p:cNvSpPr/>
          <p:nvPr/>
        </p:nvSpPr>
        <p:spPr>
          <a:xfrm>
            <a:off x="9429749" y="3135510"/>
            <a:ext cx="1296000" cy="432000"/>
          </a:xfrm>
          <a:prstGeom prst="roundRect">
            <a:avLst>
              <a:gd name="adj" fmla="val 50000"/>
            </a:avLst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6E40EC52-76EF-2720-2641-1EF8C4D9F910}"/>
              </a:ext>
            </a:extLst>
          </p:cNvPr>
          <p:cNvSpPr/>
          <p:nvPr/>
        </p:nvSpPr>
        <p:spPr>
          <a:xfrm>
            <a:off x="9544050" y="3173610"/>
            <a:ext cx="1181699" cy="396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kern="0" spc="216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AFTER</a:t>
            </a:r>
            <a:endParaRPr 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AA460B15-B1A4-F2AC-4F9D-B239B9EAEEAB}"/>
              </a:ext>
            </a:extLst>
          </p:cNvPr>
          <p:cNvSpPr/>
          <p:nvPr/>
        </p:nvSpPr>
        <p:spPr>
          <a:xfrm>
            <a:off x="10925191" y="3169226"/>
            <a:ext cx="389668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kern="0" spc="216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3本柱で統合 — </a:t>
            </a:r>
            <a:r>
              <a:rPr lang="en-US" sz="2000" b="1" kern="0" spc="216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ProjNexus</a:t>
            </a:r>
            <a:r>
              <a:rPr lang="en-US" sz="2000" b="1" kern="0" spc="216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.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78B78F3B-486A-7D99-BCBF-C3617C44213D}"/>
              </a:ext>
            </a:extLst>
          </p:cNvPr>
          <p:cNvSpPr/>
          <p:nvPr/>
        </p:nvSpPr>
        <p:spPr>
          <a:xfrm>
            <a:off x="9429750" y="3707011"/>
            <a:ext cx="7943850" cy="1057275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63BA00E4-1C21-63D9-9654-443182CB030C}"/>
              </a:ext>
            </a:extLst>
          </p:cNvPr>
          <p:cNvSpPr/>
          <p:nvPr/>
        </p:nvSpPr>
        <p:spPr>
          <a:xfrm>
            <a:off x="9686925" y="4054673"/>
            <a:ext cx="6096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50" b="1">
                <a:solidFill>
                  <a:srgbClr val="14A0B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01</a:t>
            </a:r>
            <a:endParaRPr lang="en-US" sz="28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CFB74014-64A9-B191-D3CB-FA3464A95CED}"/>
              </a:ext>
            </a:extLst>
          </p:cNvPr>
          <p:cNvSpPr/>
          <p:nvPr/>
        </p:nvSpPr>
        <p:spPr>
          <a:xfrm>
            <a:off x="10391775" y="3926086"/>
            <a:ext cx="474043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950" b="1">
                <a:solidFill>
                  <a:srgbClr val="14A0B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申請・承認</a:t>
            </a:r>
            <a:endParaRPr lang="en-US" sz="1950">
              <a:solidFill>
                <a:srgbClr val="14A0B4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35338CA4-EF83-D9B9-2C91-F3F795145FAC}"/>
              </a:ext>
            </a:extLst>
          </p:cNvPr>
          <p:cNvSpPr/>
          <p:nvPr/>
        </p:nvSpPr>
        <p:spPr>
          <a:xfrm>
            <a:off x="10391775" y="4316611"/>
            <a:ext cx="474043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承認ステッパー / 監査証跡 / 却下・再申請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61A55506-BD3E-E688-DD55-C6A26EA1246F}"/>
              </a:ext>
            </a:extLst>
          </p:cNvPr>
          <p:cNvSpPr/>
          <p:nvPr/>
        </p:nvSpPr>
        <p:spPr>
          <a:xfrm>
            <a:off x="15165586" y="4107061"/>
            <a:ext cx="1950839" cy="257175"/>
          </a:xfrm>
          <a:prstGeom prst="rect">
            <a:avLst/>
          </a:prstGeom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2A98ADFD-9F0A-7E1F-EDFF-C403C487D01F}"/>
              </a:ext>
            </a:extLst>
          </p:cNvPr>
          <p:cNvSpPr/>
          <p:nvPr/>
        </p:nvSpPr>
        <p:spPr>
          <a:xfrm>
            <a:off x="15270361" y="4164211"/>
            <a:ext cx="181748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75" kern="0" spc="137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S-03a · S-04 · S-05</a:t>
            </a:r>
            <a:endParaRPr lang="en-US" sz="975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3D9217A5-973F-9A50-C2BD-B7EF629254BE}"/>
              </a:ext>
            </a:extLst>
          </p:cNvPr>
          <p:cNvSpPr/>
          <p:nvPr/>
        </p:nvSpPr>
        <p:spPr>
          <a:xfrm>
            <a:off x="9429750" y="4916686"/>
            <a:ext cx="7943850" cy="1057275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209CD764-0709-564A-C9E1-496DB51BE1BE}"/>
              </a:ext>
            </a:extLst>
          </p:cNvPr>
          <p:cNvSpPr/>
          <p:nvPr/>
        </p:nvSpPr>
        <p:spPr>
          <a:xfrm>
            <a:off x="9686925" y="5264348"/>
            <a:ext cx="6096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50" b="1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02</a:t>
            </a:r>
            <a:endParaRPr lang="en-US" sz="28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0052E56A-E099-ACFA-452E-E5BE6E12401D}"/>
              </a:ext>
            </a:extLst>
          </p:cNvPr>
          <p:cNvSpPr/>
          <p:nvPr/>
        </p:nvSpPr>
        <p:spPr>
          <a:xfrm>
            <a:off x="10391775" y="5135761"/>
            <a:ext cx="474043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950" b="1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開発管理</a:t>
            </a:r>
            <a:endParaRPr lang="en-US" sz="1950">
              <a:solidFill>
                <a:srgbClr val="0064A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CE6CD72D-0D01-3E38-BE30-8D092BAA3667}"/>
              </a:ext>
            </a:extLst>
          </p:cNvPr>
          <p:cNvSpPr/>
          <p:nvPr/>
        </p:nvSpPr>
        <p:spPr>
          <a:xfrm>
            <a:off x="10391775" y="5526286"/>
            <a:ext cx="474043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タスク 4値運用 / カンバン・一覧・メンバー別 / 履歴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9" name="Shape 47">
            <a:extLst>
              <a:ext uri="{FF2B5EF4-FFF2-40B4-BE49-F238E27FC236}">
                <a16:creationId xmlns:a16="http://schemas.microsoft.com/office/drawing/2014/main" id="{F97CC1E6-71A8-69E3-E76D-43FC43F17A30}"/>
              </a:ext>
            </a:extLst>
          </p:cNvPr>
          <p:cNvSpPr/>
          <p:nvPr/>
        </p:nvSpPr>
        <p:spPr>
          <a:xfrm>
            <a:off x="15165586" y="5316736"/>
            <a:ext cx="1950839" cy="257175"/>
          </a:xfrm>
          <a:prstGeom prst="rect">
            <a:avLst/>
          </a:prstGeom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981B2D2A-0B52-992C-4321-B13509D89A70}"/>
              </a:ext>
            </a:extLst>
          </p:cNvPr>
          <p:cNvSpPr/>
          <p:nvPr/>
        </p:nvSpPr>
        <p:spPr>
          <a:xfrm>
            <a:off x="15270361" y="5373886"/>
            <a:ext cx="181748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75" kern="0" spc="137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S-03b · S-10 · S-14</a:t>
            </a:r>
            <a:endParaRPr lang="en-US" sz="975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FD2B203B-5171-5B44-5FBA-0F17FFFCF8F5}"/>
              </a:ext>
            </a:extLst>
          </p:cNvPr>
          <p:cNvSpPr/>
          <p:nvPr/>
        </p:nvSpPr>
        <p:spPr>
          <a:xfrm>
            <a:off x="9429750" y="6126361"/>
            <a:ext cx="7943850" cy="1057275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9D1CA4E4-8157-26E0-39AC-77D8B5708E4C}"/>
              </a:ext>
            </a:extLst>
          </p:cNvPr>
          <p:cNvSpPr/>
          <p:nvPr/>
        </p:nvSpPr>
        <p:spPr>
          <a:xfrm>
            <a:off x="9686925" y="6474023"/>
            <a:ext cx="60960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50" b="1">
                <a:solidFill>
                  <a:srgbClr val="2F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03</a:t>
            </a:r>
            <a:endParaRPr lang="en-US" sz="28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3" name="Text 51">
            <a:extLst>
              <a:ext uri="{FF2B5EF4-FFF2-40B4-BE49-F238E27FC236}">
                <a16:creationId xmlns:a16="http://schemas.microsoft.com/office/drawing/2014/main" id="{87D46957-E92E-F796-CACF-4EB79580CD41}"/>
              </a:ext>
            </a:extLst>
          </p:cNvPr>
          <p:cNvSpPr/>
          <p:nvPr/>
        </p:nvSpPr>
        <p:spPr>
          <a:xfrm>
            <a:off x="10391775" y="6345436"/>
            <a:ext cx="540112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950" b="1">
                <a:solidFill>
                  <a:srgbClr val="00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予算管理</a:t>
            </a:r>
            <a:endParaRPr lang="en-US" sz="1950">
              <a:solidFill>
                <a:srgbClr val="002E6E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4" name="Text 52">
            <a:extLst>
              <a:ext uri="{FF2B5EF4-FFF2-40B4-BE49-F238E27FC236}">
                <a16:creationId xmlns:a16="http://schemas.microsoft.com/office/drawing/2014/main" id="{B6C1BE7F-3066-45B6-A82E-4A63C38DD4B2}"/>
              </a:ext>
            </a:extLst>
          </p:cNvPr>
          <p:cNvSpPr/>
          <p:nvPr/>
        </p:nvSpPr>
        <p:spPr>
          <a:xfrm>
            <a:off x="10391775" y="6735961"/>
            <a:ext cx="540112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0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予算・実績 / 消費率 / 警告色のリアルタイム算出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6BB1DB88-93FD-28EF-C04D-ACA6D0FE0373}"/>
              </a:ext>
            </a:extLst>
          </p:cNvPr>
          <p:cNvSpPr/>
          <p:nvPr/>
        </p:nvSpPr>
        <p:spPr>
          <a:xfrm>
            <a:off x="15807035" y="6526411"/>
            <a:ext cx="1309390" cy="257175"/>
          </a:xfrm>
          <a:prstGeom prst="rect">
            <a:avLst/>
          </a:prstGeom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6" name="Text 54">
            <a:extLst>
              <a:ext uri="{FF2B5EF4-FFF2-40B4-BE49-F238E27FC236}">
                <a16:creationId xmlns:a16="http://schemas.microsoft.com/office/drawing/2014/main" id="{695941DC-A2EA-760B-30E1-4DB4D197A359}"/>
              </a:ext>
            </a:extLst>
          </p:cNvPr>
          <p:cNvSpPr/>
          <p:nvPr/>
        </p:nvSpPr>
        <p:spPr>
          <a:xfrm>
            <a:off x="15911810" y="6583561"/>
            <a:ext cx="117604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75" kern="0" spc="137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S-03c · S-11</a:t>
            </a:r>
            <a:endParaRPr lang="en-US" sz="975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7" name="Shape 55">
            <a:extLst>
              <a:ext uri="{FF2B5EF4-FFF2-40B4-BE49-F238E27FC236}">
                <a16:creationId xmlns:a16="http://schemas.microsoft.com/office/drawing/2014/main" id="{E6A57463-E6BA-EDA8-3871-9415AEE9198F}"/>
              </a:ext>
            </a:extLst>
          </p:cNvPr>
          <p:cNvSpPr/>
          <p:nvPr/>
        </p:nvSpPr>
        <p:spPr>
          <a:xfrm>
            <a:off x="914400" y="8558867"/>
            <a:ext cx="16459200" cy="1095226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8" name="Shape 56">
            <a:extLst>
              <a:ext uri="{FF2B5EF4-FFF2-40B4-BE49-F238E27FC236}">
                <a16:creationId xmlns:a16="http://schemas.microsoft.com/office/drawing/2014/main" id="{4765F06F-F6FF-8D15-1346-890C1880D958}"/>
              </a:ext>
            </a:extLst>
          </p:cNvPr>
          <p:cNvSpPr/>
          <p:nvPr/>
        </p:nvSpPr>
        <p:spPr>
          <a:xfrm>
            <a:off x="874961" y="8558867"/>
            <a:ext cx="1273671" cy="1086715"/>
          </a:xfrm>
          <a:prstGeom prst="rect">
            <a:avLst/>
          </a:prstGeom>
          <a:solidFill>
            <a:srgbClr val="E5A330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9" name="Text 57">
            <a:extLst>
              <a:ext uri="{FF2B5EF4-FFF2-40B4-BE49-F238E27FC236}">
                <a16:creationId xmlns:a16="http://schemas.microsoft.com/office/drawing/2014/main" id="{EF5B6DD9-15FC-D36F-5FA4-3005FBC8AFF7}"/>
              </a:ext>
            </a:extLst>
          </p:cNvPr>
          <p:cNvSpPr/>
          <p:nvPr/>
        </p:nvSpPr>
        <p:spPr>
          <a:xfrm>
            <a:off x="1181100" y="9025355"/>
            <a:ext cx="1528750" cy="362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800" b="1" kern="0" spc="72">
                <a:solidFill>
                  <a:srgbClr val="1E1D5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VALUE</a:t>
            </a:r>
            <a:endParaRPr lang="en-US" sz="1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0" name="Text 58">
            <a:extLst>
              <a:ext uri="{FF2B5EF4-FFF2-40B4-BE49-F238E27FC236}">
                <a16:creationId xmlns:a16="http://schemas.microsoft.com/office/drawing/2014/main" id="{32C5457D-8F84-19D4-F60A-6F3CFAD8875F}"/>
              </a:ext>
            </a:extLst>
          </p:cNvPr>
          <p:cNvSpPr/>
          <p:nvPr/>
        </p:nvSpPr>
        <p:spPr>
          <a:xfrm>
            <a:off x="2454771" y="8767408"/>
            <a:ext cx="14918829" cy="624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55000"/>
              </a:lnSpc>
            </a:pPr>
            <a:r>
              <a:rPr lang="en-US" altLang="ja-JP" sz="280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部署を越えた情報連携を</a:t>
            </a:r>
            <a:r>
              <a:rPr lang="en-US" altLang="ja-JP" sz="3600" b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自動化</a:t>
            </a:r>
            <a:r>
              <a:rPr lang="ja-JP" altLang="en-US" sz="28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し、</a:t>
            </a:r>
            <a:r>
              <a:rPr lang="en-US" altLang="ja-JP" sz="280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ロール別に</a:t>
            </a:r>
            <a:r>
              <a:rPr lang="en-US" altLang="ja-JP" sz="3600" b="1" err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「今やるべきこと」</a:t>
            </a:r>
            <a:r>
              <a:rPr lang="en-US" altLang="ja-JP" sz="3600" b="1" err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を即把握</a:t>
            </a:r>
            <a:r>
              <a:rPr lang="ja-JP" altLang="en-US" sz="280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できるようにする</a:t>
            </a:r>
            <a:endParaRPr lang="en-US" altLang="ja-JP" sz="28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l">
              <a:lnSpc>
                <a:spcPct val="155000"/>
              </a:lnSpc>
              <a:buNone/>
            </a:pP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1" name="Text 59">
            <a:extLst>
              <a:ext uri="{FF2B5EF4-FFF2-40B4-BE49-F238E27FC236}">
                <a16:creationId xmlns:a16="http://schemas.microsoft.com/office/drawing/2014/main" id="{C89E32E3-09D8-36E2-58AD-A5F30473C04D}"/>
              </a:ext>
            </a:extLst>
          </p:cNvPr>
          <p:cNvSpPr/>
          <p:nvPr/>
        </p:nvSpPr>
        <p:spPr>
          <a:xfrm>
            <a:off x="3521571" y="9159627"/>
            <a:ext cx="196215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Text 60">
            <a:extLst>
              <a:ext uri="{FF2B5EF4-FFF2-40B4-BE49-F238E27FC236}">
                <a16:creationId xmlns:a16="http://schemas.microsoft.com/office/drawing/2014/main" id="{B539195F-703F-B9E6-203A-EF7670D92384}"/>
              </a:ext>
            </a:extLst>
          </p:cNvPr>
          <p:cNvSpPr/>
          <p:nvPr/>
        </p:nvSpPr>
        <p:spPr>
          <a:xfrm>
            <a:off x="5407521" y="9197727"/>
            <a:ext cx="366922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3" name="Text 61">
            <a:extLst>
              <a:ext uri="{FF2B5EF4-FFF2-40B4-BE49-F238E27FC236}">
                <a16:creationId xmlns:a16="http://schemas.microsoft.com/office/drawing/2014/main" id="{742034BF-6809-5074-292F-C16F3B945DEB}"/>
              </a:ext>
            </a:extLst>
          </p:cNvPr>
          <p:cNvSpPr/>
          <p:nvPr/>
        </p:nvSpPr>
        <p:spPr>
          <a:xfrm>
            <a:off x="8969871" y="9159627"/>
            <a:ext cx="70485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4" name="Text 62">
            <a:extLst>
              <a:ext uri="{FF2B5EF4-FFF2-40B4-BE49-F238E27FC236}">
                <a16:creationId xmlns:a16="http://schemas.microsoft.com/office/drawing/2014/main" id="{7206165C-2C19-27C5-E8CD-79D8D384587F}"/>
              </a:ext>
            </a:extLst>
          </p:cNvPr>
          <p:cNvSpPr/>
          <p:nvPr/>
        </p:nvSpPr>
        <p:spPr>
          <a:xfrm>
            <a:off x="9598521" y="9197727"/>
            <a:ext cx="7048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7" name="二等辺三角形 66">
            <a:extLst>
              <a:ext uri="{FF2B5EF4-FFF2-40B4-BE49-F238E27FC236}">
                <a16:creationId xmlns:a16="http://schemas.microsoft.com/office/drawing/2014/main" id="{55BB9003-54BE-2501-7E9F-63B15C4292FA}"/>
              </a:ext>
            </a:extLst>
          </p:cNvPr>
          <p:cNvSpPr/>
          <p:nvPr/>
        </p:nvSpPr>
        <p:spPr>
          <a:xfrm rot="5400000">
            <a:off x="5501154" y="4941641"/>
            <a:ext cx="4802885" cy="1266825"/>
          </a:xfrm>
          <a:prstGeom prst="triangle">
            <a:avLst/>
          </a:prstGeom>
          <a:solidFill>
            <a:srgbClr val="E5A33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kumimoji="1" lang="ja-JP" altLang="en-US">
              <a:ln>
                <a:solidFill>
                  <a:schemeClr val="accent4"/>
                </a:solidFill>
              </a:ln>
              <a:solidFill>
                <a:schemeClr val="accent4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8" name="Text 16">
            <a:extLst>
              <a:ext uri="{FF2B5EF4-FFF2-40B4-BE49-F238E27FC236}">
                <a16:creationId xmlns:a16="http://schemas.microsoft.com/office/drawing/2014/main" id="{C0637B79-F020-5C01-C0FC-9FBE0FD2AA73}"/>
              </a:ext>
            </a:extLst>
          </p:cNvPr>
          <p:cNvSpPr/>
          <p:nvPr/>
        </p:nvSpPr>
        <p:spPr>
          <a:xfrm>
            <a:off x="2565647" y="6363958"/>
            <a:ext cx="2013024" cy="581522"/>
          </a:xfrm>
          <a:prstGeom prst="star24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en-US" sz="2900" b="1" kern="0" spc="195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転記</a:t>
            </a:r>
            <a:endParaRPr lang="en-US" sz="975" b="1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9" name="図 18">
            <a:extLst>
              <a:ext uri="{FF2B5EF4-FFF2-40B4-BE49-F238E27FC236}">
                <a16:creationId xmlns:a16="http://schemas.microsoft.com/office/drawing/2014/main" id="{6D94AECA-A747-B817-2A6F-1998B8E1DF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0838" y="-1975991"/>
            <a:ext cx="1133475" cy="923925"/>
          </a:xfrm>
          <a:prstGeom prst="rect">
            <a:avLst/>
          </a:prstGeom>
        </p:spPr>
      </p:pic>
      <p:sp>
        <p:nvSpPr>
          <p:cNvPr id="5" name="Text 16">
            <a:extLst>
              <a:ext uri="{FF2B5EF4-FFF2-40B4-BE49-F238E27FC236}">
                <a16:creationId xmlns:a16="http://schemas.microsoft.com/office/drawing/2014/main" id="{1CBF66A6-7410-3CEC-0A6E-14C908D9D579}"/>
              </a:ext>
            </a:extLst>
          </p:cNvPr>
          <p:cNvSpPr/>
          <p:nvPr/>
        </p:nvSpPr>
        <p:spPr>
          <a:xfrm rot="20884023">
            <a:off x="8229952" y="2639636"/>
            <a:ext cx="2013024" cy="58152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ja-JP" altLang="en-US" sz="2900" b="1" kern="0" spc="195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転記不要</a:t>
            </a:r>
            <a:endParaRPr lang="en-US" sz="975" b="1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94958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BAACA1-FAFE-F674-D456-4377E3A48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A62FB72-42B8-3A3C-12DE-F779A847CD7F}"/>
              </a:ext>
            </a:extLst>
          </p:cNvPr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D185F03-1DCC-95BE-B5D9-24E10E2AC90C}"/>
              </a:ext>
            </a:extLst>
          </p:cNvPr>
          <p:cNvSpPr/>
          <p:nvPr/>
        </p:nvSpPr>
        <p:spPr>
          <a:xfrm>
            <a:off x="914399" y="342899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002E6E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課題１</a:t>
            </a:r>
            <a:endParaRPr lang="en-US" sz="2400" b="1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247E533-21B9-3CC5-76BC-319406995E43}"/>
              </a:ext>
            </a:extLst>
          </p:cNvPr>
          <p:cNvSpPr/>
          <p:nvPr/>
        </p:nvSpPr>
        <p:spPr>
          <a:xfrm>
            <a:off x="914400" y="1123950"/>
            <a:ext cx="9366945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ja-JP" alt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ロール</a:t>
            </a:r>
            <a:endParaRPr lang="en-US" sz="5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5BD0BE9C-E775-AB34-54CA-E977D0F628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0324093"/>
              </p:ext>
            </p:extLst>
          </p:nvPr>
        </p:nvGraphicFramePr>
        <p:xfrm>
          <a:off x="1028700" y="2131378"/>
          <a:ext cx="16344900" cy="7526971"/>
        </p:xfrm>
        <a:graphic>
          <a:graphicData uri="http://schemas.openxmlformats.org/drawingml/2006/table">
            <a:tbl>
              <a:tblPr firstRow="1">
                <a:tableStyleId>{9DCAF9ED-07DC-4A11-8D7F-57B35C25682E}</a:tableStyleId>
              </a:tblPr>
              <a:tblGrid>
                <a:gridCol w="2139840">
                  <a:extLst>
                    <a:ext uri="{9D8B030D-6E8A-4147-A177-3AD203B41FA5}">
                      <a16:colId xmlns:a16="http://schemas.microsoft.com/office/drawing/2014/main" val="3614415831"/>
                    </a:ext>
                  </a:extLst>
                </a:gridCol>
                <a:gridCol w="4785029">
                  <a:extLst>
                    <a:ext uri="{9D8B030D-6E8A-4147-A177-3AD203B41FA5}">
                      <a16:colId xmlns:a16="http://schemas.microsoft.com/office/drawing/2014/main" val="2042908271"/>
                    </a:ext>
                  </a:extLst>
                </a:gridCol>
                <a:gridCol w="5914831">
                  <a:extLst>
                    <a:ext uri="{9D8B030D-6E8A-4147-A177-3AD203B41FA5}">
                      <a16:colId xmlns:a16="http://schemas.microsoft.com/office/drawing/2014/main" val="164440643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665632512"/>
                    </a:ext>
                  </a:extLst>
                </a:gridCol>
              </a:tblGrid>
              <a:tr h="879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ロール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E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主な役割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E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できること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2E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制限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E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111839"/>
                  </a:ext>
                </a:extLst>
              </a:tr>
              <a:tr h="20077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申請者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案件を申請し、</a:t>
                      </a:r>
                      <a:br>
                        <a:rPr lang="en-US" altLang="ja-JP" sz="2800"/>
                      </a:br>
                      <a:r>
                        <a:rPr lang="ja-JP" altLang="en-US" sz="2800"/>
                        <a:t>進捗・予算を入力する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新規申請、下書き編集、取り戻し、再申請、自案件のタスク作成・予算実績入力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承認・却下は不可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1817118"/>
                  </a:ext>
                </a:extLst>
              </a:tr>
              <a:tr h="20077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部門管理者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自部門の案件を一次承認し、進捗を管理する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自部門の部門承認・却下、自部門タスクの作成・編集、予算実績入力、自分の案件申請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本部承認・他部門閲覧は不可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4629698"/>
                  </a:ext>
                </a:extLst>
              </a:tr>
              <a:tr h="26323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本部管理者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全社案件を最終承認し、</a:t>
                      </a:r>
                      <a:br>
                        <a:rPr lang="en-US" altLang="ja-JP" sz="2800"/>
                      </a:br>
                      <a:r>
                        <a:rPr lang="ja-JP" altLang="en-US" sz="2800"/>
                        <a:t>全体を俯瞰する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本部承認・却下、全部門・全案件の閲覧、進捗・予算状況の確認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案件申請、部門承認、タスク編集、予算入力は不可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64268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9601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BAACA1-FAFE-F674-D456-4377E3A48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A62FB72-42B8-3A3C-12DE-F779A847CD7F}"/>
              </a:ext>
            </a:extLst>
          </p:cNvPr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D185F03-1DCC-95BE-B5D9-24E10E2AC90C}"/>
              </a:ext>
            </a:extLst>
          </p:cNvPr>
          <p:cNvSpPr/>
          <p:nvPr/>
        </p:nvSpPr>
        <p:spPr>
          <a:xfrm>
            <a:off x="914399" y="342899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002E6E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課題１</a:t>
            </a:r>
            <a:endParaRPr lang="en-US" sz="2400" b="1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247E533-21B9-3CC5-76BC-319406995E43}"/>
              </a:ext>
            </a:extLst>
          </p:cNvPr>
          <p:cNvSpPr/>
          <p:nvPr/>
        </p:nvSpPr>
        <p:spPr>
          <a:xfrm>
            <a:off x="914400" y="1123950"/>
            <a:ext cx="9366945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ja-JP" alt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実装内容</a:t>
            </a:r>
            <a:endParaRPr lang="en-US" sz="5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5BD0BE9C-E775-AB34-54CA-E977D0F628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4739560"/>
              </p:ext>
            </p:extLst>
          </p:nvPr>
        </p:nvGraphicFramePr>
        <p:xfrm>
          <a:off x="1028700" y="2131378"/>
          <a:ext cx="15773400" cy="6677339"/>
        </p:xfrm>
        <a:graphic>
          <a:graphicData uri="http://schemas.openxmlformats.org/drawingml/2006/table">
            <a:tbl>
              <a:tblPr firstRow="1">
                <a:tableStyleId>{9DCAF9ED-07DC-4A11-8D7F-57B35C25682E}</a:tableStyleId>
              </a:tblPr>
              <a:tblGrid>
                <a:gridCol w="3360420">
                  <a:extLst>
                    <a:ext uri="{9D8B030D-6E8A-4147-A177-3AD203B41FA5}">
                      <a16:colId xmlns:a16="http://schemas.microsoft.com/office/drawing/2014/main" val="3614415831"/>
                    </a:ext>
                  </a:extLst>
                </a:gridCol>
                <a:gridCol w="10408920">
                  <a:extLst>
                    <a:ext uri="{9D8B030D-6E8A-4147-A177-3AD203B41FA5}">
                      <a16:colId xmlns:a16="http://schemas.microsoft.com/office/drawing/2014/main" val="1644406438"/>
                    </a:ext>
                  </a:extLst>
                </a:gridCol>
                <a:gridCol w="2004060">
                  <a:extLst>
                    <a:ext uri="{9D8B030D-6E8A-4147-A177-3AD203B41FA5}">
                      <a16:colId xmlns:a16="http://schemas.microsoft.com/office/drawing/2014/main" val="2665632512"/>
                    </a:ext>
                  </a:extLst>
                </a:gridCol>
              </a:tblGrid>
              <a:tr h="600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必須要件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E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実装した内容</a:t>
                      </a:r>
                    </a:p>
                  </a:txBody>
                  <a:tcPr anchor="ctr"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E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状況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E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111839"/>
                  </a:ext>
                </a:extLst>
              </a:tr>
              <a:tr h="10952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案件の申請・承認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下書き → 部門承認待ち → 本部承認待ち → 承認済の承認フローを実装</a:t>
                      </a:r>
                    </a:p>
                  </a:txBody>
                  <a:tcPr anchor="ctr"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実装済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1817118"/>
                  </a:ext>
                </a:extLst>
              </a:tr>
              <a:tr h="10952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却下・再申請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却下案件は元案件を履歴として残し、新しい案件として再申請可能</a:t>
                      </a:r>
                    </a:p>
                  </a:txBody>
                  <a:tcPr anchor="ctr"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実装済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4629698"/>
                  </a:ext>
                </a:extLst>
              </a:tr>
              <a:tr h="10952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zh-TW" altLang="en-US" sz="2800"/>
                        <a:t>開発進捗管理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承認済案件にタスクを作成し、未着手・進行中・確認待ち・完了で管理</a:t>
                      </a:r>
                    </a:p>
                  </a:txBody>
                  <a:tcPr anchor="ctr"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実装済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6426834"/>
                  </a:ext>
                </a:extLst>
              </a:tr>
              <a:tr h="6006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進捗の見える化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カンバン・メンバー別・一覧の</a:t>
                      </a:r>
                      <a:r>
                        <a:rPr lang="en-US" altLang="ja-JP" sz="2800"/>
                        <a:t>3</a:t>
                      </a:r>
                      <a:r>
                        <a:rPr lang="ja-JP" altLang="en-US" sz="2800"/>
                        <a:t>ビューでタスク状況を確認可能</a:t>
                      </a:r>
                    </a:p>
                  </a:txBody>
                  <a:tcPr anchor="ctr"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実装済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7166095"/>
                  </a:ext>
                </a:extLst>
              </a:tr>
              <a:tr h="10952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予算管理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予算額・実績額・消費率を案件単位で管理し、消費率を色分け表示</a:t>
                      </a:r>
                    </a:p>
                  </a:txBody>
                  <a:tcPr anchor="ctr"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実装済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4757963"/>
                  </a:ext>
                </a:extLst>
              </a:tr>
              <a:tr h="10952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ロール別制御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申請者・部門管理者・本部管理者で、操作範囲と閲覧範囲を分離</a:t>
                      </a:r>
                    </a:p>
                  </a:txBody>
                  <a:tcPr anchor="ctr"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ja-JP" altLang="en-US" sz="2800"/>
                        <a:t>実装済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28693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5355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A18619-BC65-31E2-A30D-D35C3F174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 6">
            <a:extLst>
              <a:ext uri="{FF2B5EF4-FFF2-40B4-BE49-F238E27FC236}">
                <a16:creationId xmlns:a16="http://schemas.microsoft.com/office/drawing/2014/main" id="{45AD170B-12A0-B312-8186-CD66069694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6805930"/>
              </p:ext>
            </p:extLst>
          </p:nvPr>
        </p:nvGraphicFramePr>
        <p:xfrm>
          <a:off x="1028700" y="2131378"/>
          <a:ext cx="16344900" cy="7638510"/>
        </p:xfrm>
        <a:graphic>
          <a:graphicData uri="http://schemas.openxmlformats.org/drawingml/2006/table">
            <a:tbl>
              <a:tblPr firstRow="1">
                <a:tableStyleId>{9DCAF9ED-07DC-4A11-8D7F-57B35C25682E}</a:tableStyleId>
              </a:tblPr>
              <a:tblGrid>
                <a:gridCol w="3988988">
                  <a:extLst>
                    <a:ext uri="{9D8B030D-6E8A-4147-A177-3AD203B41FA5}">
                      <a16:colId xmlns:a16="http://schemas.microsoft.com/office/drawing/2014/main" val="3614415831"/>
                    </a:ext>
                  </a:extLst>
                </a:gridCol>
                <a:gridCol w="12355912">
                  <a:extLst>
                    <a:ext uri="{9D8B030D-6E8A-4147-A177-3AD203B41FA5}">
                      <a16:colId xmlns:a16="http://schemas.microsoft.com/office/drawing/2014/main" val="1644406438"/>
                    </a:ext>
                  </a:extLst>
                </a:gridCol>
              </a:tblGrid>
              <a:tr h="463777"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lang="ja-JP" altLang="en-US" sz="28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 層 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E6E"/>
                    </a:solidFill>
                  </a:tcPr>
                </a:tc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lang="ja-JP" altLang="en-US" sz="28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採用技術 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E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6111839"/>
                  </a:ext>
                </a:extLst>
              </a:tr>
              <a:tr h="791150"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lang="ja-JP" altLang="en-US" sz="28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バックエンド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lang="en-US" altLang="ja-JP" sz="28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PHP 8.2 + Laravel 11 </a:t>
                      </a:r>
                      <a:endParaRPr lang="ja-JP" altLang="en-US" sz="28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1817118"/>
                  </a:ext>
                </a:extLst>
              </a:tr>
              <a:tr h="791150"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lang="ja-JP" altLang="en-US" sz="28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認証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lang="en-US" altLang="ja-JP" sz="280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Laravel Breeze (Inertia + React) </a:t>
                      </a:r>
                      <a:endParaRPr lang="ja-JP" altLang="en-US" sz="28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4629698"/>
                  </a:ext>
                </a:extLst>
              </a:tr>
              <a:tr h="791150"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ja-JP" altLang="en-US" sz="2800" b="0" kern="120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権限管理 </a:t>
                      </a:r>
                      <a:endParaRPr lang="zh-TW" altLang="en-US" sz="28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en-US" altLang="ja-JP" sz="2800" b="0" kern="120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spatie/laravel-permission</a:t>
                      </a:r>
                      <a:r>
                        <a:rPr kumimoji="1" lang="ja-JP" altLang="en-US" sz="2800" b="0" kern="120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（</a:t>
                      </a:r>
                      <a:r>
                        <a:rPr kumimoji="1" lang="en-US" altLang="ja-JP" sz="2800" b="0" kern="120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1</a:t>
                      </a:r>
                      <a:r>
                        <a:rPr kumimoji="1" lang="ja-JP" altLang="en-US" sz="2800" b="0" kern="120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ユーザー複数ロール）</a:t>
                      </a:r>
                      <a:endParaRPr lang="ja-JP" altLang="en-US" sz="28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6426834"/>
                  </a:ext>
                </a:extLst>
              </a:tr>
              <a:tr h="791150"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ja-JP" altLang="en-US" sz="2800" b="0" kern="120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フロントエンド</a:t>
                      </a:r>
                      <a:endParaRPr lang="zh-TW" altLang="en-US" sz="28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en-US" altLang="ja-JP" sz="2800" b="0" kern="120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React 18 + TypeScript + Inertia.js</a:t>
                      </a:r>
                      <a:endParaRPr lang="ja-JP" altLang="en-US" sz="28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1139311"/>
                  </a:ext>
                </a:extLst>
              </a:tr>
              <a:tr h="791150"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ja-JP" altLang="en-US" sz="2800" b="0" kern="120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スタイル </a:t>
                      </a:r>
                      <a:endParaRPr lang="ja-JP" altLang="en-US" sz="28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en-US" altLang="ja-JP" sz="2800" b="0" kern="120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Tailwind CSS </a:t>
                      </a:r>
                      <a:endParaRPr lang="ja-JP" altLang="en-US" sz="28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7166095"/>
                  </a:ext>
                </a:extLst>
              </a:tr>
              <a:tr h="791150"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en-US" altLang="ja-JP" sz="2800" b="0" kern="120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UI </a:t>
                      </a:r>
                      <a:r>
                        <a:rPr kumimoji="1" lang="ja-JP" altLang="en-US" sz="2800" b="0" kern="120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コンポーネント </a:t>
                      </a:r>
                      <a:endParaRPr lang="ja-JP" altLang="en-US" sz="28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en-US" altLang="ja-JP" sz="2800" b="0" kern="120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shadcn/ui + lucide-react</a:t>
                      </a:r>
                      <a:endParaRPr lang="ja-JP" altLang="en-US" sz="28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4757963"/>
                  </a:ext>
                </a:extLst>
              </a:tr>
              <a:tr h="791150"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ja-JP" altLang="en-US" sz="2800" b="0" kern="120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グラフ</a:t>
                      </a:r>
                      <a:endParaRPr lang="ja-JP" altLang="en-US" sz="28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en-US" altLang="ja-JP" sz="2800" b="0" kern="120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Recharts</a:t>
                      </a:r>
                      <a:endParaRPr lang="ja-JP" altLang="en-US" sz="28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9622812"/>
                  </a:ext>
                </a:extLst>
              </a:tr>
              <a:tr h="791150"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ja-JP" altLang="en-US" sz="2800" b="0" kern="120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データベース </a:t>
                      </a:r>
                      <a:endParaRPr lang="ja-JP" altLang="en-US" sz="28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en-US" altLang="ja-JP" sz="2800" b="0" kern="120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MySQL 8</a:t>
                      </a:r>
                      <a:r>
                        <a:rPr kumimoji="1" lang="ja-JP" altLang="en-US" sz="2800" b="0" kern="120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（</a:t>
                      </a:r>
                      <a:r>
                        <a:rPr kumimoji="1" lang="en-US" altLang="ja-JP" sz="2800" b="0" kern="120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XAMPP</a:t>
                      </a:r>
                      <a:r>
                        <a:rPr kumimoji="1" lang="ja-JP" altLang="en-US" sz="2800" b="0" kern="120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）</a:t>
                      </a:r>
                      <a:endParaRPr lang="ja-JP" altLang="en-US" sz="28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547827"/>
                  </a:ext>
                </a:extLst>
              </a:tr>
              <a:tr h="791150"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ja-JP" altLang="en-US" sz="2800" b="0" kern="120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デプロイ </a:t>
                      </a:r>
                      <a:endParaRPr lang="ja-JP" altLang="en-US" sz="28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0000">
                        <a:spcBef>
                          <a:spcPts val="1800"/>
                        </a:spcBef>
                        <a:buNone/>
                      </a:pPr>
                      <a:r>
                        <a:rPr kumimoji="1" lang="en-US" altLang="ja-JP" sz="2800" b="0" kern="120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  <a:cs typeface="+mn-cs"/>
                        </a:rPr>
                        <a:t>Laravel Cloud</a:t>
                      </a:r>
                      <a:endParaRPr lang="ja-JP" altLang="en-US" sz="280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>
                    <a:lnR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E6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2869321"/>
                  </a:ext>
                </a:extLst>
              </a:tr>
            </a:tbl>
          </a:graphicData>
        </a:graphic>
      </p:graphicFrame>
      <p:sp>
        <p:nvSpPr>
          <p:cNvPr id="2" name="Shape 0">
            <a:extLst>
              <a:ext uri="{FF2B5EF4-FFF2-40B4-BE49-F238E27FC236}">
                <a16:creationId xmlns:a16="http://schemas.microsoft.com/office/drawing/2014/main" id="{D66FA3F3-7DB1-1124-7B78-4754BF848570}"/>
              </a:ext>
            </a:extLst>
          </p:cNvPr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36137A5-4FEA-576A-B30C-03B1CBB539F6}"/>
              </a:ext>
            </a:extLst>
          </p:cNvPr>
          <p:cNvSpPr/>
          <p:nvPr/>
        </p:nvSpPr>
        <p:spPr>
          <a:xfrm>
            <a:off x="914399" y="342899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002E6E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課題１</a:t>
            </a:r>
            <a:endParaRPr lang="en-US" sz="2400" b="1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EA633C7-674D-45B4-B573-8B6EDFE8B355}"/>
              </a:ext>
            </a:extLst>
          </p:cNvPr>
          <p:cNvSpPr/>
          <p:nvPr/>
        </p:nvSpPr>
        <p:spPr>
          <a:xfrm>
            <a:off x="914400" y="1123950"/>
            <a:ext cx="9366945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ja-JP" alt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技術スタック</a:t>
            </a:r>
            <a:endParaRPr lang="en-US" sz="5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86421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55">
            <a:extLst>
              <a:ext uri="{FF2B5EF4-FFF2-40B4-BE49-F238E27FC236}">
                <a16:creationId xmlns:a16="http://schemas.microsoft.com/office/drawing/2014/main" id="{641F3F3E-9C3C-AB92-2363-F0E30BAF03F0}"/>
              </a:ext>
            </a:extLst>
          </p:cNvPr>
          <p:cNvSpPr/>
          <p:nvPr/>
        </p:nvSpPr>
        <p:spPr>
          <a:xfrm>
            <a:off x="914400" y="8934237"/>
            <a:ext cx="16459200" cy="1095226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342900"/>
            <a:ext cx="185276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147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UNDERSTANDING · 03</a:t>
            </a:r>
            <a:endParaRPr lang="en-US" sz="10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57300" y="2367094"/>
            <a:ext cx="16106775" cy="1290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3ロールの声から、 一元化に必要な条件を定義</a:t>
            </a:r>
            <a:endParaRPr 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400" y="3078361"/>
            <a:ext cx="5308550" cy="2607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209675" y="4040386"/>
            <a:ext cx="47180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209675" y="3430786"/>
            <a:ext cx="15049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本部管理者</a:t>
            </a:r>
            <a:endParaRPr lang="en-US" sz="22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32375" y="3392686"/>
            <a:ext cx="495300" cy="495300"/>
          </a:xfrm>
          <a:prstGeom prst="ellipse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394275" y="3392686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HQ</a:t>
            </a:r>
            <a:endParaRPr lang="en-US" sz="13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209675" y="4259461"/>
            <a:ext cx="485954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21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VOICE</a:t>
            </a:r>
            <a:endParaRPr lang="en-US" sz="10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09675" y="4507111"/>
            <a:ext cx="4859540" cy="2352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2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全案件の </a:t>
            </a:r>
            <a:r>
              <a:rPr lang="en-US" sz="2250" b="1">
                <a:solidFill>
                  <a:srgbClr val="2F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進捗 </a:t>
            </a:r>
            <a:r>
              <a:rPr lang="en-US" sz="22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と </a:t>
            </a:r>
            <a:r>
              <a:rPr lang="en-US" sz="2250" b="1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予算リスク </a:t>
            </a:r>
            <a:r>
              <a:rPr lang="en-US" sz="22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を</a:t>
            </a:r>
            <a:br>
              <a:rPr lang="en-US" sz="22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22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一覧で見たい。</a:t>
            </a:r>
            <a:endParaRPr lang="en-US" sz="22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489650" y="3078361"/>
            <a:ext cx="5308550" cy="26078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784925" y="4040386"/>
            <a:ext cx="47180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784925" y="3430786"/>
            <a:ext cx="15049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部門管理者</a:t>
            </a:r>
            <a:endParaRPr lang="en-US" sz="22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1007626" y="3392686"/>
            <a:ext cx="495300" cy="495300"/>
          </a:xfrm>
          <a:prstGeom prst="ellipse">
            <a:avLst/>
          </a:prstGeom>
          <a:solidFill>
            <a:srgbClr val="0064A0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0969526" y="3392686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DEPT</a:t>
            </a:r>
            <a:endParaRPr lang="en-US" sz="13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784925" y="4259461"/>
            <a:ext cx="485954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21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VOICE</a:t>
            </a:r>
            <a:endParaRPr lang="en-US" sz="10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784925" y="4507111"/>
            <a:ext cx="4859540" cy="2352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2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Excel </a:t>
            </a:r>
            <a:r>
              <a:rPr lang="en-US" sz="2250" b="1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転記 を減らし</a:t>
            </a:r>
            <a:r>
              <a:rPr lang="en-US" sz="22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、メンバーの状況を一目で把握したい。</a:t>
            </a:r>
            <a:endParaRPr lang="en-US" sz="22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2064901" y="3078361"/>
            <a:ext cx="5308550" cy="2549276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2360176" y="4040386"/>
            <a:ext cx="47180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2360176" y="3430786"/>
            <a:ext cx="9334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2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申請者</a:t>
            </a:r>
            <a:endParaRPr lang="en-US" sz="22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6582876" y="3392686"/>
            <a:ext cx="495300" cy="495300"/>
          </a:xfrm>
          <a:prstGeom prst="ellipse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6544776" y="3392686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135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USER</a:t>
            </a:r>
            <a:endParaRPr lang="en-US" sz="13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2360176" y="4259461"/>
            <a:ext cx="485954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21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VOICE</a:t>
            </a:r>
            <a:endParaRPr lang="en-US" sz="10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2360176" y="4507112"/>
            <a:ext cx="4859540" cy="12729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2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申請した案件が </a:t>
            </a:r>
            <a:r>
              <a:rPr lang="en-US" sz="2250" b="1">
                <a:solidFill>
                  <a:srgbClr val="14A0B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今どの承認段階 </a:t>
            </a:r>
            <a:r>
              <a:rPr lang="en-US" sz="22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か分かると安心。</a:t>
            </a:r>
            <a:endParaRPr lang="en-US" sz="22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47249" y="5957600"/>
            <a:ext cx="16459200" cy="2890838"/>
          </a:xfrm>
          <a:prstGeom prst="rect">
            <a:avLst/>
          </a:prstGeom>
          <a:solidFill>
            <a:srgbClr val="FFFFFF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914400" y="8852307"/>
            <a:ext cx="164592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904875" y="5913844"/>
            <a:ext cx="164592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17364075" y="6915904"/>
            <a:ext cx="9525" cy="1945928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914400" y="5899557"/>
            <a:ext cx="2017965" cy="2952750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257300" y="7260143"/>
            <a:ext cx="156210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endParaRPr lang="en-US" sz="975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300144" y="6826753"/>
            <a:ext cx="1251327" cy="14445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立てた</a:t>
            </a:r>
            <a:br>
              <a:rPr lang="en-US" sz="24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36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仮説</a:t>
            </a:r>
            <a:endParaRPr 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3352800" y="6194833"/>
            <a:ext cx="14020800" cy="1390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65000"/>
              </a:lnSpc>
            </a:pPr>
            <a:r>
              <a:rPr lang="en-US" sz="320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部署ごとに異なる Excel 運用</a:t>
            </a:r>
            <a:r>
              <a:rPr lang="ja-JP" altLang="en-US" sz="320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を</a:t>
            </a:r>
            <a:r>
              <a:rPr lang="en-US" sz="320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アプリへ移行するには、</a:t>
            </a:r>
            <a:br>
              <a:rPr lang="en-US" sz="320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3200" b="1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各部署のニーズを吸収できる多様な管理機能 </a:t>
            </a:r>
            <a:r>
              <a:rPr lang="en-US" sz="320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が必要</a:t>
            </a:r>
            <a:br>
              <a:rPr lang="en-US" sz="320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altLang="ja-JP" sz="320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単機能の置き換えでは、結局 Excel に戻る。</a:t>
            </a:r>
            <a:endParaRPr lang="en-US" altLang="ja-JP" sz="32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l">
              <a:lnSpc>
                <a:spcPct val="165000"/>
              </a:lnSpc>
              <a:buNone/>
            </a:pPr>
            <a:endParaRPr 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2337618" y="9171730"/>
            <a:ext cx="17166978" cy="4559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sz="40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「管理項目」</a:t>
            </a:r>
            <a:r>
              <a:rPr lang="en-US" sz="40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「運用</a:t>
            </a:r>
            <a:r>
              <a:rPr lang="ja-JP" altLang="en-US" sz="40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ルール</a:t>
            </a:r>
            <a:r>
              <a:rPr lang="en-US" sz="40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」の違い</a:t>
            </a:r>
            <a:r>
              <a:rPr lang="ja-JP" altLang="en-US" sz="40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は</a:t>
            </a:r>
            <a:r>
              <a:rPr lang="en-US" sz="40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、</a:t>
            </a:r>
            <a:r>
              <a:rPr lang="en-US" sz="4400" b="1" u="sng">
                <a:solidFill>
                  <a:srgbClr val="E5A330"/>
                </a:solidFill>
                <a:uFill>
                  <a:solidFill>
                    <a:srgbClr val="E5A330"/>
                  </a:solidFill>
                </a:u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機能の選択肢</a:t>
            </a:r>
            <a:r>
              <a:rPr lang="en-US" sz="4400" b="1" u="sng">
                <a:solidFill>
                  <a:schemeClr val="bg1"/>
                </a:solidFill>
                <a:uFill>
                  <a:solidFill>
                    <a:srgbClr val="E5A330"/>
                  </a:solidFill>
                </a:u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sz="40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で吸収</a:t>
            </a:r>
            <a:r>
              <a:rPr lang="ja-JP" altLang="en-US" sz="40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できる</a:t>
            </a:r>
            <a:endParaRPr lang="en-US" sz="400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1" name="Text 1">
            <a:extLst>
              <a:ext uri="{FF2B5EF4-FFF2-40B4-BE49-F238E27FC236}">
                <a16:creationId xmlns:a16="http://schemas.microsoft.com/office/drawing/2014/main" id="{EEDC2B8A-68B1-EB6C-9972-589285560430}"/>
              </a:ext>
            </a:extLst>
          </p:cNvPr>
          <p:cNvSpPr/>
          <p:nvPr/>
        </p:nvSpPr>
        <p:spPr>
          <a:xfrm>
            <a:off x="914399" y="342899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E60013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課題１　工夫</a:t>
            </a:r>
            <a:endParaRPr lang="en-US" sz="2400" b="1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3" name="Text 4">
            <a:extLst>
              <a:ext uri="{FF2B5EF4-FFF2-40B4-BE49-F238E27FC236}">
                <a16:creationId xmlns:a16="http://schemas.microsoft.com/office/drawing/2014/main" id="{9E83F828-F16E-AC73-0BC0-788B4F8C4DDC}"/>
              </a:ext>
            </a:extLst>
          </p:cNvPr>
          <p:cNvSpPr/>
          <p:nvPr/>
        </p:nvSpPr>
        <p:spPr>
          <a:xfrm>
            <a:off x="914399" y="1146638"/>
            <a:ext cx="16106775" cy="1290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ja-JP" alt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課題理解と</a:t>
            </a:r>
            <a:r>
              <a:rPr lang="ja-JP" altLang="en-US" sz="5400" b="1" kern="0" spc="-81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仮説</a:t>
            </a:r>
            <a:endParaRPr lang="en-US" sz="5400">
              <a:solidFill>
                <a:srgbClr val="E60013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342900"/>
            <a:ext cx="175408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147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DESIGN-FIRST · 04</a:t>
            </a:r>
            <a:endParaRPr lang="en-US" sz="10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1123950"/>
            <a:ext cx="10965180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400" b="1" kern="0" spc="-81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設計優先</a:t>
            </a:r>
            <a:r>
              <a:rPr 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で、 開発品質を作る</a:t>
            </a:r>
            <a:endParaRPr lang="en-US" sz="5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879580" y="1794570"/>
            <a:ext cx="5494020" cy="7694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r">
              <a:lnSpc>
                <a:spcPct val="170000"/>
              </a:lnSpc>
              <a:buNone/>
            </a:pPr>
            <a:endParaRPr lang="en-US" sz="16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400" y="5013722"/>
            <a:ext cx="16459200" cy="9525"/>
          </a:xfrm>
          <a:prstGeom prst="rect">
            <a:avLst/>
          </a:prstGeom>
          <a:solidFill>
            <a:srgbClr val="15182A"/>
          </a:solidFill>
          <a:ln/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14400" y="2753619"/>
            <a:ext cx="16459200" cy="9525"/>
          </a:xfrm>
          <a:prstGeom prst="rect">
            <a:avLst/>
          </a:prstGeom>
          <a:solidFill>
            <a:srgbClr val="15182A"/>
          </a:solidFill>
          <a:ln/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019675" y="3087886"/>
            <a:ext cx="9525" cy="1925836"/>
          </a:xfrm>
          <a:prstGeom prst="rect">
            <a:avLst/>
          </a:prstGeom>
          <a:solidFill>
            <a:srgbClr val="DCD8CE"/>
          </a:solidFill>
          <a:ln/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81100" y="3045873"/>
            <a:ext cx="367903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kern="0" spc="176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PHASE 0 投資時間</a:t>
            </a:r>
            <a:endParaRPr 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81100" y="3573661"/>
            <a:ext cx="3679031" cy="906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200" b="1" kern="0" spc="-288">
                <a:solidFill>
                  <a:srgbClr val="2F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31 </a:t>
            </a:r>
            <a:r>
              <a:rPr lang="en-US" sz="2850" b="1" kern="0" spc="-288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h</a:t>
            </a:r>
            <a:endParaRPr lang="en-US" sz="7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81100" y="4537472"/>
            <a:ext cx="367903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設計・環境構築・DB設計に集中</a:t>
            </a:r>
            <a:endParaRPr 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134475" y="3087886"/>
            <a:ext cx="9525" cy="1925836"/>
          </a:xfrm>
          <a:prstGeom prst="rect">
            <a:avLst/>
          </a:prstGeom>
          <a:solidFill>
            <a:srgbClr val="DCD8CE"/>
          </a:solidFill>
          <a:ln/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295900" y="3045873"/>
            <a:ext cx="367903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kern="0" spc="176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総時間に占める設計比率</a:t>
            </a:r>
            <a:endParaRPr 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295900" y="3573661"/>
            <a:ext cx="3679031" cy="906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200" b="1" kern="0" spc="-288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31 </a:t>
            </a:r>
            <a:r>
              <a:rPr lang="en-US" sz="2850" b="1" kern="0" spc="-288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%</a:t>
            </a:r>
            <a:endParaRPr lang="en-US" sz="7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295900" y="4537472"/>
            <a:ext cx="367903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100時間の上限のうち約3分の1</a:t>
            </a:r>
            <a:endParaRPr 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3249275" y="3087886"/>
            <a:ext cx="9525" cy="1925836"/>
          </a:xfrm>
          <a:prstGeom prst="rect">
            <a:avLst/>
          </a:prstGeom>
          <a:solidFill>
            <a:srgbClr val="DCD8CE"/>
          </a:solidFill>
          <a:ln/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410700" y="3045873"/>
            <a:ext cx="367903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kern="0" spc="176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HTML モック</a:t>
            </a:r>
            <a:endParaRPr 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410700" y="3573661"/>
            <a:ext cx="3679031" cy="906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200" b="1" kern="0" spc="-288">
                <a:solidFill>
                  <a:srgbClr val="14A0B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9 </a:t>
            </a:r>
            <a:r>
              <a:rPr lang="en-US" sz="2850" b="1" kern="0" spc="-288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画面</a:t>
            </a:r>
            <a:endParaRPr lang="en-US" sz="7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410700" y="4537472"/>
            <a:ext cx="367903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主要画面を実装前に画面イメージ化</a:t>
            </a:r>
            <a:endParaRPr 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3525500" y="3045873"/>
            <a:ext cx="3688842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b="1" kern="0" spc="176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画面ポリシー</a:t>
            </a:r>
            <a:endParaRPr 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3525500" y="3516164"/>
            <a:ext cx="3688842" cy="906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7200" b="1" kern="0" spc="-288">
                <a:solidFill>
                  <a:srgbClr val="C686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10 </a:t>
            </a:r>
            <a:r>
              <a:rPr lang="en-US" sz="2850" b="1" kern="0" spc="-288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本</a:t>
            </a:r>
            <a:endParaRPr lang="en-US" sz="7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3525500" y="4537472"/>
            <a:ext cx="368884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画面ごとの判断・前提を文書化</a:t>
            </a:r>
            <a:endParaRPr 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14400" y="5328046"/>
            <a:ext cx="3986213" cy="1880971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/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152525" y="5547122"/>
            <a:ext cx="361526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49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ENTRY POINT</a:t>
            </a:r>
            <a:endParaRPr lang="en-US" sz="1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152525" y="5756672"/>
            <a:ext cx="361526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kern="0" spc="-13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AI.md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152525" y="6198506"/>
            <a:ext cx="3615261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実装前に AI が最初に読む入口。進め方・約束事・参照順・禁止事項を集約</a:t>
            </a:r>
            <a:endParaRPr 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072063" y="5328046"/>
            <a:ext cx="3986213" cy="1880971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310188" y="5547122"/>
            <a:ext cx="361526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49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SOURCE OF TRUTH</a:t>
            </a:r>
            <a:endParaRPr lang="en-US" sz="1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310188" y="5756672"/>
            <a:ext cx="361526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kern="0" spc="-13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system_spec.md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310188" y="6198506"/>
            <a:ext cx="3615261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スコープ・DB・URL・ロール・承認・通知の事実正本。仕様変更時に必ず更新。</a:t>
            </a:r>
            <a:endParaRPr 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9229725" y="5328046"/>
            <a:ext cx="3986213" cy="1880971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/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467850" y="5547122"/>
            <a:ext cx="361526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49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DATA MODEL</a:t>
            </a:r>
            <a:endParaRPr lang="en-US" sz="1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9467850" y="5756672"/>
            <a:ext cx="361526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kern="0" spc="-13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er_diagram.md · v7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9467850" y="6198506"/>
            <a:ext cx="3615261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業務 10 テーブル + 将来拡張用カラム。Enum と外部キー方針を明示。</a:t>
            </a:r>
            <a:endParaRPr 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13387388" y="5328046"/>
            <a:ext cx="3986213" cy="1880971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3625513" y="5547122"/>
            <a:ext cx="361526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b="1" kern="0" spc="149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UI TOKENS</a:t>
            </a:r>
            <a:endParaRPr lang="en-US" sz="1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3625513" y="5756672"/>
            <a:ext cx="3615261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kern="0" spc="-13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design_system.md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3625513" y="6198506"/>
            <a:ext cx="3615261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配色・タイポ・余白・コンポーネント仕様を統一。</a:t>
            </a:r>
            <a:r>
              <a:rPr lang="en-US" b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ロゴ由来カラーを正本化</a:t>
            </a:r>
            <a:r>
              <a:rPr lang="en-US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914400" y="7408949"/>
            <a:ext cx="16459200" cy="1758553"/>
          </a:xfrm>
          <a:prstGeom prst="rect">
            <a:avLst/>
          </a:prstGeom>
          <a:solidFill>
            <a:srgbClr val="2F2E6E"/>
          </a:solidFill>
          <a:ln/>
        </p:spPr>
        <p:txBody>
          <a:bodyPr/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3211413" y="7618499"/>
            <a:ext cx="174843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16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4883646" y="7580399"/>
            <a:ext cx="1746647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16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6554093" y="7618499"/>
            <a:ext cx="9596293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16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7" name="Text 1">
            <a:extLst>
              <a:ext uri="{FF2B5EF4-FFF2-40B4-BE49-F238E27FC236}">
                <a16:creationId xmlns:a16="http://schemas.microsoft.com/office/drawing/2014/main" id="{A6D0E4A1-F6BA-CF08-990E-D7F3AE46D881}"/>
              </a:ext>
            </a:extLst>
          </p:cNvPr>
          <p:cNvSpPr/>
          <p:nvPr/>
        </p:nvSpPr>
        <p:spPr>
          <a:xfrm>
            <a:off x="932717" y="342900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E60013"/>
          </a:solidFill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ja-JP" altLang="en-US" sz="24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課題１　工夫</a:t>
            </a:r>
            <a:endParaRPr lang="en-US" sz="2400" b="1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48" name="図 47">
            <a:extLst>
              <a:ext uri="{FF2B5EF4-FFF2-40B4-BE49-F238E27FC236}">
                <a16:creationId xmlns:a16="http://schemas.microsoft.com/office/drawing/2014/main" id="{053126F9-C300-9A4C-752B-8639227A517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1353"/>
          <a:stretch>
            <a:fillRect/>
          </a:stretch>
        </p:blipFill>
        <p:spPr>
          <a:xfrm>
            <a:off x="11352239" y="3463306"/>
            <a:ext cx="1493149" cy="864616"/>
          </a:xfrm>
          <a:prstGeom prst="rect">
            <a:avLst/>
          </a:prstGeom>
        </p:spPr>
      </p:pic>
      <p:sp>
        <p:nvSpPr>
          <p:cNvPr id="49" name="Text 58">
            <a:extLst>
              <a:ext uri="{FF2B5EF4-FFF2-40B4-BE49-F238E27FC236}">
                <a16:creationId xmlns:a16="http://schemas.microsoft.com/office/drawing/2014/main" id="{AE09FDFA-8DA1-3E71-6BBE-52A39AEB6A21}"/>
              </a:ext>
            </a:extLst>
          </p:cNvPr>
          <p:cNvSpPr/>
          <p:nvPr/>
        </p:nvSpPr>
        <p:spPr>
          <a:xfrm>
            <a:off x="2583754" y="7616833"/>
            <a:ext cx="15738586" cy="624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55000"/>
              </a:lnSpc>
            </a:pPr>
            <a:r>
              <a:rPr lang="en-US" altLang="ja-JP" sz="280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設計</a:t>
            </a:r>
            <a:r>
              <a:rPr lang="ja-JP" altLang="en-US" sz="280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での</a:t>
            </a:r>
            <a:r>
              <a:rPr lang="en-US" altLang="ja-JP" sz="280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解像度が、</a:t>
            </a:r>
            <a:r>
              <a:rPr lang="en-US" altLang="ja-JP" sz="2800" b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AI時代の開発品質</a:t>
            </a:r>
            <a:r>
              <a:rPr lang="en-US" altLang="ja-JP" sz="280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を決める。</a:t>
            </a:r>
            <a:br>
              <a:rPr lang="en-US" altLang="ja-JP" sz="280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altLang="ja-JP" sz="280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判断の</a:t>
            </a:r>
            <a:r>
              <a:rPr lang="ja-JP" altLang="en-US" sz="280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過程</a:t>
            </a:r>
            <a:r>
              <a:rPr lang="en-US" altLang="ja-JP" sz="280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まで残せば、実装時に AI へ指示する回数が減り、時間内の完成度が上がる。</a:t>
            </a: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0" name="Shape 56">
            <a:extLst>
              <a:ext uri="{FF2B5EF4-FFF2-40B4-BE49-F238E27FC236}">
                <a16:creationId xmlns:a16="http://schemas.microsoft.com/office/drawing/2014/main" id="{B9525657-728F-125B-DF12-20845677D61D}"/>
              </a:ext>
            </a:extLst>
          </p:cNvPr>
          <p:cNvSpPr/>
          <p:nvPr/>
        </p:nvSpPr>
        <p:spPr>
          <a:xfrm>
            <a:off x="863943" y="7407758"/>
            <a:ext cx="1528750" cy="1750219"/>
          </a:xfrm>
          <a:prstGeom prst="rect">
            <a:avLst/>
          </a:prstGeom>
          <a:solidFill>
            <a:srgbClr val="E5A330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1" name="Text 57">
            <a:extLst>
              <a:ext uri="{FF2B5EF4-FFF2-40B4-BE49-F238E27FC236}">
                <a16:creationId xmlns:a16="http://schemas.microsoft.com/office/drawing/2014/main" id="{6CF364ED-47BF-B2B4-B7A3-16D18A6CF400}"/>
              </a:ext>
            </a:extLst>
          </p:cNvPr>
          <p:cNvSpPr/>
          <p:nvPr/>
        </p:nvSpPr>
        <p:spPr>
          <a:xfrm>
            <a:off x="1130643" y="8078404"/>
            <a:ext cx="1528750" cy="362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1800">
                <a:latin typeface="Meiryo UI" panose="020B0604030504040204" pitchFamily="50" charset="-128"/>
                <a:ea typeface="Meiryo UI" panose="020B0604030504040204" pitchFamily="50" charset="-128"/>
              </a:rPr>
              <a:t>Message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619F328D-DF03-7335-079A-B557507B8C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1353"/>
          <a:stretch>
            <a:fillRect/>
          </a:stretch>
        </p:blipFill>
        <p:spPr>
          <a:xfrm>
            <a:off x="11192695" y="3227068"/>
            <a:ext cx="1493149" cy="864616"/>
          </a:xfrm>
          <a:prstGeom prst="rect">
            <a:avLst/>
          </a:prstGeom>
        </p:spPr>
      </p:pic>
      <p:pic>
        <p:nvPicPr>
          <p:cNvPr id="42" name="図 41">
            <a:extLst>
              <a:ext uri="{FF2B5EF4-FFF2-40B4-BE49-F238E27FC236}">
                <a16:creationId xmlns:a16="http://schemas.microsoft.com/office/drawing/2014/main" id="{2F6506F7-9ABF-3051-DE06-CFE99DABE2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1353"/>
          <a:stretch>
            <a:fillRect/>
          </a:stretch>
        </p:blipFill>
        <p:spPr>
          <a:xfrm>
            <a:off x="11676354" y="3625452"/>
            <a:ext cx="1493149" cy="8646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342900"/>
            <a:ext cx="214878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147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AI COLLABORATION · 05</a:t>
            </a:r>
            <a:endParaRPr lang="en-US" sz="10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85411" y="1975543"/>
            <a:ext cx="16130954" cy="86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「判断は自分、 実装はAI」の線引き</a:t>
            </a:r>
            <a:endParaRPr lang="en-US" sz="5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879580" y="1457474"/>
            <a:ext cx="5494020" cy="11065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70000"/>
              </a:lnSpc>
              <a:buNone/>
            </a:pPr>
            <a:endParaRPr lang="en-US" sz="16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400" y="3116461"/>
            <a:ext cx="5308550" cy="459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23925" y="4173736"/>
            <a:ext cx="52895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209675" y="3392686"/>
            <a:ext cx="571500" cy="571500"/>
          </a:xfrm>
          <a:prstGeom prst="rect">
            <a:avLst/>
          </a:prstGeom>
          <a:solidFill>
            <a:srgbClr val="E5A330"/>
          </a:solidFill>
          <a:ln/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71575" y="3392686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3200" b="1">
                <a:solidFill>
                  <a:srgbClr val="1E1D5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私</a:t>
            </a:r>
            <a:endParaRPr 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952625" y="3421261"/>
            <a:ext cx="2294037" cy="457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162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HUMAN · OWNER</a:t>
            </a:r>
            <a:endParaRPr lang="en-US" sz="11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952625" y="3531750"/>
            <a:ext cx="2294036" cy="552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自分</a:t>
            </a:r>
            <a:endParaRPr 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09675" y="4430911"/>
            <a:ext cx="485954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62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RESPONSIBILITIES</a:t>
            </a:r>
            <a:endParaRPr lang="en-US" sz="11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495425" y="4735711"/>
            <a:ext cx="45652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判断</a:t>
            </a:r>
            <a:br>
              <a:rPr lang="en-US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altLang="ja-JP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優先順位</a:t>
            </a:r>
            <a:endParaRPr lang="en-US" altLang="ja-JP" sz="24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40000"/>
              </a:lnSpc>
            </a:pPr>
            <a:r>
              <a:rPr lang="en-US" altLang="ja-JP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テスト</a:t>
            </a:r>
            <a:br>
              <a:rPr lang="en-US" altLang="ja-JP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altLang="ja-JP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最終責任</a:t>
            </a:r>
            <a:endParaRPr lang="en-US" altLang="ja-JP" sz="24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l">
              <a:lnSpc>
                <a:spcPct val="140000"/>
              </a:lnSpc>
              <a:buNone/>
            </a:pP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495425" y="5097661"/>
            <a:ext cx="45652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495425" y="5459611"/>
            <a:ext cx="45652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495425" y="5821561"/>
            <a:ext cx="45652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23925" y="6956385"/>
            <a:ext cx="5289500" cy="1120379"/>
          </a:xfrm>
          <a:prstGeom prst="rect">
            <a:avLst/>
          </a:prstGeom>
          <a:solidFill>
            <a:srgbClr val="F2EFE5"/>
          </a:solidFill>
          <a:ln/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23925" y="7215188"/>
            <a:ext cx="52895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133475" y="7090924"/>
            <a:ext cx="5029085" cy="244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スコープ・要件・受け入れの最終判断は人が行う。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489650" y="3116461"/>
            <a:ext cx="5308550" cy="459105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99175" y="4173736"/>
            <a:ext cx="52895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784925" y="3392686"/>
            <a:ext cx="571500" cy="571500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746825" y="3392686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32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C</a:t>
            </a:r>
            <a:endParaRPr 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527875" y="3421260"/>
            <a:ext cx="2396134" cy="2256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162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AI · STRATEGY</a:t>
            </a:r>
            <a:endParaRPr lang="en-US" sz="11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527875" y="3516510"/>
            <a:ext cx="2914602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Claude</a:t>
            </a:r>
            <a:endParaRPr 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784925" y="4430911"/>
            <a:ext cx="485954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62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DELEGATED TASKS</a:t>
            </a:r>
            <a:endParaRPr lang="en-US" sz="11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070675" y="4735711"/>
            <a:ext cx="45652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設計整理</a:t>
            </a:r>
            <a:br>
              <a:rPr lang="en-US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altLang="ja-JP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仕様の言語化</a:t>
            </a:r>
            <a:endParaRPr lang="en-US" altLang="ja-JP" sz="24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40000"/>
              </a:lnSpc>
            </a:pPr>
            <a:r>
              <a:rPr lang="en-US" altLang="ja-JP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比較検討</a:t>
            </a:r>
            <a:br>
              <a:rPr lang="en-US" altLang="ja-JP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ja-JP" altLang="en-US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自動テスト</a:t>
            </a:r>
            <a:endParaRPr lang="en-US" altLang="ja-JP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070675" y="5097661"/>
            <a:ext cx="45652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070675" y="5459611"/>
            <a:ext cx="45652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499175" y="6956385"/>
            <a:ext cx="5289500" cy="1120379"/>
          </a:xfrm>
          <a:prstGeom prst="rect">
            <a:avLst/>
          </a:prstGeom>
          <a:solidFill>
            <a:srgbClr val="F2EFE5"/>
          </a:solidFill>
          <a:ln/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499175" y="7215188"/>
            <a:ext cx="52895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708725" y="7090924"/>
            <a:ext cx="5029085" cy="244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複雑な意思決定を構造化し、判断のための叩き台を作る。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12064901" y="3116461"/>
            <a:ext cx="5308550" cy="4581525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12074426" y="4173736"/>
            <a:ext cx="52895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12360176" y="3392686"/>
            <a:ext cx="571500" cy="57150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2322076" y="3392686"/>
            <a:ext cx="647700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en-US" sz="32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⌘</a:t>
            </a:r>
            <a:endParaRPr 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13103126" y="3421261"/>
            <a:ext cx="3660874" cy="274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162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AI · IMPLEMENTATION</a:t>
            </a:r>
            <a:endParaRPr lang="en-US" sz="11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3103126" y="3516510"/>
            <a:ext cx="2472154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6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Cursor</a:t>
            </a:r>
            <a:endParaRPr 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12360176" y="4430911"/>
            <a:ext cx="485954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62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DELEGATED TASKS</a:t>
            </a:r>
            <a:endParaRPr lang="en-US" sz="11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12645926" y="4735711"/>
            <a:ext cx="45652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実装</a:t>
            </a:r>
            <a:br>
              <a:rPr lang="en-US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altLang="ja-JP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差分修正</a:t>
            </a:r>
            <a:br>
              <a:rPr lang="en-US" altLang="ja-JP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altLang="ja-JP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テスト補助</a:t>
            </a:r>
            <a:endParaRPr lang="en-US" altLang="ja-JP" sz="24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l">
              <a:lnSpc>
                <a:spcPct val="140000"/>
              </a:lnSpc>
              <a:buNone/>
            </a:pP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12645926" y="5097661"/>
            <a:ext cx="45652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12645926" y="5459611"/>
            <a:ext cx="45652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12074426" y="6956385"/>
            <a:ext cx="5289500" cy="1046401"/>
          </a:xfrm>
          <a:prstGeom prst="rect">
            <a:avLst/>
          </a:prstGeom>
          <a:solidFill>
            <a:srgbClr val="F2EFE5"/>
          </a:solidFill>
          <a:ln/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12074426" y="7215188"/>
            <a:ext cx="52895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12283976" y="7090924"/>
            <a:ext cx="5029085" cy="3696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仕様の正本に従って手を動かす。</a:t>
            </a:r>
            <a:b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20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生成コードはレビュー前提</a:t>
            </a:r>
            <a: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914400" y="8289374"/>
            <a:ext cx="16459200" cy="1120379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914399" y="8289374"/>
            <a:ext cx="2786955" cy="1120379"/>
          </a:xfrm>
          <a:prstGeom prst="rect">
            <a:avLst/>
          </a:prstGeom>
          <a:solidFill>
            <a:srgbClr val="E5A330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1181099" y="8460824"/>
            <a:ext cx="2298501" cy="6514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kern="0" spc="66">
                <a:solidFill>
                  <a:srgbClr val="1E1D5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PRINCIPLE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4246662" y="8498924"/>
            <a:ext cx="11957446" cy="3628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55000"/>
              </a:lnSpc>
            </a:pPr>
            <a:r>
              <a:rPr lang="en-US" sz="2800" err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自分で</a:t>
            </a:r>
            <a:r>
              <a:rPr lang="en-US" altLang="ja-JP" sz="2800" b="1" err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判断</a:t>
            </a:r>
            <a:r>
              <a:rPr lang="en-US" altLang="ja-JP" sz="2800" err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、残りは</a:t>
            </a:r>
            <a:r>
              <a:rPr lang="en-US" altLang="ja-JP" sz="280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AI </a:t>
            </a:r>
            <a:r>
              <a:rPr lang="en-US" altLang="ja-JP" sz="2800" err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へ任せる。AI</a:t>
            </a:r>
            <a:r>
              <a:rPr lang="en-US" altLang="ja-JP" sz="280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altLang="ja-JP" sz="2800" err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は</a:t>
            </a:r>
            <a:r>
              <a:rPr lang="en-US" altLang="ja-JP" sz="2800" b="1" err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速度と品質を補助する道具</a:t>
            </a:r>
            <a:r>
              <a:rPr lang="en-US" altLang="ja-JP" sz="2800" err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として運用する</a:t>
            </a:r>
            <a:r>
              <a:rPr lang="en-US" altLang="ja-JP" sz="280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altLang="ja-JP" sz="28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5000"/>
              </a:lnSpc>
            </a:pPr>
            <a:endParaRPr lang="en-US" altLang="ja-JP" sz="28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5000"/>
              </a:lnSpc>
            </a:pPr>
            <a:endParaRPr lang="en-US" altLang="ja-JP" sz="28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>
              <a:lnSpc>
                <a:spcPct val="155000"/>
              </a:lnSpc>
            </a:pPr>
            <a:endParaRPr lang="en-US" altLang="ja-JP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3479602" y="8460824"/>
            <a:ext cx="49530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3898702" y="8498924"/>
            <a:ext cx="274624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6564957" y="8460824"/>
            <a:ext cx="2590800" cy="608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9079557" y="8498924"/>
            <a:ext cx="1746349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6" name="Text 1">
            <a:extLst>
              <a:ext uri="{FF2B5EF4-FFF2-40B4-BE49-F238E27FC236}">
                <a16:creationId xmlns:a16="http://schemas.microsoft.com/office/drawing/2014/main" id="{94710812-833E-F8E2-58D4-24B110C1D13F}"/>
              </a:ext>
            </a:extLst>
          </p:cNvPr>
          <p:cNvSpPr/>
          <p:nvPr/>
        </p:nvSpPr>
        <p:spPr>
          <a:xfrm>
            <a:off x="932717" y="342900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E60013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課題１　工夫</a:t>
            </a:r>
            <a:endParaRPr lang="en-US" sz="2400" b="1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8" name="Text 43">
            <a:extLst>
              <a:ext uri="{FF2B5EF4-FFF2-40B4-BE49-F238E27FC236}">
                <a16:creationId xmlns:a16="http://schemas.microsoft.com/office/drawing/2014/main" id="{E2E800EE-B00E-D2E2-2372-68EAE7EA5E76}"/>
              </a:ext>
            </a:extLst>
          </p:cNvPr>
          <p:cNvSpPr/>
          <p:nvPr/>
        </p:nvSpPr>
        <p:spPr>
          <a:xfrm>
            <a:off x="1102995" y="1143893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en-US" altLang="ja-JP" sz="3200" b="1" err="1">
                <a:solidFill>
                  <a:srgbClr val="212429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Noto Sans CJK JP" pitchFamily="34" charset="-120"/>
              </a:rPr>
              <a:t>AI協働の役割分担</a:t>
            </a:r>
            <a:endParaRPr lang="en-US" altLang="ja-JP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342900"/>
            <a:ext cx="214878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147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DAILY OPERATIONS · 06</a:t>
            </a:r>
            <a:endParaRPr lang="en-US" sz="10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1123950"/>
            <a:ext cx="14278708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400" b="1" kern="0" spc="-81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毎日スケジュールを見直し</a:t>
            </a:r>
            <a:r>
              <a:rPr 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br>
              <a:rPr 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ja-JP" alt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判断を記載し、実装と設計のずれをなくす</a:t>
            </a:r>
            <a:endParaRPr lang="en-US" sz="5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400" y="3078361"/>
            <a:ext cx="5613946" cy="4322266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71575" y="3316486"/>
            <a:ext cx="28202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8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L1</a:t>
            </a:r>
            <a:endParaRPr lang="en-US" sz="10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472654" y="3326011"/>
            <a:ext cx="11735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8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DESIGN · 設計</a:t>
            </a:r>
            <a:endParaRPr lang="en-US" sz="9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171575" y="3513748"/>
            <a:ext cx="5252584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設計の正本</a:t>
            </a: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171575" y="4572298"/>
            <a:ext cx="5099596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71575" y="4011019"/>
            <a:ext cx="5252584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実装前に必ず参照する仕様の事実。AI</a:t>
            </a:r>
            <a:r>
              <a:rPr lang="en-US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と人の判断基準を揃える。</a:t>
            </a:r>
            <a:endParaRPr 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171575" y="4838998"/>
            <a:ext cx="5099596" cy="523726"/>
          </a:xfrm>
          <a:prstGeom prst="rect">
            <a:avLst/>
          </a:prstGeom>
          <a:solidFill>
            <a:srgbClr val="FAF8F3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276349" y="4934247"/>
            <a:ext cx="1763896" cy="2423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AI.md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157068" y="5011285"/>
            <a:ext cx="5036747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40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進め方・約束事・参照順</a:t>
            </a:r>
            <a:endParaRPr 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171575" y="5438924"/>
            <a:ext cx="5099596" cy="523726"/>
          </a:xfrm>
          <a:prstGeom prst="rect">
            <a:avLst/>
          </a:prstGeom>
          <a:solidFill>
            <a:srgbClr val="FAF8F3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276349" y="5534173"/>
            <a:ext cx="4951073" cy="333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system_spec.md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57068" y="5657943"/>
            <a:ext cx="5036747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40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スコープ・DB・URL・権限・通知の正本</a:t>
            </a:r>
            <a:endParaRPr 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171575" y="6038850"/>
            <a:ext cx="5099596" cy="523726"/>
          </a:xfrm>
          <a:prstGeom prst="rect">
            <a:avLst/>
          </a:prstGeom>
          <a:solidFill>
            <a:srgbClr val="FAF8F3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276350" y="6134100"/>
            <a:ext cx="2796924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components_spec.md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157068" y="6228550"/>
            <a:ext cx="5036747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40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共通部品の Props 仕様</a:t>
            </a:r>
            <a:endParaRPr 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171575" y="6638776"/>
            <a:ext cx="5099596" cy="523726"/>
          </a:xfrm>
          <a:prstGeom prst="rect">
            <a:avLst/>
          </a:prstGeom>
          <a:solidFill>
            <a:srgbClr val="FAF8F3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276350" y="6734026"/>
            <a:ext cx="2502806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design_system.md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157068" y="6857795"/>
            <a:ext cx="5036747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40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配色・トークン・デザインルール</a:t>
            </a:r>
            <a:endParaRPr 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737896" y="3078361"/>
            <a:ext cx="5614095" cy="4322266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995071" y="3316486"/>
            <a:ext cx="28202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8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L2</a:t>
            </a:r>
            <a:endParaRPr lang="en-US" sz="10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296150" y="3326011"/>
            <a:ext cx="135642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8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SCHEDULE · 日報</a:t>
            </a:r>
            <a:endParaRPr lang="en-US" sz="9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995071" y="3513748"/>
            <a:ext cx="5252737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日次の実装・判断ログ</a:t>
            </a: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995071" y="4572298"/>
            <a:ext cx="5099745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995071" y="4011019"/>
            <a:ext cx="5252737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作業・判断・残課題を</a:t>
            </a:r>
            <a:r>
              <a:rPr lang="en-US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1 </a:t>
            </a:r>
            <a:r>
              <a:rPr lang="en-US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日単位で閉じる</a:t>
            </a:r>
            <a:r>
              <a:rPr lang="en-US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br>
              <a:rPr lang="en-US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提出済み部分は変更せず追記のみ</a:t>
            </a:r>
            <a:r>
              <a:rPr lang="en-US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995071" y="4838998"/>
            <a:ext cx="5099745" cy="523726"/>
          </a:xfrm>
          <a:prstGeom prst="rect">
            <a:avLst/>
          </a:prstGeom>
          <a:solidFill>
            <a:srgbClr val="FAF8F3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099846" y="4934248"/>
            <a:ext cx="119092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daily_report.md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039153" y="5117009"/>
            <a:ext cx="503690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40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1日の作業と判断（追記のみ）</a:t>
            </a:r>
            <a:endParaRPr 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995071" y="5438924"/>
            <a:ext cx="5099745" cy="523726"/>
          </a:xfrm>
          <a:prstGeom prst="rect">
            <a:avLst/>
          </a:prstGeom>
          <a:solidFill>
            <a:srgbClr val="FAF8F3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099846" y="5534174"/>
            <a:ext cx="193402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daily_technical_report.md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039153" y="5716935"/>
            <a:ext cx="503690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40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技術観点の詳細ログ</a:t>
            </a:r>
            <a:endParaRPr 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995071" y="6038850"/>
            <a:ext cx="5099745" cy="523726"/>
          </a:xfrm>
          <a:prstGeom prst="rect">
            <a:avLst/>
          </a:prstGeom>
          <a:solidFill>
            <a:srgbClr val="FAF8F3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099846" y="6134100"/>
            <a:ext cx="141386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intern_schedule.md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039153" y="6316861"/>
            <a:ext cx="503690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40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5週間の見積もり・チェックリスト</a:t>
            </a:r>
            <a:endParaRPr 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995071" y="6638776"/>
            <a:ext cx="5099745" cy="523726"/>
          </a:xfrm>
          <a:prstGeom prst="rect">
            <a:avLst/>
          </a:prstGeom>
          <a:solidFill>
            <a:srgbClr val="FAF8F3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099846" y="6734026"/>
            <a:ext cx="477973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implementation_schedule.md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7039153" y="6916787"/>
            <a:ext cx="5036900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40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明日以降の着手順</a:t>
            </a:r>
            <a:endParaRPr 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12561540" y="3078361"/>
            <a:ext cx="4811911" cy="4322266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12818715" y="3316486"/>
            <a:ext cx="28202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b="1" kern="0" spc="18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L3</a:t>
            </a:r>
            <a:endParaRPr lang="en-US" sz="10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13119795" y="3326011"/>
            <a:ext cx="149363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8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HANDOVER · 引継ぎ</a:t>
            </a:r>
            <a:endParaRPr lang="en-US" sz="9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12818715" y="3513748"/>
            <a:ext cx="4426488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セッション間の文脈引継ぎ</a:t>
            </a: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12818715" y="4793754"/>
            <a:ext cx="4297561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12818715" y="4011019"/>
            <a:ext cx="4426488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AI セッションをまたいでも文脈を再開できるよう、要約と次アクションを残す。</a:t>
            </a:r>
            <a:endParaRPr 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12818715" y="5060454"/>
            <a:ext cx="4297561" cy="523726"/>
          </a:xfrm>
          <a:prstGeom prst="rect">
            <a:avLst/>
          </a:prstGeom>
          <a:solidFill>
            <a:srgbClr val="FAF8F3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12923490" y="5155704"/>
            <a:ext cx="4088161" cy="314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next_chat_handover.md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12862797" y="5338465"/>
            <a:ext cx="4210651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40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次セッション開始時の要約</a:t>
            </a:r>
            <a:endParaRPr 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12818715" y="5660380"/>
            <a:ext cx="4297561" cy="523726"/>
          </a:xfrm>
          <a:prstGeom prst="rect">
            <a:avLst/>
          </a:prstGeom>
          <a:solidFill>
            <a:srgbClr val="FAF8F3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12923490" y="5755630"/>
            <a:ext cx="16899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000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残課題リスト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12862797" y="5938391"/>
            <a:ext cx="4210651" cy="198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40000"/>
              </a:lnSpc>
              <a:buNone/>
            </a:pPr>
            <a:r>
              <a:rPr lang="en-US" sz="140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未対応バグ・先送り判断を明示</a:t>
            </a:r>
            <a:endParaRPr 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1" name="Text 1">
            <a:extLst>
              <a:ext uri="{FF2B5EF4-FFF2-40B4-BE49-F238E27FC236}">
                <a16:creationId xmlns:a16="http://schemas.microsoft.com/office/drawing/2014/main" id="{85E44E18-CE3A-EC23-361F-B94D9DB4386F}"/>
              </a:ext>
            </a:extLst>
          </p:cNvPr>
          <p:cNvSpPr/>
          <p:nvPr/>
        </p:nvSpPr>
        <p:spPr>
          <a:xfrm>
            <a:off x="932717" y="342900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E60013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課題１　工夫</a:t>
            </a:r>
            <a:endParaRPr lang="en-US" sz="2400" b="1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2" name="Shape 46">
            <a:extLst>
              <a:ext uri="{FF2B5EF4-FFF2-40B4-BE49-F238E27FC236}">
                <a16:creationId xmlns:a16="http://schemas.microsoft.com/office/drawing/2014/main" id="{35C6764C-8150-7A97-2638-57E281360F4D}"/>
              </a:ext>
            </a:extLst>
          </p:cNvPr>
          <p:cNvSpPr/>
          <p:nvPr/>
        </p:nvSpPr>
        <p:spPr>
          <a:xfrm>
            <a:off x="914400" y="8289374"/>
            <a:ext cx="16459200" cy="1332000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3" name="Shape 47">
            <a:extLst>
              <a:ext uri="{FF2B5EF4-FFF2-40B4-BE49-F238E27FC236}">
                <a16:creationId xmlns:a16="http://schemas.microsoft.com/office/drawing/2014/main" id="{47E89E1C-E621-A18D-6E36-9E758375C3DB}"/>
              </a:ext>
            </a:extLst>
          </p:cNvPr>
          <p:cNvSpPr/>
          <p:nvPr/>
        </p:nvSpPr>
        <p:spPr>
          <a:xfrm>
            <a:off x="914399" y="8289373"/>
            <a:ext cx="2786955" cy="1332000"/>
          </a:xfrm>
          <a:prstGeom prst="rect">
            <a:avLst/>
          </a:prstGeom>
          <a:solidFill>
            <a:srgbClr val="E5A330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4" name="Text 48">
            <a:extLst>
              <a:ext uri="{FF2B5EF4-FFF2-40B4-BE49-F238E27FC236}">
                <a16:creationId xmlns:a16="http://schemas.microsoft.com/office/drawing/2014/main" id="{386AB481-D0E7-201B-16E9-32316490B88E}"/>
              </a:ext>
            </a:extLst>
          </p:cNvPr>
          <p:cNvSpPr/>
          <p:nvPr/>
        </p:nvSpPr>
        <p:spPr>
          <a:xfrm>
            <a:off x="1181099" y="8647087"/>
            <a:ext cx="2298501" cy="6514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400" b="1" kern="0" spc="66">
                <a:solidFill>
                  <a:srgbClr val="1E1D5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PRINCIPLE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5" name="Text 49">
            <a:extLst>
              <a:ext uri="{FF2B5EF4-FFF2-40B4-BE49-F238E27FC236}">
                <a16:creationId xmlns:a16="http://schemas.microsoft.com/office/drawing/2014/main" id="{EC335547-D94D-A806-EB63-2796316A76C7}"/>
              </a:ext>
            </a:extLst>
          </p:cNvPr>
          <p:cNvSpPr/>
          <p:nvPr/>
        </p:nvSpPr>
        <p:spPr>
          <a:xfrm>
            <a:off x="4246662" y="8498924"/>
            <a:ext cx="11957446" cy="3628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lvl="0">
              <a:defRPr/>
            </a:pPr>
            <a:r>
              <a:rPr lang="en-US" altLang="ja-JP" sz="280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作業・判断・残課題を</a:t>
            </a:r>
            <a:r>
              <a:rPr lang="en-US" altLang="ja-JP" sz="28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1 </a:t>
            </a:r>
            <a:r>
              <a:rPr lang="en-US" altLang="ja-JP" sz="280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日単位で閉じる。</a:t>
            </a:r>
            <a:r>
              <a:rPr lang="en-US" altLang="ja-JP" sz="2800" b="1" err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やらないこと</a:t>
            </a:r>
            <a:r>
              <a:rPr lang="en-US" altLang="ja-JP" sz="2800" b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altLang="ja-JP" sz="280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も明文化し</a:t>
            </a:r>
            <a:r>
              <a:rPr lang="en-US" altLang="ja-JP" sz="28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、</a:t>
            </a:r>
            <a:br>
              <a:rPr lang="en-US" altLang="ja-JP" sz="28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ja-JP" altLang="en-US" sz="28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日付、</a:t>
            </a:r>
            <a:r>
              <a:rPr lang="en-US" altLang="ja-JP" sz="28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AI </a:t>
            </a:r>
            <a:r>
              <a:rPr lang="en-US" altLang="ja-JP" sz="2800" err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セッションをまたいでも文脈を失わない</a:t>
            </a:r>
            <a:r>
              <a:rPr lang="en-US" altLang="ja-JP" sz="280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altLang="ja-JP" sz="280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26">
            <a:extLst>
              <a:ext uri="{FF2B5EF4-FFF2-40B4-BE49-F238E27FC236}">
                <a16:creationId xmlns:a16="http://schemas.microsoft.com/office/drawing/2014/main" id="{73641F41-2CE0-6DA8-EBA5-E52E993003DE}"/>
              </a:ext>
            </a:extLst>
          </p:cNvPr>
          <p:cNvSpPr/>
          <p:nvPr/>
        </p:nvSpPr>
        <p:spPr>
          <a:xfrm>
            <a:off x="14966202" y="2965262"/>
            <a:ext cx="3096000" cy="5861891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Shape 30">
            <a:extLst>
              <a:ext uri="{FF2B5EF4-FFF2-40B4-BE49-F238E27FC236}">
                <a16:creationId xmlns:a16="http://schemas.microsoft.com/office/drawing/2014/main" id="{3F916F8E-D33B-7F14-1DC8-19FDD2B96FB6}"/>
              </a:ext>
            </a:extLst>
          </p:cNvPr>
          <p:cNvSpPr/>
          <p:nvPr/>
        </p:nvSpPr>
        <p:spPr>
          <a:xfrm>
            <a:off x="15094035" y="6231391"/>
            <a:ext cx="2769422" cy="1406259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2" name="Shape 10">
            <a:extLst>
              <a:ext uri="{FF2B5EF4-FFF2-40B4-BE49-F238E27FC236}">
                <a16:creationId xmlns:a16="http://schemas.microsoft.com/office/drawing/2014/main" id="{DC6645BE-66E8-6540-FE5C-8E797A7FEE41}"/>
              </a:ext>
            </a:extLst>
          </p:cNvPr>
          <p:cNvSpPr/>
          <p:nvPr/>
        </p:nvSpPr>
        <p:spPr>
          <a:xfrm>
            <a:off x="6054452" y="8935606"/>
            <a:ext cx="10854849" cy="1259009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81" name="グループ化 80">
            <a:extLst>
              <a:ext uri="{FF2B5EF4-FFF2-40B4-BE49-F238E27FC236}">
                <a16:creationId xmlns:a16="http://schemas.microsoft.com/office/drawing/2014/main" id="{326B62D1-B245-8353-59B1-8E8E4C01BAF4}"/>
              </a:ext>
            </a:extLst>
          </p:cNvPr>
          <p:cNvGrpSpPr/>
          <p:nvPr/>
        </p:nvGrpSpPr>
        <p:grpSpPr>
          <a:xfrm>
            <a:off x="10784869" y="9122155"/>
            <a:ext cx="5646746" cy="971550"/>
            <a:chOff x="10675294" y="8964960"/>
            <a:chExt cx="5646746" cy="971550"/>
          </a:xfrm>
        </p:grpSpPr>
        <p:sp>
          <p:nvSpPr>
            <p:cNvPr id="37" name="Shape 34"/>
            <p:cNvSpPr/>
            <p:nvPr/>
          </p:nvSpPr>
          <p:spPr>
            <a:xfrm>
              <a:off x="10675294" y="8964960"/>
              <a:ext cx="5646746" cy="971550"/>
            </a:xfrm>
            <a:prstGeom prst="rect">
              <a:avLst/>
            </a:prstGeom>
            <a:solidFill>
              <a:srgbClr val="F2EFE5"/>
            </a:solidFill>
            <a:ln w="9525">
              <a:solidFill>
                <a:srgbClr val="DCD8CE"/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8" name="Text 35"/>
            <p:cNvSpPr/>
            <p:nvPr/>
          </p:nvSpPr>
          <p:spPr>
            <a:xfrm>
              <a:off x="10875318" y="9107835"/>
              <a:ext cx="1736973" cy="2286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050" b="1">
                  <a:solidFill>
                    <a:srgbClr val="2F2E6E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コーポレートカラー × 機能</a:t>
              </a:r>
              <a:endParaRPr lang="en-US" sz="105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9" name="Shape 36"/>
            <p:cNvSpPr/>
            <p:nvPr/>
          </p:nvSpPr>
          <p:spPr>
            <a:xfrm>
              <a:off x="10875318" y="9393585"/>
              <a:ext cx="2099370" cy="114300"/>
            </a:xfrm>
            <a:prstGeom prst="rect">
              <a:avLst/>
            </a:prstGeom>
            <a:solidFill>
              <a:srgbClr val="E60013"/>
            </a:solidFill>
            <a:ln/>
          </p:spPr>
          <p:txBody>
            <a:bodyPr>
              <a:noAutofit/>
            </a:bodyPr>
            <a:lstStyle/>
            <a:p>
              <a:endParaRPr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0" name="Shape 37"/>
            <p:cNvSpPr/>
            <p:nvPr/>
          </p:nvSpPr>
          <p:spPr>
            <a:xfrm>
              <a:off x="11843566" y="9393585"/>
              <a:ext cx="2099370" cy="114300"/>
            </a:xfrm>
            <a:prstGeom prst="rect">
              <a:avLst/>
            </a:prstGeom>
            <a:solidFill>
              <a:srgbClr val="14A0B4"/>
            </a:solidFill>
            <a:ln/>
          </p:spPr>
          <p:txBody>
            <a:bodyPr>
              <a:noAutofit/>
            </a:bodyPr>
            <a:lstStyle/>
            <a:p>
              <a:endParaRPr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1" name="Shape 38"/>
            <p:cNvSpPr/>
            <p:nvPr/>
          </p:nvSpPr>
          <p:spPr>
            <a:xfrm>
              <a:off x="12811814" y="9393585"/>
              <a:ext cx="2099370" cy="114300"/>
            </a:xfrm>
            <a:prstGeom prst="rect">
              <a:avLst/>
            </a:prstGeom>
            <a:solidFill>
              <a:srgbClr val="0064A0"/>
            </a:solidFill>
            <a:ln/>
          </p:spPr>
          <p:txBody>
            <a:bodyPr>
              <a:noAutofit/>
            </a:bodyPr>
            <a:lstStyle/>
            <a:p>
              <a:endParaRPr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2" name="Text 39"/>
            <p:cNvSpPr/>
            <p:nvPr/>
          </p:nvSpPr>
          <p:spPr>
            <a:xfrm>
              <a:off x="10875318" y="9612660"/>
              <a:ext cx="170304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10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アイコン + 色 + テキストの</a:t>
              </a:r>
              <a:endParaRPr lang="en-US" sz="11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3" name="Text 40"/>
            <p:cNvSpPr/>
            <p:nvPr/>
          </p:nvSpPr>
          <p:spPr>
            <a:xfrm>
              <a:off x="12539216" y="9584085"/>
              <a:ext cx="718691" cy="2286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050" b="1">
                  <a:solidFill>
                    <a:srgbClr val="2F2E6E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3 点セット</a:t>
              </a:r>
              <a:endParaRPr lang="en-US" sz="105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4" name="Text 41"/>
            <p:cNvSpPr/>
            <p:nvPr/>
          </p:nvSpPr>
          <p:spPr>
            <a:xfrm>
              <a:off x="13218616" y="9612660"/>
              <a:ext cx="1943249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120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で識別し、色覚特性にも配慮。</a:t>
              </a:r>
              <a:endParaRPr lang="en-US" sz="1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6" name="Shape 38">
              <a:extLst>
                <a:ext uri="{FF2B5EF4-FFF2-40B4-BE49-F238E27FC236}">
                  <a16:creationId xmlns:a16="http://schemas.microsoft.com/office/drawing/2014/main" id="{6AC18A27-0D85-75B9-2348-44C386575B96}"/>
                </a:ext>
              </a:extLst>
            </p:cNvPr>
            <p:cNvSpPr/>
            <p:nvPr/>
          </p:nvSpPr>
          <p:spPr>
            <a:xfrm>
              <a:off x="13780062" y="9393585"/>
              <a:ext cx="2099370" cy="114300"/>
            </a:xfrm>
            <a:prstGeom prst="rect">
              <a:avLst/>
            </a:prstGeom>
            <a:solidFill>
              <a:srgbClr val="002E6E"/>
            </a:solidFill>
            <a:ln/>
          </p:spPr>
          <p:txBody>
            <a:bodyPr>
              <a:noAutofit/>
            </a:bodyPr>
            <a:lstStyle/>
            <a:p>
              <a:endParaRPr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7" name="Shape 38">
              <a:extLst>
                <a:ext uri="{FF2B5EF4-FFF2-40B4-BE49-F238E27FC236}">
                  <a16:creationId xmlns:a16="http://schemas.microsoft.com/office/drawing/2014/main" id="{34B71D4A-8211-8881-9DF8-FF09DDD742EC}"/>
                </a:ext>
              </a:extLst>
            </p:cNvPr>
            <p:cNvSpPr/>
            <p:nvPr/>
          </p:nvSpPr>
          <p:spPr>
            <a:xfrm>
              <a:off x="14748310" y="9393585"/>
              <a:ext cx="1224000" cy="114300"/>
            </a:xfrm>
            <a:prstGeom prst="rect">
              <a:avLst/>
            </a:prstGeom>
            <a:solidFill>
              <a:srgbClr val="E5A330"/>
            </a:solidFill>
            <a:ln/>
          </p:spPr>
          <p:txBody>
            <a:bodyPr>
              <a:noAutofit/>
            </a:bodyPr>
            <a:lstStyle/>
            <a:p>
              <a:endParaRPr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77" name="Shape 18">
            <a:extLst>
              <a:ext uri="{FF2B5EF4-FFF2-40B4-BE49-F238E27FC236}">
                <a16:creationId xmlns:a16="http://schemas.microsoft.com/office/drawing/2014/main" id="{203498B1-D27E-FBBD-97E5-D910A517A521}"/>
              </a:ext>
            </a:extLst>
          </p:cNvPr>
          <p:cNvSpPr/>
          <p:nvPr/>
        </p:nvSpPr>
        <p:spPr>
          <a:xfrm>
            <a:off x="11588830" y="2896230"/>
            <a:ext cx="3096000" cy="5952345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8" name="Shape 30">
            <a:extLst>
              <a:ext uri="{FF2B5EF4-FFF2-40B4-BE49-F238E27FC236}">
                <a16:creationId xmlns:a16="http://schemas.microsoft.com/office/drawing/2014/main" id="{B961B874-BD3D-43FB-7A2E-E6B3A7B8A8DB}"/>
              </a:ext>
            </a:extLst>
          </p:cNvPr>
          <p:cNvSpPr/>
          <p:nvPr/>
        </p:nvSpPr>
        <p:spPr>
          <a:xfrm>
            <a:off x="11633098" y="5647020"/>
            <a:ext cx="2933084" cy="3132726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4" name="Shape 10">
            <a:extLst>
              <a:ext uri="{FF2B5EF4-FFF2-40B4-BE49-F238E27FC236}">
                <a16:creationId xmlns:a16="http://schemas.microsoft.com/office/drawing/2014/main" id="{DAD121C1-A13F-74B5-FA79-D8D8CBF9868C}"/>
              </a:ext>
            </a:extLst>
          </p:cNvPr>
          <p:cNvSpPr/>
          <p:nvPr/>
        </p:nvSpPr>
        <p:spPr>
          <a:xfrm>
            <a:off x="6055336" y="5892242"/>
            <a:ext cx="5304597" cy="2934912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6" name="Shape 30">
            <a:extLst>
              <a:ext uri="{FF2B5EF4-FFF2-40B4-BE49-F238E27FC236}">
                <a16:creationId xmlns:a16="http://schemas.microsoft.com/office/drawing/2014/main" id="{0CF56EF4-8F16-314C-A6FD-71DA9C70F343}"/>
              </a:ext>
            </a:extLst>
          </p:cNvPr>
          <p:cNvSpPr/>
          <p:nvPr/>
        </p:nvSpPr>
        <p:spPr>
          <a:xfrm>
            <a:off x="6294279" y="7637650"/>
            <a:ext cx="3463328" cy="1106706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0" name="Shape 10">
            <a:extLst>
              <a:ext uri="{FF2B5EF4-FFF2-40B4-BE49-F238E27FC236}">
                <a16:creationId xmlns:a16="http://schemas.microsoft.com/office/drawing/2014/main" id="{41AB2CC1-85F6-4D52-3A06-BA6A8B4B7E0D}"/>
              </a:ext>
            </a:extLst>
          </p:cNvPr>
          <p:cNvSpPr/>
          <p:nvPr/>
        </p:nvSpPr>
        <p:spPr>
          <a:xfrm>
            <a:off x="6026308" y="2890636"/>
            <a:ext cx="5304597" cy="2863952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0" name="Shape 30">
            <a:extLst>
              <a:ext uri="{FF2B5EF4-FFF2-40B4-BE49-F238E27FC236}">
                <a16:creationId xmlns:a16="http://schemas.microsoft.com/office/drawing/2014/main" id="{31051FB1-BB34-726A-09E6-941E0E685450}"/>
              </a:ext>
            </a:extLst>
          </p:cNvPr>
          <p:cNvSpPr/>
          <p:nvPr/>
        </p:nvSpPr>
        <p:spPr>
          <a:xfrm>
            <a:off x="6116420" y="4648755"/>
            <a:ext cx="5081963" cy="998265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401" y="2890635"/>
            <a:ext cx="4846638" cy="694094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9" name="Shape 30">
            <a:extLst>
              <a:ext uri="{FF2B5EF4-FFF2-40B4-BE49-F238E27FC236}">
                <a16:creationId xmlns:a16="http://schemas.microsoft.com/office/drawing/2014/main" id="{C1EC39D2-A755-4DC9-1E2E-82C811FA7D44}"/>
              </a:ext>
            </a:extLst>
          </p:cNvPr>
          <p:cNvSpPr/>
          <p:nvPr/>
        </p:nvSpPr>
        <p:spPr>
          <a:xfrm>
            <a:off x="1127356" y="8616518"/>
            <a:ext cx="3680566" cy="821706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342900"/>
            <a:ext cx="1359247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147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UI CRAFT · 07</a:t>
            </a:r>
            <a:endParaRPr lang="en-US" sz="10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15271441" y="2330132"/>
            <a:ext cx="2489512" cy="252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>
              <a:buNone/>
            </a:pP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1123950"/>
            <a:ext cx="13545102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400" b="1" kern="0" spc="-81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同じ画面で視点を切替</a:t>
            </a:r>
            <a:r>
              <a:rPr 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、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5400" b="1" kern="0" spc="-81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現在地と次アクションを可視化</a:t>
            </a:r>
            <a:r>
              <a:rPr 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sz="5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33475" y="3090661"/>
            <a:ext cx="434003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62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01 / APPROVAL STEPPER</a:t>
            </a:r>
            <a:endParaRPr lang="en-US" sz="9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1079003" y="5352914"/>
            <a:ext cx="4565958" cy="2739527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177232" y="5162413"/>
            <a:ext cx="39960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62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REAL SCREEN</a:t>
            </a:r>
            <a:endParaRPr lang="en-US" sz="9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6762653" y="9008752"/>
            <a:ext cx="6565538" cy="4607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6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ロゴの </a:t>
            </a:r>
            <a:r>
              <a:rPr lang="en-US" sz="1600" b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cyan → blue → indigo </a:t>
            </a:r>
            <a:br>
              <a:rPr lang="en-US" sz="1600" b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16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グラデーションを進行表現に転用</a:t>
            </a:r>
            <a:r>
              <a:rPr lang="en-US" sz="16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br>
              <a:rPr lang="en-US" sz="16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16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色覚特性に配慮してアイコン+テキストも併用</a:t>
            </a:r>
            <a:r>
              <a:rPr lang="en-US" sz="16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sz="1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5" name="Text 1">
            <a:extLst>
              <a:ext uri="{FF2B5EF4-FFF2-40B4-BE49-F238E27FC236}">
                <a16:creationId xmlns:a16="http://schemas.microsoft.com/office/drawing/2014/main" id="{BB3919FC-E5C0-D7E3-A176-91CDBFF6ED2B}"/>
              </a:ext>
            </a:extLst>
          </p:cNvPr>
          <p:cNvSpPr/>
          <p:nvPr/>
        </p:nvSpPr>
        <p:spPr>
          <a:xfrm>
            <a:off x="932717" y="342900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E60013"/>
          </a:solidFill>
          <a:ln>
            <a:solidFill>
              <a:srgbClr val="002E6E"/>
            </a:solidFill>
          </a:ln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課題１　工夫</a:t>
            </a:r>
            <a:endParaRPr lang="en-US" sz="2400" b="1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矢印: 右 4">
            <a:extLst>
              <a:ext uri="{FF2B5EF4-FFF2-40B4-BE49-F238E27FC236}">
                <a16:creationId xmlns:a16="http://schemas.microsoft.com/office/drawing/2014/main" id="{32EFA5C7-BD2C-CEBF-999B-D26D3A23224E}"/>
              </a:ext>
            </a:extLst>
          </p:cNvPr>
          <p:cNvSpPr/>
          <p:nvPr/>
        </p:nvSpPr>
        <p:spPr>
          <a:xfrm rot="20207916">
            <a:off x="5927459" y="8767247"/>
            <a:ext cx="1093387" cy="556941"/>
          </a:xfrm>
          <a:prstGeom prst="rightArrow">
            <a:avLst>
              <a:gd name="adj1" fmla="val 69505"/>
              <a:gd name="adj2" fmla="val 59069"/>
            </a:avLst>
          </a:prstGeom>
          <a:solidFill>
            <a:srgbClr val="14A0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ja-JP" altLang="en-US" sz="14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20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未</a:t>
            </a:r>
          </a:p>
        </p:txBody>
      </p:sp>
      <p:pic>
        <p:nvPicPr>
          <p:cNvPr id="51" name="Image 0" descr="preencoded.png">
            <a:extLst>
              <a:ext uri="{FF2B5EF4-FFF2-40B4-BE49-F238E27FC236}">
                <a16:creationId xmlns:a16="http://schemas.microsoft.com/office/drawing/2014/main" id="{621AAFDD-6B96-4B1C-EDEB-4C115EB9B00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464" b="7919"/>
          <a:stretch>
            <a:fillRect/>
          </a:stretch>
        </p:blipFill>
        <p:spPr>
          <a:xfrm>
            <a:off x="1209763" y="5427781"/>
            <a:ext cx="4258118" cy="2492919"/>
          </a:xfrm>
          <a:prstGeom prst="rect">
            <a:avLst/>
          </a:prstGeom>
        </p:spPr>
      </p:pic>
      <p:sp>
        <p:nvSpPr>
          <p:cNvPr id="52" name="Text 8">
            <a:extLst>
              <a:ext uri="{FF2B5EF4-FFF2-40B4-BE49-F238E27FC236}">
                <a16:creationId xmlns:a16="http://schemas.microsoft.com/office/drawing/2014/main" id="{C163DD23-0995-0CD6-65CF-B6F29A366599}"/>
              </a:ext>
            </a:extLst>
          </p:cNvPr>
          <p:cNvSpPr/>
          <p:nvPr/>
        </p:nvSpPr>
        <p:spPr>
          <a:xfrm>
            <a:off x="1177232" y="3286756"/>
            <a:ext cx="434003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承認ステッパー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3" name="Text 9">
            <a:extLst>
              <a:ext uri="{FF2B5EF4-FFF2-40B4-BE49-F238E27FC236}">
                <a16:creationId xmlns:a16="http://schemas.microsoft.com/office/drawing/2014/main" id="{38475FC5-9881-F480-EF14-DC6356459E6B}"/>
              </a:ext>
            </a:extLst>
          </p:cNvPr>
          <p:cNvSpPr/>
          <p:nvPr/>
        </p:nvSpPr>
        <p:spPr>
          <a:xfrm>
            <a:off x="1177232" y="3605842"/>
            <a:ext cx="5419511" cy="12888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申請→部門承認→本部承認→承認済の</a:t>
            </a:r>
            <a: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b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4 </a:t>
            </a:r>
            <a:r>
              <a:rPr lang="en-US" sz="20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ノードで「いまどの段階か」を一目で</a:t>
            </a:r>
            <a: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b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20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大型版・ミニ版</a:t>
            </a:r>
            <a:r>
              <a:rPr lang="ja-JP" alt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の２種</a:t>
            </a:r>
            <a:r>
              <a:rPr lang="en-US" sz="20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展開</a:t>
            </a:r>
            <a: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57" name="図 56">
            <a:extLst>
              <a:ext uri="{FF2B5EF4-FFF2-40B4-BE49-F238E27FC236}">
                <a16:creationId xmlns:a16="http://schemas.microsoft.com/office/drawing/2014/main" id="{853C2779-06CD-898B-03BE-DCD9B67A57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6163" y="8747310"/>
            <a:ext cx="2491346" cy="690914"/>
          </a:xfrm>
          <a:prstGeom prst="rect">
            <a:avLst/>
          </a:prstGeom>
        </p:spPr>
      </p:pic>
      <p:sp>
        <p:nvSpPr>
          <p:cNvPr id="61" name="Text 11">
            <a:extLst>
              <a:ext uri="{FF2B5EF4-FFF2-40B4-BE49-F238E27FC236}">
                <a16:creationId xmlns:a16="http://schemas.microsoft.com/office/drawing/2014/main" id="{4B677FFE-71BF-AB47-2824-D5934849F1E8}"/>
              </a:ext>
            </a:extLst>
          </p:cNvPr>
          <p:cNvSpPr/>
          <p:nvPr/>
        </p:nvSpPr>
        <p:spPr>
          <a:xfrm>
            <a:off x="6245383" y="3090661"/>
            <a:ext cx="434018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62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02 / DETAIL TABS</a:t>
            </a:r>
            <a:endParaRPr lang="en-US" sz="9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Text 12">
            <a:extLst>
              <a:ext uri="{FF2B5EF4-FFF2-40B4-BE49-F238E27FC236}">
                <a16:creationId xmlns:a16="http://schemas.microsoft.com/office/drawing/2014/main" id="{A4DD4A5B-76A2-BB6E-D9A5-BA09B1974238}"/>
              </a:ext>
            </a:extLst>
          </p:cNvPr>
          <p:cNvSpPr/>
          <p:nvPr/>
        </p:nvSpPr>
        <p:spPr>
          <a:xfrm>
            <a:off x="6245383" y="3300211"/>
            <a:ext cx="434018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案件詳細タブ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3" name="Text 13">
            <a:extLst>
              <a:ext uri="{FF2B5EF4-FFF2-40B4-BE49-F238E27FC236}">
                <a16:creationId xmlns:a16="http://schemas.microsoft.com/office/drawing/2014/main" id="{422254CB-D473-2B57-640C-8B4AD1E9487A}"/>
              </a:ext>
            </a:extLst>
          </p:cNvPr>
          <p:cNvSpPr/>
          <p:nvPr/>
        </p:nvSpPr>
        <p:spPr>
          <a:xfrm>
            <a:off x="6245382" y="3619297"/>
            <a:ext cx="5214486" cy="5682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申請 / 開発 / 予算 / 履歴を 1 </a:t>
            </a:r>
            <a:r>
              <a:rPr lang="en-US" sz="20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画面でタブ切替</a:t>
            </a:r>
            <a:r>
              <a:rPr lang="ja-JP" alt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r>
              <a:rPr lang="en-US" sz="20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導線を短く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69" name="図 68">
            <a:extLst>
              <a:ext uri="{FF2B5EF4-FFF2-40B4-BE49-F238E27FC236}">
                <a16:creationId xmlns:a16="http://schemas.microsoft.com/office/drawing/2014/main" id="{3CC79EB2-2915-BA83-6FEC-9500303D27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5383" y="4756977"/>
            <a:ext cx="4953000" cy="762000"/>
          </a:xfrm>
          <a:prstGeom prst="rect">
            <a:avLst/>
          </a:prstGeom>
        </p:spPr>
      </p:pic>
      <p:sp>
        <p:nvSpPr>
          <p:cNvPr id="71" name="Text 15">
            <a:extLst>
              <a:ext uri="{FF2B5EF4-FFF2-40B4-BE49-F238E27FC236}">
                <a16:creationId xmlns:a16="http://schemas.microsoft.com/office/drawing/2014/main" id="{3817F203-21BA-FF54-F114-6217DE50C858}"/>
              </a:ext>
            </a:extLst>
          </p:cNvPr>
          <p:cNvSpPr/>
          <p:nvPr/>
        </p:nvSpPr>
        <p:spPr>
          <a:xfrm>
            <a:off x="6253782" y="6074173"/>
            <a:ext cx="434003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62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03 / BUDGET BAR</a:t>
            </a:r>
            <a:endParaRPr lang="en-US" sz="9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2" name="Text 16">
            <a:extLst>
              <a:ext uri="{FF2B5EF4-FFF2-40B4-BE49-F238E27FC236}">
                <a16:creationId xmlns:a16="http://schemas.microsoft.com/office/drawing/2014/main" id="{C1CD4D91-630D-54A8-AD4E-B182307D2689}"/>
              </a:ext>
            </a:extLst>
          </p:cNvPr>
          <p:cNvSpPr/>
          <p:nvPr/>
        </p:nvSpPr>
        <p:spPr>
          <a:xfrm>
            <a:off x="6253782" y="6283723"/>
            <a:ext cx="434003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予算消化バー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3" name="Text 17">
            <a:extLst>
              <a:ext uri="{FF2B5EF4-FFF2-40B4-BE49-F238E27FC236}">
                <a16:creationId xmlns:a16="http://schemas.microsoft.com/office/drawing/2014/main" id="{FE1EB722-331B-C157-B259-02DA62B0F970}"/>
              </a:ext>
            </a:extLst>
          </p:cNvPr>
          <p:cNvSpPr/>
          <p:nvPr/>
        </p:nvSpPr>
        <p:spPr>
          <a:xfrm>
            <a:off x="6253782" y="6602810"/>
            <a:ext cx="5106151" cy="4991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消費率 70% / 100% </a:t>
            </a:r>
            <a:r>
              <a:rPr lang="en-US" sz="20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超で警告色</a:t>
            </a:r>
            <a:r>
              <a:rPr lang="ja-JP" alt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を</a:t>
            </a:r>
            <a:r>
              <a:rPr lang="en-US" sz="20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リアルタイム算出。DB</a:t>
            </a:r>
            <a: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sz="20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には率を持たず</a:t>
            </a:r>
            <a:r>
              <a:rPr lang="ja-JP" alt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その場で計算</a:t>
            </a:r>
            <a: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5" name="図 74">
            <a:extLst>
              <a:ext uri="{FF2B5EF4-FFF2-40B4-BE49-F238E27FC236}">
                <a16:creationId xmlns:a16="http://schemas.microsoft.com/office/drawing/2014/main" id="{607EFD3F-2CB1-CF41-477B-E3D0C5E6C3D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45408"/>
          <a:stretch>
            <a:fillRect/>
          </a:stretch>
        </p:blipFill>
        <p:spPr>
          <a:xfrm>
            <a:off x="6404397" y="7765659"/>
            <a:ext cx="2961323" cy="932116"/>
          </a:xfrm>
          <a:prstGeom prst="rect">
            <a:avLst/>
          </a:prstGeom>
        </p:spPr>
      </p:pic>
      <p:sp>
        <p:nvSpPr>
          <p:cNvPr id="78" name="Text 19">
            <a:extLst>
              <a:ext uri="{FF2B5EF4-FFF2-40B4-BE49-F238E27FC236}">
                <a16:creationId xmlns:a16="http://schemas.microsoft.com/office/drawing/2014/main" id="{E4685841-AA4F-D0B7-F0C8-1652B87659A1}"/>
              </a:ext>
            </a:extLst>
          </p:cNvPr>
          <p:cNvSpPr/>
          <p:nvPr/>
        </p:nvSpPr>
        <p:spPr>
          <a:xfrm>
            <a:off x="11807906" y="3096256"/>
            <a:ext cx="27360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62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04 / SIDEBAR · NAV</a:t>
            </a:r>
            <a:endParaRPr lang="en-US" sz="9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9" name="Text 20">
            <a:extLst>
              <a:ext uri="{FF2B5EF4-FFF2-40B4-BE49-F238E27FC236}">
                <a16:creationId xmlns:a16="http://schemas.microsoft.com/office/drawing/2014/main" id="{59C7F73C-2324-224B-A79C-754D7FB2B7D0}"/>
              </a:ext>
            </a:extLst>
          </p:cNvPr>
          <p:cNvSpPr/>
          <p:nvPr/>
        </p:nvSpPr>
        <p:spPr>
          <a:xfrm>
            <a:off x="11807906" y="3305806"/>
            <a:ext cx="434018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サイドバー導線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0" name="Text 21">
            <a:extLst>
              <a:ext uri="{FF2B5EF4-FFF2-40B4-BE49-F238E27FC236}">
                <a16:creationId xmlns:a16="http://schemas.microsoft.com/office/drawing/2014/main" id="{FAD4AEC2-D2CD-C1A0-6EFF-DAF61738EF3E}"/>
              </a:ext>
            </a:extLst>
          </p:cNvPr>
          <p:cNvSpPr/>
          <p:nvPr/>
        </p:nvSpPr>
        <p:spPr>
          <a:xfrm>
            <a:off x="11807905" y="3624893"/>
            <a:ext cx="2651597" cy="7728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申請・承認 / 開発管理 / 予算管理を 3 </a:t>
            </a:r>
            <a:r>
              <a:rPr lang="en-US" sz="20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セクションで分離し導線を</a:t>
            </a:r>
            <a:r>
              <a:rPr lang="ja-JP" alt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直観化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84" name="図 83">
            <a:extLst>
              <a:ext uri="{FF2B5EF4-FFF2-40B4-BE49-F238E27FC236}">
                <a16:creationId xmlns:a16="http://schemas.microsoft.com/office/drawing/2014/main" id="{283E496A-951F-2B0E-9206-1A74FD3C9D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07905" y="5676286"/>
            <a:ext cx="1613124" cy="2940232"/>
          </a:xfrm>
          <a:prstGeom prst="rect">
            <a:avLst/>
          </a:prstGeom>
        </p:spPr>
      </p:pic>
      <p:sp>
        <p:nvSpPr>
          <p:cNvPr id="87" name="Shape 8">
            <a:extLst>
              <a:ext uri="{FF2B5EF4-FFF2-40B4-BE49-F238E27FC236}">
                <a16:creationId xmlns:a16="http://schemas.microsoft.com/office/drawing/2014/main" id="{FE2E3E13-E656-D7D5-D5B9-E6E230C68ABC}"/>
              </a:ext>
            </a:extLst>
          </p:cNvPr>
          <p:cNvSpPr/>
          <p:nvPr/>
        </p:nvSpPr>
        <p:spPr>
          <a:xfrm>
            <a:off x="11711531" y="5716055"/>
            <a:ext cx="1709498" cy="965102"/>
          </a:xfrm>
          <a:prstGeom prst="roundRect">
            <a:avLst>
              <a:gd name="adj" fmla="val 15238"/>
            </a:avLst>
          </a:prstGeom>
          <a:noFill/>
          <a:ln w="57150">
            <a:solidFill>
              <a:srgbClr val="14A0B4">
                <a:alpha val="75000"/>
              </a:srgbClr>
            </a:solidFill>
            <a:prstDash val="solid"/>
          </a:ln>
          <a:effectLst>
            <a:outerShdw blurRad="12700" dist="50800" dir="2700000" algn="bl" rotWithShape="0">
              <a:srgbClr val="B9C2CE">
                <a:alpha val="1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0" name="Shape 8">
            <a:extLst>
              <a:ext uri="{FF2B5EF4-FFF2-40B4-BE49-F238E27FC236}">
                <a16:creationId xmlns:a16="http://schemas.microsoft.com/office/drawing/2014/main" id="{FF5DE912-A6E4-8164-64C1-1A34CC0553E0}"/>
              </a:ext>
            </a:extLst>
          </p:cNvPr>
          <p:cNvSpPr/>
          <p:nvPr/>
        </p:nvSpPr>
        <p:spPr>
          <a:xfrm>
            <a:off x="13530566" y="5816917"/>
            <a:ext cx="928936" cy="414474"/>
          </a:xfrm>
          <a:prstGeom prst="roundRect">
            <a:avLst>
              <a:gd name="adj" fmla="val 15238"/>
            </a:avLst>
          </a:prstGeom>
          <a:solidFill>
            <a:srgbClr val="14A0B4"/>
          </a:solidFill>
          <a:ln w="57150">
            <a:noFill/>
            <a:prstDash val="solid"/>
          </a:ln>
          <a:effectLst>
            <a:outerShdw blurRad="12700" dist="50800" dir="2700000" algn="bl" rotWithShape="0">
              <a:srgbClr val="B9C2CE">
                <a:alpha val="14000"/>
              </a:srgbClr>
            </a:outerShdw>
          </a:effectLst>
        </p:spPr>
        <p:txBody>
          <a:bodyPr/>
          <a:lstStyle/>
          <a:p>
            <a:pPr algn="ctr"/>
            <a:r>
              <a:rPr lang="ja-JP" altLang="en-US" sz="2400" b="1">
                <a:solidFill>
                  <a:schemeClr val="bg1"/>
                </a:solidFill>
              </a:rPr>
              <a:t>申請</a:t>
            </a:r>
          </a:p>
        </p:txBody>
      </p:sp>
      <p:sp>
        <p:nvSpPr>
          <p:cNvPr id="93" name="Shape 8">
            <a:extLst>
              <a:ext uri="{FF2B5EF4-FFF2-40B4-BE49-F238E27FC236}">
                <a16:creationId xmlns:a16="http://schemas.microsoft.com/office/drawing/2014/main" id="{3310894E-A10D-D69B-6375-5D4AE78BCF09}"/>
              </a:ext>
            </a:extLst>
          </p:cNvPr>
          <p:cNvSpPr/>
          <p:nvPr/>
        </p:nvSpPr>
        <p:spPr>
          <a:xfrm>
            <a:off x="11711531" y="6781590"/>
            <a:ext cx="1709498" cy="965102"/>
          </a:xfrm>
          <a:prstGeom prst="roundRect">
            <a:avLst>
              <a:gd name="adj" fmla="val 15238"/>
            </a:avLst>
          </a:prstGeom>
          <a:noFill/>
          <a:ln w="57150">
            <a:solidFill>
              <a:srgbClr val="0064A0">
                <a:alpha val="75000"/>
              </a:srgbClr>
            </a:solidFill>
            <a:prstDash val="solid"/>
          </a:ln>
          <a:effectLst>
            <a:outerShdw blurRad="12700" dist="50800" dir="2700000" algn="bl" rotWithShape="0">
              <a:srgbClr val="B9C2CE">
                <a:alpha val="1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4" name="Shape 8">
            <a:extLst>
              <a:ext uri="{FF2B5EF4-FFF2-40B4-BE49-F238E27FC236}">
                <a16:creationId xmlns:a16="http://schemas.microsoft.com/office/drawing/2014/main" id="{3625ED86-912D-6A47-435A-4643CD27C00F}"/>
              </a:ext>
            </a:extLst>
          </p:cNvPr>
          <p:cNvSpPr/>
          <p:nvPr/>
        </p:nvSpPr>
        <p:spPr>
          <a:xfrm>
            <a:off x="13530566" y="6882452"/>
            <a:ext cx="928936" cy="414474"/>
          </a:xfrm>
          <a:prstGeom prst="roundRect">
            <a:avLst>
              <a:gd name="adj" fmla="val 15238"/>
            </a:avLst>
          </a:prstGeom>
          <a:solidFill>
            <a:srgbClr val="0064A0"/>
          </a:solidFill>
          <a:ln w="57150">
            <a:noFill/>
            <a:prstDash val="solid"/>
          </a:ln>
          <a:effectLst>
            <a:outerShdw blurRad="12700" dist="50800" dir="2700000" algn="bl" rotWithShape="0">
              <a:srgbClr val="B9C2CE">
                <a:alpha val="14000"/>
              </a:srgbClr>
            </a:outerShdw>
          </a:effectLst>
        </p:spPr>
        <p:txBody>
          <a:bodyPr/>
          <a:lstStyle/>
          <a:p>
            <a:pPr algn="ctr"/>
            <a:r>
              <a:rPr lang="ja-JP" altLang="en-US" sz="2400" b="1">
                <a:solidFill>
                  <a:schemeClr val="bg1"/>
                </a:solidFill>
              </a:rPr>
              <a:t>開発</a:t>
            </a:r>
          </a:p>
        </p:txBody>
      </p:sp>
      <p:sp>
        <p:nvSpPr>
          <p:cNvPr id="95" name="Shape 8">
            <a:extLst>
              <a:ext uri="{FF2B5EF4-FFF2-40B4-BE49-F238E27FC236}">
                <a16:creationId xmlns:a16="http://schemas.microsoft.com/office/drawing/2014/main" id="{AB1BB7F0-F736-9D3B-E4EA-F7D618B80DF7}"/>
              </a:ext>
            </a:extLst>
          </p:cNvPr>
          <p:cNvSpPr/>
          <p:nvPr/>
        </p:nvSpPr>
        <p:spPr>
          <a:xfrm>
            <a:off x="11711531" y="7819838"/>
            <a:ext cx="1709498" cy="877936"/>
          </a:xfrm>
          <a:prstGeom prst="roundRect">
            <a:avLst>
              <a:gd name="adj" fmla="val 15238"/>
            </a:avLst>
          </a:prstGeom>
          <a:noFill/>
          <a:ln w="57150">
            <a:solidFill>
              <a:srgbClr val="002E6E">
                <a:alpha val="75000"/>
              </a:srgbClr>
            </a:solidFill>
            <a:prstDash val="solid"/>
          </a:ln>
          <a:effectLst>
            <a:outerShdw blurRad="12700" dist="50800" dir="2700000" algn="bl" rotWithShape="0">
              <a:srgbClr val="B9C2CE">
                <a:alpha val="1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6" name="Shape 8">
            <a:extLst>
              <a:ext uri="{FF2B5EF4-FFF2-40B4-BE49-F238E27FC236}">
                <a16:creationId xmlns:a16="http://schemas.microsoft.com/office/drawing/2014/main" id="{883A048C-DB94-6BDD-6A14-A1F5BBD15913}"/>
              </a:ext>
            </a:extLst>
          </p:cNvPr>
          <p:cNvSpPr/>
          <p:nvPr/>
        </p:nvSpPr>
        <p:spPr>
          <a:xfrm>
            <a:off x="13530566" y="7920700"/>
            <a:ext cx="928936" cy="414474"/>
          </a:xfrm>
          <a:prstGeom prst="roundRect">
            <a:avLst>
              <a:gd name="adj" fmla="val 15238"/>
            </a:avLst>
          </a:prstGeom>
          <a:solidFill>
            <a:srgbClr val="002E6E"/>
          </a:solidFill>
          <a:ln w="57150">
            <a:noFill/>
            <a:prstDash val="solid"/>
          </a:ln>
          <a:effectLst>
            <a:outerShdw blurRad="12700" dist="50800" dir="2700000" algn="bl" rotWithShape="0">
              <a:srgbClr val="B9C2CE">
                <a:alpha val="14000"/>
              </a:srgbClr>
            </a:outerShdw>
          </a:effectLst>
        </p:spPr>
        <p:txBody>
          <a:bodyPr/>
          <a:lstStyle/>
          <a:p>
            <a:pPr algn="ctr"/>
            <a:r>
              <a:rPr lang="ja-JP" altLang="en-US" sz="2400" b="1">
                <a:solidFill>
                  <a:schemeClr val="bg1"/>
                </a:solidFill>
              </a:rPr>
              <a:t>予算</a:t>
            </a:r>
          </a:p>
        </p:txBody>
      </p:sp>
      <p:sp>
        <p:nvSpPr>
          <p:cNvPr id="97" name="Text 31">
            <a:extLst>
              <a:ext uri="{FF2B5EF4-FFF2-40B4-BE49-F238E27FC236}">
                <a16:creationId xmlns:a16="http://schemas.microsoft.com/office/drawing/2014/main" id="{444A7299-7956-99F2-9619-A649A2224698}"/>
              </a:ext>
            </a:extLst>
          </p:cNvPr>
          <p:cNvSpPr/>
          <p:nvPr/>
        </p:nvSpPr>
        <p:spPr>
          <a:xfrm>
            <a:off x="11737990" y="5488117"/>
            <a:ext cx="180000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62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REAL SCREEN</a:t>
            </a:r>
            <a:endParaRPr lang="en-US" sz="9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0" name="Text 27">
            <a:extLst>
              <a:ext uri="{FF2B5EF4-FFF2-40B4-BE49-F238E27FC236}">
                <a16:creationId xmlns:a16="http://schemas.microsoft.com/office/drawing/2014/main" id="{CB79C38F-1848-1369-0899-DF90511B3D26}"/>
              </a:ext>
            </a:extLst>
          </p:cNvPr>
          <p:cNvSpPr/>
          <p:nvPr/>
        </p:nvSpPr>
        <p:spPr>
          <a:xfrm>
            <a:off x="15250575" y="3148959"/>
            <a:ext cx="26640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62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0</a:t>
            </a:r>
            <a:r>
              <a:rPr lang="en-US" altLang="ja-JP" sz="900" b="1" kern="0" spc="162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5</a:t>
            </a:r>
            <a:r>
              <a:rPr lang="en-US" sz="900" b="1" kern="0" spc="162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 / TOOLTIPS</a:t>
            </a:r>
            <a:endParaRPr lang="en-US" sz="9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1" name="Text 28">
            <a:extLst>
              <a:ext uri="{FF2B5EF4-FFF2-40B4-BE49-F238E27FC236}">
                <a16:creationId xmlns:a16="http://schemas.microsoft.com/office/drawing/2014/main" id="{EC29459C-F883-FED8-B4E2-665A6954C9E0}"/>
              </a:ext>
            </a:extLst>
          </p:cNvPr>
          <p:cNvSpPr/>
          <p:nvPr/>
        </p:nvSpPr>
        <p:spPr>
          <a:xfrm>
            <a:off x="15250575" y="3358509"/>
            <a:ext cx="434018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文脈ツールチップ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2" name="Text 29">
            <a:extLst>
              <a:ext uri="{FF2B5EF4-FFF2-40B4-BE49-F238E27FC236}">
                <a16:creationId xmlns:a16="http://schemas.microsoft.com/office/drawing/2014/main" id="{5FDF515B-7F35-3F4B-5727-BA09D914B26F}"/>
              </a:ext>
            </a:extLst>
          </p:cNvPr>
          <p:cNvSpPr/>
          <p:nvPr/>
        </p:nvSpPr>
        <p:spPr>
          <a:xfrm>
            <a:off x="15185278" y="3693926"/>
            <a:ext cx="2678179" cy="4781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ロール・状態によって操作の意味が変わる箇所に、要約だけ表示</a:t>
            </a:r>
            <a: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b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20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説明文を画面に</a:t>
            </a:r>
            <a:r>
              <a:rPr lang="ja-JP" alt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詰め込まない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03" name="図 102">
            <a:extLst>
              <a:ext uri="{FF2B5EF4-FFF2-40B4-BE49-F238E27FC236}">
                <a16:creationId xmlns:a16="http://schemas.microsoft.com/office/drawing/2014/main" id="{535E95DD-12B0-BA4D-DF31-7B1ADFF777D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9393" t="2098" r="31985" b="44475"/>
          <a:stretch>
            <a:fillRect/>
          </a:stretch>
        </p:blipFill>
        <p:spPr>
          <a:xfrm>
            <a:off x="15362550" y="6329647"/>
            <a:ext cx="2500907" cy="1184787"/>
          </a:xfrm>
          <a:prstGeom prst="rect">
            <a:avLst/>
          </a:prstGeom>
        </p:spPr>
      </p:pic>
      <p:sp>
        <p:nvSpPr>
          <p:cNvPr id="104" name="楕円 103">
            <a:extLst>
              <a:ext uri="{FF2B5EF4-FFF2-40B4-BE49-F238E27FC236}">
                <a16:creationId xmlns:a16="http://schemas.microsoft.com/office/drawing/2014/main" id="{9A44B114-6BCD-AAB0-9213-CF0D5B8F960A}"/>
              </a:ext>
            </a:extLst>
          </p:cNvPr>
          <p:cNvSpPr/>
          <p:nvPr/>
        </p:nvSpPr>
        <p:spPr>
          <a:xfrm>
            <a:off x="15929485" y="6445481"/>
            <a:ext cx="457200" cy="407050"/>
          </a:xfrm>
          <a:prstGeom prst="ellipse">
            <a:avLst/>
          </a:prstGeom>
          <a:noFill/>
          <a:ln w="57150">
            <a:solidFill>
              <a:srgbClr val="14A0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400">
              <a:solidFill>
                <a:srgbClr val="14A0B4"/>
              </a:solidFill>
            </a:endParaRPr>
          </a:p>
        </p:txBody>
      </p:sp>
      <p:sp>
        <p:nvSpPr>
          <p:cNvPr id="105" name="四角形: 角を丸くする 104">
            <a:extLst>
              <a:ext uri="{FF2B5EF4-FFF2-40B4-BE49-F238E27FC236}">
                <a16:creationId xmlns:a16="http://schemas.microsoft.com/office/drawing/2014/main" id="{133B8617-F1F3-D120-20E0-1019E9267E6C}"/>
              </a:ext>
            </a:extLst>
          </p:cNvPr>
          <p:cNvSpPr/>
          <p:nvPr/>
        </p:nvSpPr>
        <p:spPr>
          <a:xfrm>
            <a:off x="16081885" y="6895893"/>
            <a:ext cx="1781572" cy="643778"/>
          </a:xfrm>
          <a:prstGeom prst="roundRect">
            <a:avLst/>
          </a:prstGeom>
          <a:noFill/>
          <a:ln w="57150">
            <a:solidFill>
              <a:srgbClr val="14A0B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400"/>
          </a:p>
        </p:txBody>
      </p:sp>
      <p:sp>
        <p:nvSpPr>
          <p:cNvPr id="106" name="矢印: 左カーブ 105">
            <a:extLst>
              <a:ext uri="{FF2B5EF4-FFF2-40B4-BE49-F238E27FC236}">
                <a16:creationId xmlns:a16="http://schemas.microsoft.com/office/drawing/2014/main" id="{154C75E6-2DD6-B097-3A87-CF0F2EE10F24}"/>
              </a:ext>
            </a:extLst>
          </p:cNvPr>
          <p:cNvSpPr/>
          <p:nvPr/>
        </p:nvSpPr>
        <p:spPr>
          <a:xfrm rot="19341267">
            <a:off x="16483018" y="6322286"/>
            <a:ext cx="278445" cy="645148"/>
          </a:xfrm>
          <a:prstGeom prst="curvedLeftArrow">
            <a:avLst/>
          </a:prstGeom>
          <a:solidFill>
            <a:srgbClr val="002E6E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rgbClr val="14A0B4"/>
              </a:solidFill>
            </a:endParaRPr>
          </a:p>
        </p:txBody>
      </p:sp>
      <p:sp>
        <p:nvSpPr>
          <p:cNvPr id="107" name="Text 2">
            <a:extLst>
              <a:ext uri="{FF2B5EF4-FFF2-40B4-BE49-F238E27FC236}">
                <a16:creationId xmlns:a16="http://schemas.microsoft.com/office/drawing/2014/main" id="{5B6D5BE4-7A15-407B-B3FE-BE52CDB657ED}"/>
              </a:ext>
            </a:extLst>
          </p:cNvPr>
          <p:cNvSpPr/>
          <p:nvPr/>
        </p:nvSpPr>
        <p:spPr>
          <a:xfrm>
            <a:off x="4140862" y="455425"/>
            <a:ext cx="5253957" cy="25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>
              <a:buNone/>
            </a:pPr>
            <a:r>
              <a:rPr lang="en-US" sz="3200" b="1" kern="0" spc="147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UI </a:t>
            </a:r>
            <a:r>
              <a:rPr lang="ja-JP" altLang="en-US" sz="3200" b="1" kern="0" spc="147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の作り込み</a:t>
            </a:r>
          </a:p>
        </p:txBody>
      </p:sp>
      <p:sp>
        <p:nvSpPr>
          <p:cNvPr id="108" name="楕円 107">
            <a:extLst>
              <a:ext uri="{FF2B5EF4-FFF2-40B4-BE49-F238E27FC236}">
                <a16:creationId xmlns:a16="http://schemas.microsoft.com/office/drawing/2014/main" id="{3E9471CD-FBEA-9CA2-EDFF-22B22D134F71}"/>
              </a:ext>
            </a:extLst>
          </p:cNvPr>
          <p:cNvSpPr/>
          <p:nvPr/>
        </p:nvSpPr>
        <p:spPr>
          <a:xfrm>
            <a:off x="3248196" y="3016786"/>
            <a:ext cx="612000" cy="612000"/>
          </a:xfrm>
          <a:prstGeom prst="ellipse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kumimoji="1" lang="ja-JP" altLang="en-US" sz="105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14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済</a:t>
            </a:r>
          </a:p>
        </p:txBody>
      </p:sp>
      <p:sp>
        <p:nvSpPr>
          <p:cNvPr id="109" name="楕円 108">
            <a:extLst>
              <a:ext uri="{FF2B5EF4-FFF2-40B4-BE49-F238E27FC236}">
                <a16:creationId xmlns:a16="http://schemas.microsoft.com/office/drawing/2014/main" id="{DBEE6452-599B-ABFD-BBF2-B5EA073AF61F}"/>
              </a:ext>
            </a:extLst>
          </p:cNvPr>
          <p:cNvSpPr/>
          <p:nvPr/>
        </p:nvSpPr>
        <p:spPr>
          <a:xfrm>
            <a:off x="8128277" y="3016786"/>
            <a:ext cx="612000" cy="612000"/>
          </a:xfrm>
          <a:prstGeom prst="ellipse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kumimoji="1" lang="ja-JP" altLang="en-US" sz="105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14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済</a:t>
            </a:r>
          </a:p>
        </p:txBody>
      </p:sp>
      <p:sp>
        <p:nvSpPr>
          <p:cNvPr id="110" name="楕円 109">
            <a:extLst>
              <a:ext uri="{FF2B5EF4-FFF2-40B4-BE49-F238E27FC236}">
                <a16:creationId xmlns:a16="http://schemas.microsoft.com/office/drawing/2014/main" id="{8E335B5C-83A2-8A8F-288C-A2ED65422087}"/>
              </a:ext>
            </a:extLst>
          </p:cNvPr>
          <p:cNvSpPr/>
          <p:nvPr/>
        </p:nvSpPr>
        <p:spPr>
          <a:xfrm>
            <a:off x="13689034" y="3016786"/>
            <a:ext cx="612000" cy="612000"/>
          </a:xfrm>
          <a:prstGeom prst="ellipse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kumimoji="1" lang="ja-JP" altLang="en-US" sz="105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14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済</a:t>
            </a:r>
          </a:p>
        </p:txBody>
      </p:sp>
      <p:sp>
        <p:nvSpPr>
          <p:cNvPr id="111" name="楕円 110">
            <a:extLst>
              <a:ext uri="{FF2B5EF4-FFF2-40B4-BE49-F238E27FC236}">
                <a16:creationId xmlns:a16="http://schemas.microsoft.com/office/drawing/2014/main" id="{978CAC8F-DEB6-AA67-7A9E-267FAA091886}"/>
              </a:ext>
            </a:extLst>
          </p:cNvPr>
          <p:cNvSpPr/>
          <p:nvPr/>
        </p:nvSpPr>
        <p:spPr>
          <a:xfrm>
            <a:off x="17344715" y="3016786"/>
            <a:ext cx="612000" cy="612000"/>
          </a:xfrm>
          <a:prstGeom prst="ellipse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kumimoji="1" lang="ja-JP" altLang="en-US" sz="105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14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済</a:t>
            </a:r>
          </a:p>
        </p:txBody>
      </p:sp>
      <p:sp>
        <p:nvSpPr>
          <p:cNvPr id="112" name="楕円 111">
            <a:extLst>
              <a:ext uri="{FF2B5EF4-FFF2-40B4-BE49-F238E27FC236}">
                <a16:creationId xmlns:a16="http://schemas.microsoft.com/office/drawing/2014/main" id="{FF927762-C2A4-5B9D-3631-C6E26249DD92}"/>
              </a:ext>
            </a:extLst>
          </p:cNvPr>
          <p:cNvSpPr/>
          <p:nvPr/>
        </p:nvSpPr>
        <p:spPr>
          <a:xfrm>
            <a:off x="8128277" y="6051588"/>
            <a:ext cx="612000" cy="612000"/>
          </a:xfrm>
          <a:prstGeom prst="ellipse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kumimoji="1" lang="ja-JP" altLang="en-US" sz="105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14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済</a:t>
            </a:r>
          </a:p>
        </p:txBody>
      </p:sp>
      <p:sp>
        <p:nvSpPr>
          <p:cNvPr id="10" name="Text 31">
            <a:extLst>
              <a:ext uri="{FF2B5EF4-FFF2-40B4-BE49-F238E27FC236}">
                <a16:creationId xmlns:a16="http://schemas.microsoft.com/office/drawing/2014/main" id="{AC362312-49C2-ADBA-7B04-3B4331F3D369}"/>
              </a:ext>
            </a:extLst>
          </p:cNvPr>
          <p:cNvSpPr/>
          <p:nvPr/>
        </p:nvSpPr>
        <p:spPr>
          <a:xfrm>
            <a:off x="1177232" y="8417611"/>
            <a:ext cx="3156175" cy="180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62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REAL SCREEN</a:t>
            </a:r>
            <a:endParaRPr lang="en-US" sz="9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Text 31">
            <a:extLst>
              <a:ext uri="{FF2B5EF4-FFF2-40B4-BE49-F238E27FC236}">
                <a16:creationId xmlns:a16="http://schemas.microsoft.com/office/drawing/2014/main" id="{9A88D39B-5E50-B222-C4C0-3D65225FFA02}"/>
              </a:ext>
            </a:extLst>
          </p:cNvPr>
          <p:cNvSpPr/>
          <p:nvPr/>
        </p:nvSpPr>
        <p:spPr>
          <a:xfrm>
            <a:off x="15094035" y="6080065"/>
            <a:ext cx="25920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62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REAL SCREEN</a:t>
            </a:r>
            <a:endParaRPr lang="en-US" sz="9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31">
            <a:extLst>
              <a:ext uri="{FF2B5EF4-FFF2-40B4-BE49-F238E27FC236}">
                <a16:creationId xmlns:a16="http://schemas.microsoft.com/office/drawing/2014/main" id="{9F9E9667-632E-8128-9488-2ED4D2521A8F}"/>
              </a:ext>
            </a:extLst>
          </p:cNvPr>
          <p:cNvSpPr/>
          <p:nvPr/>
        </p:nvSpPr>
        <p:spPr>
          <a:xfrm>
            <a:off x="6254957" y="4551270"/>
            <a:ext cx="25920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62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REAL SCREEN</a:t>
            </a:r>
            <a:endParaRPr lang="en-US" sz="9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Text 31">
            <a:extLst>
              <a:ext uri="{FF2B5EF4-FFF2-40B4-BE49-F238E27FC236}">
                <a16:creationId xmlns:a16="http://schemas.microsoft.com/office/drawing/2014/main" id="{1B987BA4-C8FA-3ACA-D5BF-A19EA4651743}"/>
              </a:ext>
            </a:extLst>
          </p:cNvPr>
          <p:cNvSpPr/>
          <p:nvPr/>
        </p:nvSpPr>
        <p:spPr>
          <a:xfrm>
            <a:off x="6285437" y="7538585"/>
            <a:ext cx="25920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900" b="1" kern="0" spc="162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REAL SCREEN</a:t>
            </a:r>
            <a:endParaRPr lang="en-US" sz="9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Shape 36">
            <a:extLst>
              <a:ext uri="{FF2B5EF4-FFF2-40B4-BE49-F238E27FC236}">
                <a16:creationId xmlns:a16="http://schemas.microsoft.com/office/drawing/2014/main" id="{B571897E-B055-0DB0-4144-1A1579770550}"/>
              </a:ext>
            </a:extLst>
          </p:cNvPr>
          <p:cNvSpPr/>
          <p:nvPr/>
        </p:nvSpPr>
        <p:spPr>
          <a:xfrm>
            <a:off x="11637336" y="1210271"/>
            <a:ext cx="5856946" cy="1391840"/>
          </a:xfrm>
          <a:prstGeom prst="rect">
            <a:avLst/>
          </a:prstGeom>
          <a:solidFill>
            <a:srgbClr val="FFFFFF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08092BD7-3997-9A5C-685C-935E1DEB1837}"/>
              </a:ext>
            </a:extLst>
          </p:cNvPr>
          <p:cNvSpPr/>
          <p:nvPr/>
        </p:nvSpPr>
        <p:spPr>
          <a:xfrm>
            <a:off x="11910242" y="1276945"/>
            <a:ext cx="5584039" cy="1829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sz="2000" b="1"/>
              <a:t>背景の仮説</a:t>
            </a:r>
            <a:endParaRPr lang="en-US" altLang="ja-JP" sz="2000" b="1"/>
          </a:p>
          <a:p>
            <a:r>
              <a:rPr lang="ja-JP" altLang="ja-JP" sz="2000"/>
              <a:t>申請は、操作に慣れていない方や、たまにしか使わない方も行う可能性があるため、マニュアルを見ずに手順や状態を理解できるUIを目指</a:t>
            </a:r>
            <a:r>
              <a:rPr lang="ja-JP" altLang="en-US" sz="2000"/>
              <a:t>す</a:t>
            </a:r>
            <a:endParaRPr lang="en-US" sz="2000"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342900"/>
            <a:ext cx="185276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kern="0" spc="147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APPROVAL FLOW · 08</a:t>
            </a:r>
            <a:endParaRPr lang="en-US" sz="1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758434" y="1204277"/>
            <a:ext cx="5253957" cy="25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3200" b="1" kern="0" spc="147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申請・承認フローの作り込み</a:t>
            </a:r>
            <a:endParaRPr 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32717" y="1818431"/>
            <a:ext cx="15663333" cy="2198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600" b="1" kern="0" spc="-81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必須要件を超えて</a:t>
            </a:r>
            <a:r>
              <a:rPr lang="en-US" sz="66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、</a:t>
            </a:r>
            <a:br>
              <a:rPr lang="en-US" sz="66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6600" b="1" kern="0" spc="-81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監査・再申請・自己承認防止</a:t>
            </a:r>
            <a:r>
              <a:rPr lang="en-US" sz="66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ja-JP" altLang="en-US" sz="66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を</a:t>
            </a:r>
            <a:r>
              <a:rPr lang="en-US" sz="66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設計</a:t>
            </a:r>
            <a:endParaRPr lang="en-US" sz="6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879580" y="2787648"/>
            <a:ext cx="5494020" cy="7503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lnSpc>
                <a:spcPct val="170000"/>
              </a:lnSpc>
              <a:buNone/>
            </a:pP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400" y="4052389"/>
            <a:ext cx="8134350" cy="1809452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Text 7"/>
          <p:cNvSpPr/>
          <p:nvPr/>
        </p:nvSpPr>
        <p:spPr>
          <a:xfrm>
            <a:off x="1209675" y="4328614"/>
            <a:ext cx="762000" cy="12951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400" b="1" kern="0" spc="-117">
                <a:solidFill>
                  <a:srgbClr val="2F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1</a:t>
            </a:r>
            <a:endParaRPr lang="en-US" sz="4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105025" y="4328614"/>
            <a:ext cx="684790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監査証跡</a:t>
            </a: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105025" y="4724795"/>
            <a:ext cx="6847903" cy="556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4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誰が・いつ・どのレベルで判断したかを後から</a:t>
            </a:r>
            <a:r>
              <a:rPr lang="ja-JP" altLang="en-US" sz="24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追跡</a:t>
            </a:r>
            <a:r>
              <a:rPr lang="en-US" sz="24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できるよう、申請ごとの判断履歴を保持する</a:t>
            </a:r>
            <a:r>
              <a:rPr lang="en-US" sz="24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239250" y="4052389"/>
            <a:ext cx="8134350" cy="1809452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534525" y="4328614"/>
            <a:ext cx="762000" cy="12951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400" b="1" kern="0" spc="-117">
                <a:solidFill>
                  <a:srgbClr val="C686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2</a:t>
            </a:r>
            <a:endParaRPr lang="en-US" sz="4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429875" y="4328614"/>
            <a:ext cx="684790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却下と再申請</a:t>
            </a: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429875" y="4724795"/>
            <a:ext cx="6847903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4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却下案件は元案件を引き継いだまま再申請できる</a:t>
            </a:r>
            <a:r>
              <a:rPr lang="en-US" sz="24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br>
              <a:rPr lang="en-US" sz="24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24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何回目の改訂かも追跡できる構造</a:t>
            </a:r>
            <a:r>
              <a:rPr lang="en-US" sz="24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14400" y="6052342"/>
            <a:ext cx="8134350" cy="1809452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209675" y="6328567"/>
            <a:ext cx="762000" cy="12951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400" b="1" kern="0" spc="-117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3</a:t>
            </a:r>
            <a:endParaRPr lang="en-US" sz="4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105025" y="6328567"/>
            <a:ext cx="684790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自己承認防止</a:t>
            </a: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105025" y="6724747"/>
            <a:ext cx="6847903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4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部門管理者が自ら申請者になった場合、部門承認を</a:t>
            </a:r>
            <a:br>
              <a:rPr lang="en-US" sz="24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24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スキップして本部承認へ直接渡す</a:t>
            </a:r>
            <a:r>
              <a:rPr lang="en-US" sz="24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239250" y="6052342"/>
            <a:ext cx="8134350" cy="1809452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534525" y="6328567"/>
            <a:ext cx="762000" cy="129510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400" b="1" kern="0" spc="-117">
                <a:solidFill>
                  <a:srgbClr val="14A0B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4</a:t>
            </a:r>
            <a:endParaRPr lang="en-US" sz="4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0429875" y="6328567"/>
            <a:ext cx="684790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8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現在地の可視化</a:t>
            </a: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0429875" y="6724747"/>
            <a:ext cx="6847903" cy="556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24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承認ステップを大型版・ミニ版で表示。申請者の「いま自分の案件はどこ？」という不安を減らす。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914400" y="8071344"/>
            <a:ext cx="16459200" cy="1095276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914400" y="8071344"/>
            <a:ext cx="1297186" cy="1095276"/>
          </a:xfrm>
          <a:prstGeom prst="rect">
            <a:avLst/>
          </a:prstGeom>
          <a:solidFill>
            <a:srgbClr val="E5A330"/>
          </a:solidFill>
          <a:ln/>
        </p:spPr>
        <p:txBody>
          <a:bodyPr>
            <a:noAutofit/>
          </a:bodyPr>
          <a:lstStyle/>
          <a:p>
            <a:endParaRPr lang="ja-JP" alt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181100" y="8514985"/>
            <a:ext cx="103048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 kern="0" spc="66">
                <a:solidFill>
                  <a:srgbClr val="1E1D5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WHY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2211586" y="8280894"/>
            <a:ext cx="3446946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558135" y="8242794"/>
            <a:ext cx="2590800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2501196" y="8350446"/>
            <a:ext cx="1527574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ja-JP" altLang="en-US" sz="2800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承認は「通れば終わり」ではなく、誰がいつどう判断したかを後から説明できる状態に保つ。</a:t>
            </a: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0374B01B-DD78-B64C-ED5F-2D6BD271259E}"/>
              </a:ext>
            </a:extLst>
          </p:cNvPr>
          <p:cNvSpPr/>
          <p:nvPr/>
        </p:nvSpPr>
        <p:spPr>
          <a:xfrm>
            <a:off x="932717" y="342900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E60013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課題１　工夫</a:t>
            </a:r>
            <a:endParaRPr lang="en-US" sz="2400" b="1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342900"/>
            <a:ext cx="155659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147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TASK VIEWS · 10</a:t>
            </a:r>
            <a:endParaRPr lang="en-US" sz="10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399" y="1123950"/>
            <a:ext cx="13334035" cy="2198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400" b="1" kern="0" spc="-81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開発進捗管理は</a:t>
            </a:r>
            <a:r>
              <a:rPr 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、</a:t>
            </a:r>
            <a:br>
              <a:rPr 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sz="5400" b="1" kern="0" spc="-81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Backlog風のわかりやすさ</a:t>
            </a:r>
            <a:r>
              <a:rPr lang="ja-JP" alt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を独自</a:t>
            </a:r>
            <a:r>
              <a:rPr lang="en-US" sz="5400" b="1" kern="0" spc="-81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進化</a:t>
            </a:r>
            <a:endParaRPr lang="en-US" sz="5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400" y="3515719"/>
            <a:ext cx="16459200" cy="80010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23924" y="3525244"/>
            <a:ext cx="2365713" cy="781050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133475" y="3677644"/>
            <a:ext cx="1932974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en-US" sz="20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タスク 4 値運用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038350" y="3525244"/>
            <a:ext cx="9525" cy="781050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110841" y="3677644"/>
            <a:ext cx="345093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49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STEP 1</a:t>
            </a:r>
            <a:endParaRPr lang="en-US" sz="11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110841" y="3849094"/>
            <a:ext cx="34509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未着手</a:t>
            </a: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0741194" y="3525244"/>
            <a:ext cx="9525" cy="781050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813685" y="3677644"/>
            <a:ext cx="345093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49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STEP 2</a:t>
            </a:r>
            <a:endParaRPr lang="en-US" sz="11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813685" y="3849094"/>
            <a:ext cx="34509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進行中（%）</a:t>
            </a: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4444037" y="3525244"/>
            <a:ext cx="9525" cy="781050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516529" y="3677644"/>
            <a:ext cx="3450931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49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STEP 3</a:t>
            </a:r>
            <a:endParaRPr lang="en-US" sz="11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516529" y="3849094"/>
            <a:ext cx="34509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確認待ち</a:t>
            </a: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5219372" y="3677644"/>
            <a:ext cx="346089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49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STEP 4</a:t>
            </a:r>
            <a:endParaRPr lang="en-US" sz="11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5219372" y="3849094"/>
            <a:ext cx="346089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完了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75360" y="5096857"/>
            <a:ext cx="5346650" cy="4154984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984885" y="5715982"/>
            <a:ext cx="53276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194435" y="5315932"/>
            <a:ext cx="861865" cy="325040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280160" y="5344506"/>
            <a:ext cx="94549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49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VIEW 1</a:t>
            </a:r>
            <a:endParaRPr lang="en-US" sz="11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2213643" y="5258782"/>
            <a:ext cx="2830026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カンバン</a:t>
            </a: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84885" y="5725508"/>
            <a:ext cx="5327600" cy="2349996"/>
          </a:xfrm>
          <a:prstGeom prst="rect">
            <a:avLst/>
          </a:prstGeom>
          <a:solidFill>
            <a:srgbClr val="F7F5E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984885" y="8068598"/>
            <a:ext cx="53276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1194435" y="8154323"/>
            <a:ext cx="5068328" cy="633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自分の手持ち </a:t>
            </a:r>
            <a:r>
              <a:rPr lang="en-US" sz="20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タスクの流れを把握</a:t>
            </a:r>
            <a: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b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20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期限超過と完了予定を一目で</a:t>
            </a:r>
            <a: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6531560" y="5096857"/>
            <a:ext cx="5346650" cy="4154984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6541085" y="5715982"/>
            <a:ext cx="53276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6750635" y="5315932"/>
            <a:ext cx="861865" cy="325040"/>
          </a:xfrm>
          <a:prstGeom prst="rect">
            <a:avLst/>
          </a:prstGeom>
          <a:solidFill>
            <a:srgbClr val="0064A0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6836360" y="5344506"/>
            <a:ext cx="735943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49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VIEW 2</a:t>
            </a:r>
            <a:endParaRPr lang="en-US" sz="11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7769843" y="5258781"/>
            <a:ext cx="3125986" cy="4248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メンバー別</a:t>
            </a: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Shape 33"/>
          <p:cNvSpPr/>
          <p:nvPr/>
        </p:nvSpPr>
        <p:spPr>
          <a:xfrm>
            <a:off x="6541085" y="5725508"/>
            <a:ext cx="5327600" cy="2330948"/>
          </a:xfrm>
          <a:prstGeom prst="rect">
            <a:avLst/>
          </a:prstGeom>
          <a:solidFill>
            <a:srgbClr val="F7F5E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7" name="Shape 34"/>
          <p:cNvSpPr/>
          <p:nvPr/>
        </p:nvSpPr>
        <p:spPr>
          <a:xfrm>
            <a:off x="6541085" y="8068598"/>
            <a:ext cx="53276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9" name="Text 35"/>
          <p:cNvSpPr/>
          <p:nvPr/>
        </p:nvSpPr>
        <p:spPr>
          <a:xfrm>
            <a:off x="6750635" y="8154323"/>
            <a:ext cx="5068328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55000"/>
              </a:lnSpc>
            </a:pPr>
            <a:r>
              <a:rPr lang="en-US" sz="20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誰が何を抱え </a:t>
            </a:r>
            <a: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、</a:t>
            </a:r>
            <a:r>
              <a:rPr lang="en-US" sz="20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誰が忙しいかを一望</a:t>
            </a:r>
            <a: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b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ja-JP" alt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件数＋進捗バー</a:t>
            </a:r>
            <a:r>
              <a:rPr lang="en-US" sz="20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で偏りを発見</a:t>
            </a:r>
            <a: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0" name="Shape 36"/>
          <p:cNvSpPr/>
          <p:nvPr/>
        </p:nvSpPr>
        <p:spPr>
          <a:xfrm>
            <a:off x="12087761" y="5096857"/>
            <a:ext cx="5346650" cy="4154984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1" name="Shape 37"/>
          <p:cNvSpPr/>
          <p:nvPr/>
        </p:nvSpPr>
        <p:spPr>
          <a:xfrm>
            <a:off x="12097286" y="5715982"/>
            <a:ext cx="53276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2" name="Shape 38"/>
          <p:cNvSpPr/>
          <p:nvPr/>
        </p:nvSpPr>
        <p:spPr>
          <a:xfrm>
            <a:off x="12306836" y="5315932"/>
            <a:ext cx="861865" cy="32504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3" name="Text 39"/>
          <p:cNvSpPr/>
          <p:nvPr/>
        </p:nvSpPr>
        <p:spPr>
          <a:xfrm>
            <a:off x="12392561" y="5344506"/>
            <a:ext cx="77614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00" b="1" kern="0" spc="149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VIEW 3</a:t>
            </a:r>
            <a:endParaRPr lang="en-US" sz="11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4" name="Text 40"/>
          <p:cNvSpPr/>
          <p:nvPr/>
        </p:nvSpPr>
        <p:spPr>
          <a:xfrm>
            <a:off x="13326043" y="5258781"/>
            <a:ext cx="2309426" cy="382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8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一覧</a:t>
            </a: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5" name="Shape 41"/>
          <p:cNvSpPr/>
          <p:nvPr/>
        </p:nvSpPr>
        <p:spPr>
          <a:xfrm>
            <a:off x="12097286" y="5725508"/>
            <a:ext cx="5327600" cy="2349996"/>
          </a:xfrm>
          <a:prstGeom prst="rect">
            <a:avLst/>
          </a:prstGeom>
          <a:solidFill>
            <a:srgbClr val="F7F5E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6" name="Shape 42"/>
          <p:cNvSpPr/>
          <p:nvPr/>
        </p:nvSpPr>
        <p:spPr>
          <a:xfrm>
            <a:off x="12097286" y="8068598"/>
            <a:ext cx="53276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47" name="Image 2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047564" y="5715982"/>
            <a:ext cx="5327600" cy="2340474"/>
          </a:xfrm>
          <a:prstGeom prst="rect">
            <a:avLst/>
          </a:prstGeom>
        </p:spPr>
      </p:pic>
      <p:sp>
        <p:nvSpPr>
          <p:cNvPr id="48" name="Text 43"/>
          <p:cNvSpPr/>
          <p:nvPr/>
        </p:nvSpPr>
        <p:spPr>
          <a:xfrm>
            <a:off x="12306836" y="8154323"/>
            <a:ext cx="5068328" cy="548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期限・優先度 </a:t>
            </a:r>
            <a:r>
              <a:rPr lang="en-US" sz="20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でソートして運用</a:t>
            </a:r>
            <a: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b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20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表形式の網羅性で取りこぼしを防ぐ</a:t>
            </a:r>
            <a: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9" name="Text 1">
            <a:extLst>
              <a:ext uri="{FF2B5EF4-FFF2-40B4-BE49-F238E27FC236}">
                <a16:creationId xmlns:a16="http://schemas.microsoft.com/office/drawing/2014/main" id="{5D7D5689-6E39-5A88-06CC-94FF137BB9E4}"/>
              </a:ext>
            </a:extLst>
          </p:cNvPr>
          <p:cNvSpPr/>
          <p:nvPr/>
        </p:nvSpPr>
        <p:spPr>
          <a:xfrm>
            <a:off x="914399" y="342899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E60013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課題２　</a:t>
            </a:r>
            <a:endParaRPr lang="en-US" sz="2400" b="1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0" name="Text 6">
            <a:extLst>
              <a:ext uri="{FF2B5EF4-FFF2-40B4-BE49-F238E27FC236}">
                <a16:creationId xmlns:a16="http://schemas.microsoft.com/office/drawing/2014/main" id="{7E72086A-43AA-542B-5139-CADC3A402352}"/>
              </a:ext>
            </a:extLst>
          </p:cNvPr>
          <p:cNvSpPr/>
          <p:nvPr/>
        </p:nvSpPr>
        <p:spPr>
          <a:xfrm>
            <a:off x="1315627" y="3025182"/>
            <a:ext cx="353187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sz="2800" b="1">
                <a:latin typeface="Meiryo UI" panose="020B0604030504040204" pitchFamily="50" charset="-128"/>
                <a:ea typeface="Meiryo UI" panose="020B0604030504040204" pitchFamily="50" charset="-128"/>
              </a:rPr>
              <a:t>ステータスの４値運用</a:t>
            </a:r>
            <a:endParaRPr lang="en-US" sz="2800" b="1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1" name="Text 6">
            <a:extLst>
              <a:ext uri="{FF2B5EF4-FFF2-40B4-BE49-F238E27FC236}">
                <a16:creationId xmlns:a16="http://schemas.microsoft.com/office/drawing/2014/main" id="{39EAD66B-E263-78AC-C87A-CAA8E02C546C}"/>
              </a:ext>
            </a:extLst>
          </p:cNvPr>
          <p:cNvSpPr/>
          <p:nvPr/>
        </p:nvSpPr>
        <p:spPr>
          <a:xfrm>
            <a:off x="1280158" y="4623296"/>
            <a:ext cx="8963378" cy="1905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sz="2800" b="1">
                <a:latin typeface="Meiryo UI" panose="020B0604030504040204" pitchFamily="50" charset="-128"/>
                <a:ea typeface="Meiryo UI" panose="020B0604030504040204" pitchFamily="50" charset="-128"/>
              </a:rPr>
              <a:t>３ビュートグル切り替え　</a:t>
            </a:r>
            <a:r>
              <a:rPr lang="ja-JP" altLang="en-US" sz="2800">
                <a:latin typeface="Meiryo UI" panose="020B0604030504040204" pitchFamily="50" charset="-128"/>
                <a:ea typeface="Meiryo UI" panose="020B0604030504040204" pitchFamily="50" charset="-128"/>
              </a:rPr>
              <a:t>部署ごとの管理の違いを吸収</a:t>
            </a:r>
            <a:r>
              <a:rPr lang="ja-JP" altLang="en-US" sz="2800" b="1"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endParaRPr lang="en-US" sz="2800" b="1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3" name="楕円 52">
            <a:extLst>
              <a:ext uri="{FF2B5EF4-FFF2-40B4-BE49-F238E27FC236}">
                <a16:creationId xmlns:a16="http://schemas.microsoft.com/office/drawing/2014/main" id="{1DE65B11-D9D6-E595-29BA-8FC96F0175D1}"/>
              </a:ext>
            </a:extLst>
          </p:cNvPr>
          <p:cNvSpPr/>
          <p:nvPr/>
        </p:nvSpPr>
        <p:spPr>
          <a:xfrm>
            <a:off x="58767" y="2755002"/>
            <a:ext cx="1083269" cy="1093913"/>
          </a:xfrm>
          <a:prstGeom prst="ellipse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000" b="1">
                <a:solidFill>
                  <a:schemeClr val="bg1"/>
                </a:solidFill>
              </a:rPr>
              <a:t>実装</a:t>
            </a:r>
            <a:r>
              <a:rPr kumimoji="1" lang="ja-JP" altLang="en-US" sz="3200" b="1">
                <a:solidFill>
                  <a:schemeClr val="bg1"/>
                </a:solidFill>
              </a:rPr>
              <a:t>済</a:t>
            </a:r>
          </a:p>
        </p:txBody>
      </p:sp>
      <p:sp>
        <p:nvSpPr>
          <p:cNvPr id="54" name="楕円 53">
            <a:extLst>
              <a:ext uri="{FF2B5EF4-FFF2-40B4-BE49-F238E27FC236}">
                <a16:creationId xmlns:a16="http://schemas.microsoft.com/office/drawing/2014/main" id="{3731D86F-04CF-4CBC-FE04-86667F597825}"/>
              </a:ext>
            </a:extLst>
          </p:cNvPr>
          <p:cNvSpPr/>
          <p:nvPr/>
        </p:nvSpPr>
        <p:spPr>
          <a:xfrm>
            <a:off x="19532" y="4342033"/>
            <a:ext cx="1083269" cy="1093913"/>
          </a:xfrm>
          <a:prstGeom prst="ellipse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000" b="1">
                <a:solidFill>
                  <a:schemeClr val="bg1"/>
                </a:solidFill>
              </a:rPr>
              <a:t>実装</a:t>
            </a:r>
            <a:r>
              <a:rPr kumimoji="1" lang="ja-JP" altLang="en-US" sz="3200" b="1">
                <a:solidFill>
                  <a:schemeClr val="bg1"/>
                </a:solidFill>
              </a:rPr>
              <a:t>済</a:t>
            </a:r>
          </a:p>
        </p:txBody>
      </p:sp>
      <p:sp>
        <p:nvSpPr>
          <p:cNvPr id="4" name="矢印: 右 3">
            <a:extLst>
              <a:ext uri="{FF2B5EF4-FFF2-40B4-BE49-F238E27FC236}">
                <a16:creationId xmlns:a16="http://schemas.microsoft.com/office/drawing/2014/main" id="{D190A4AF-7C88-E954-33D2-0AE0E90729FB}"/>
              </a:ext>
            </a:extLst>
          </p:cNvPr>
          <p:cNvSpPr/>
          <p:nvPr/>
        </p:nvSpPr>
        <p:spPr>
          <a:xfrm rot="20550121">
            <a:off x="105660" y="9175976"/>
            <a:ext cx="1439330" cy="1093913"/>
          </a:xfrm>
          <a:prstGeom prst="rightArrow">
            <a:avLst>
              <a:gd name="adj1" fmla="val 69505"/>
              <a:gd name="adj2" fmla="val 42651"/>
            </a:avLst>
          </a:prstGeom>
          <a:solidFill>
            <a:srgbClr val="14A0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ja-JP" altLang="en-US" sz="20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32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未</a:t>
            </a:r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4"/>
          <a:srcRect t="2" b="16835"/>
          <a:stretch>
            <a:fillRect/>
          </a:stretch>
        </p:blipFill>
        <p:spPr>
          <a:xfrm>
            <a:off x="6550610" y="5744559"/>
            <a:ext cx="5327600" cy="2333564"/>
          </a:xfrm>
          <a:prstGeom prst="rect">
            <a:avLst/>
          </a:prstGeom>
        </p:spPr>
      </p:pic>
      <p:sp>
        <p:nvSpPr>
          <p:cNvPr id="5" name="Text 6">
            <a:extLst>
              <a:ext uri="{FF2B5EF4-FFF2-40B4-BE49-F238E27FC236}">
                <a16:creationId xmlns:a16="http://schemas.microsoft.com/office/drawing/2014/main" id="{DD187CA7-E4F3-84AA-4255-59CCE18DC79B}"/>
              </a:ext>
            </a:extLst>
          </p:cNvPr>
          <p:cNvSpPr/>
          <p:nvPr/>
        </p:nvSpPr>
        <p:spPr>
          <a:xfrm>
            <a:off x="1493518" y="9627681"/>
            <a:ext cx="13173404" cy="2718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sz="2800" b="1">
                <a:latin typeface="Meiryo UI" panose="020B0604030504040204" pitchFamily="50" charset="-128"/>
                <a:ea typeface="Meiryo UI" panose="020B0604030504040204" pitchFamily="50" charset="-128"/>
              </a:rPr>
              <a:t>バーンダウンチャート </a:t>
            </a:r>
            <a:r>
              <a:rPr lang="en-US" altLang="ja-JP" sz="2800" b="1">
                <a:latin typeface="Meiryo UI" panose="020B0604030504040204" pitchFamily="50" charset="-128"/>
                <a:ea typeface="Meiryo UI" panose="020B0604030504040204" pitchFamily="50" charset="-128"/>
              </a:rPr>
              <a:t>/ </a:t>
            </a:r>
            <a:r>
              <a:rPr lang="ja-JP" altLang="en-US" sz="2800" b="1">
                <a:latin typeface="Meiryo UI" panose="020B0604030504040204" pitchFamily="50" charset="-128"/>
                <a:ea typeface="Meiryo UI" panose="020B0604030504040204" pitchFamily="50" charset="-128"/>
              </a:rPr>
              <a:t>ガントチャート</a:t>
            </a:r>
            <a:r>
              <a:rPr lang="en-US" altLang="ja-JP" sz="2800" b="1">
                <a:latin typeface="Meiryo UI" panose="020B0604030504040204" pitchFamily="50" charset="-128"/>
                <a:ea typeface="Meiryo UI" panose="020B0604030504040204" pitchFamily="50" charset="-128"/>
              </a:rPr>
              <a:t>/Wiki</a:t>
            </a:r>
            <a:r>
              <a:rPr lang="ja-JP" altLang="en-US" sz="2800" b="1">
                <a:latin typeface="Meiryo UI" panose="020B0604030504040204" pitchFamily="50" charset="-128"/>
                <a:ea typeface="Meiryo UI" panose="020B0604030504040204" pitchFamily="50" charset="-128"/>
              </a:rPr>
              <a:t>機能</a:t>
            </a:r>
          </a:p>
        </p:txBody>
      </p:sp>
      <p:pic>
        <p:nvPicPr>
          <p:cNvPr id="57" name="図 56">
            <a:extLst>
              <a:ext uri="{FF2B5EF4-FFF2-40B4-BE49-F238E27FC236}">
                <a16:creationId xmlns:a16="http://schemas.microsoft.com/office/drawing/2014/main" id="{DE961C3D-DE8B-8823-6989-644EB34776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867" y="5721636"/>
            <a:ext cx="5332192" cy="2412162"/>
          </a:xfrm>
          <a:prstGeom prst="rect">
            <a:avLst/>
          </a:prstGeom>
        </p:spPr>
      </p:pic>
      <p:sp>
        <p:nvSpPr>
          <p:cNvPr id="7" name="Shape 8">
            <a:extLst>
              <a:ext uri="{FF2B5EF4-FFF2-40B4-BE49-F238E27FC236}">
                <a16:creationId xmlns:a16="http://schemas.microsoft.com/office/drawing/2014/main" id="{CE620258-F8E3-CA26-4E77-FE83DB960FF7}"/>
              </a:ext>
            </a:extLst>
          </p:cNvPr>
          <p:cNvSpPr/>
          <p:nvPr/>
        </p:nvSpPr>
        <p:spPr>
          <a:xfrm>
            <a:off x="16777225" y="5077809"/>
            <a:ext cx="1371193" cy="571499"/>
          </a:xfrm>
          <a:prstGeom prst="roundRect">
            <a:avLst>
              <a:gd name="adj" fmla="val 15238"/>
            </a:avLst>
          </a:prstGeom>
          <a:solidFill>
            <a:srgbClr val="E5A330"/>
          </a:solidFill>
          <a:ln w="57150">
            <a:noFill/>
            <a:prstDash val="solid"/>
          </a:ln>
          <a:effectLst>
            <a:outerShdw blurRad="12700" dist="50800" dir="2700000" algn="bl" rotWithShape="0">
              <a:srgbClr val="B9C2CE">
                <a:alpha val="14000"/>
              </a:srgbClr>
            </a:outerShdw>
          </a:effectLst>
        </p:spPr>
        <p:txBody>
          <a:bodyPr/>
          <a:lstStyle/>
          <a:p>
            <a:pPr algn="ctr"/>
            <a:r>
              <a:rPr lang="ja-JP" altLang="en-US" sz="2800" b="1">
                <a:solidFill>
                  <a:schemeClr val="bg1"/>
                </a:solidFill>
              </a:rPr>
              <a:t>トグル</a:t>
            </a:r>
          </a:p>
        </p:txBody>
      </p:sp>
      <p:sp>
        <p:nvSpPr>
          <p:cNvPr id="38" name="楕円 37">
            <a:extLst>
              <a:ext uri="{FF2B5EF4-FFF2-40B4-BE49-F238E27FC236}">
                <a16:creationId xmlns:a16="http://schemas.microsoft.com/office/drawing/2014/main" id="{2CD6765E-6958-D651-5957-497547F918C7}"/>
              </a:ext>
            </a:extLst>
          </p:cNvPr>
          <p:cNvSpPr/>
          <p:nvPr/>
        </p:nvSpPr>
        <p:spPr>
          <a:xfrm>
            <a:off x="15705810" y="5639782"/>
            <a:ext cx="1695482" cy="552402"/>
          </a:xfrm>
          <a:prstGeom prst="ellipse">
            <a:avLst/>
          </a:prstGeom>
          <a:noFill/>
          <a:ln w="123825">
            <a:solidFill>
              <a:srgbClr val="E5A3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2400">
              <a:solidFill>
                <a:srgbClr val="14A0B4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342900"/>
            <a:ext cx="155659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147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AUTOMATION · 09</a:t>
            </a:r>
            <a:endParaRPr lang="en-US" sz="10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15078373" y="9772650"/>
            <a:ext cx="229522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r">
              <a:buNone/>
            </a:pPr>
            <a:r>
              <a:rPr lang="en-US" sz="1050" b="1" kern="0" spc="147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課題2 / 運用性を上げる自動化</a:t>
            </a:r>
            <a:endParaRPr lang="en-US" sz="10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1123950"/>
            <a:ext cx="11145012" cy="21981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Excel文化からの脱却は、 </a:t>
            </a:r>
            <a:br>
              <a:rPr 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sz="5400" b="1" kern="0" spc="-81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転記・連絡・監査</a:t>
            </a:r>
            <a:r>
              <a:rPr 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の</a:t>
            </a:r>
            <a:r>
              <a:rPr lang="en-US" sz="5400" b="1" kern="0" spc="-81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自動化</a:t>
            </a:r>
            <a:r>
              <a:rPr 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が決め手。</a:t>
            </a:r>
            <a:endParaRPr lang="en-US" sz="5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914400" y="3318331"/>
            <a:ext cx="8134350" cy="1845915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71575" y="3880306"/>
            <a:ext cx="78486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71575" y="4333696"/>
            <a:ext cx="7848600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ja-JP" alt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申請、予算と連携し、転記不要に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239250" y="3318331"/>
            <a:ext cx="8134350" cy="1845915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496425" y="3880306"/>
            <a:ext cx="78486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8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通知拡張</a:t>
            </a: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496425" y="4333696"/>
            <a:ext cx="7848600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担当 / 期限 / 完了報告 / 確認OK をアプリ内通知で共有。連絡漏れ</a:t>
            </a:r>
            <a:r>
              <a:rPr lang="ja-JP" alt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防止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14400" y="5354747"/>
            <a:ext cx="8134350" cy="198873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171575" y="5916722"/>
            <a:ext cx="78486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ja-JP" altLang="en-US" sz="28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タスク</a:t>
            </a:r>
            <a:r>
              <a:rPr lang="en-US" altLang="ja-JP" sz="2800" b="1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履歴自動記録</a:t>
            </a:r>
            <a:r>
              <a:rPr lang="ja-JP" altLang="en-US" sz="2800">
                <a:latin typeface="Meiryo UI" panose="020B0604030504040204" pitchFamily="50" charset="-128"/>
                <a:ea typeface="Meiryo UI" panose="020B0604030504040204" pitchFamily="50" charset="-128"/>
              </a:rPr>
              <a:t>、</a:t>
            </a:r>
            <a:r>
              <a:rPr lang="en-US" sz="2800" b="1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予算実績ログ</a:t>
            </a: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171575" y="6370112"/>
            <a:ext cx="7848600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55000"/>
              </a:lnSpc>
            </a:pPr>
            <a:r>
              <a:rPr lang="en-US" altLang="ja-JP" sz="20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進捗・担当・期限などの変更を保存し、監査証跡としても利用可能</a:t>
            </a:r>
            <a:r>
              <a:rPr lang="en-US" altLang="ja-JP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altLang="ja-JP" sz="20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l">
              <a:lnSpc>
                <a:spcPct val="155000"/>
              </a:lnSpc>
              <a:buNone/>
            </a:pPr>
            <a:r>
              <a:rPr lang="ja-JP" alt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総額の変更履歴を、</a:t>
            </a:r>
            <a:r>
              <a:rPr lang="en-US" sz="20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更新者・日時を構造化して保持</a:t>
            </a:r>
            <a: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9239250" y="5354747"/>
            <a:ext cx="8134350" cy="198873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E7F48646-C4EB-FE88-CA5D-436DFF349DAC}"/>
              </a:ext>
            </a:extLst>
          </p:cNvPr>
          <p:cNvGrpSpPr/>
          <p:nvPr/>
        </p:nvGrpSpPr>
        <p:grpSpPr>
          <a:xfrm>
            <a:off x="1773458" y="3556456"/>
            <a:ext cx="11980565" cy="2407889"/>
            <a:chOff x="1773458" y="3556456"/>
            <a:chExt cx="11980565" cy="2407889"/>
          </a:xfrm>
        </p:grpSpPr>
        <p:sp>
          <p:nvSpPr>
            <p:cNvPr id="9" name="Shape 7"/>
            <p:cNvSpPr/>
            <p:nvPr/>
          </p:nvSpPr>
          <p:spPr>
            <a:xfrm>
              <a:off x="1773458" y="3556456"/>
              <a:ext cx="396329" cy="247650"/>
            </a:xfrm>
            <a:prstGeom prst="rect">
              <a:avLst/>
            </a:prstGeom>
            <a:solidFill>
              <a:srgbClr val="F2EFE5"/>
            </a:solidFill>
            <a:ln w="9525">
              <a:solidFill>
                <a:srgbClr val="DCD8CE"/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1878233" y="3594556"/>
              <a:ext cx="262979" cy="2095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050" b="1" kern="0" spc="105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1</a:t>
              </a:r>
              <a:endParaRPr lang="en-US" sz="105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2284087" y="3604080"/>
              <a:ext cx="1783226" cy="32384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altLang="ja-JP" sz="900" b="1" kern="0" spc="162">
                  <a:solidFill>
                    <a:srgbClr val="6F7388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AUTO</a:t>
              </a:r>
              <a:endParaRPr lang="en-US" sz="9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7" name="Shape 15"/>
            <p:cNvSpPr/>
            <p:nvPr/>
          </p:nvSpPr>
          <p:spPr>
            <a:xfrm>
              <a:off x="10098308" y="3556456"/>
              <a:ext cx="396329" cy="247650"/>
            </a:xfrm>
            <a:prstGeom prst="rect">
              <a:avLst/>
            </a:prstGeom>
            <a:solidFill>
              <a:srgbClr val="F2EFE5"/>
            </a:solidFill>
            <a:ln w="9525">
              <a:solidFill>
                <a:srgbClr val="DCD8CE"/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10203083" y="3594556"/>
              <a:ext cx="262979" cy="2095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050" b="1" kern="0" spc="105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2</a:t>
              </a:r>
              <a:endParaRPr lang="en-US" sz="105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10608937" y="3604080"/>
              <a:ext cx="2918109" cy="32384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900" b="1" kern="0" spc="162">
                  <a:solidFill>
                    <a:srgbClr val="6F7388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NOTIFICATION</a:t>
              </a:r>
              <a:endParaRPr lang="en-US" sz="9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5" name="Shape 23"/>
            <p:cNvSpPr/>
            <p:nvPr/>
          </p:nvSpPr>
          <p:spPr>
            <a:xfrm>
              <a:off x="1773458" y="5592872"/>
              <a:ext cx="396329" cy="247650"/>
            </a:xfrm>
            <a:prstGeom prst="rect">
              <a:avLst/>
            </a:prstGeom>
            <a:solidFill>
              <a:srgbClr val="F2EFE5"/>
            </a:solidFill>
            <a:ln w="9525">
              <a:solidFill>
                <a:srgbClr val="DCD8CE"/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6" name="Text 24"/>
            <p:cNvSpPr/>
            <p:nvPr/>
          </p:nvSpPr>
          <p:spPr>
            <a:xfrm>
              <a:off x="1878233" y="5630972"/>
              <a:ext cx="262979" cy="2095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050" b="1" kern="0" spc="105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3</a:t>
              </a:r>
              <a:endParaRPr lang="en-US" sz="105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7" name="Text 25"/>
            <p:cNvSpPr/>
            <p:nvPr/>
          </p:nvSpPr>
          <p:spPr>
            <a:xfrm>
              <a:off x="2284087" y="5640496"/>
              <a:ext cx="2464156" cy="32384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r>
                <a:rPr lang="en-US" altLang="ja-JP" sz="900" b="1" kern="0" spc="162">
                  <a:solidFill>
                    <a:srgbClr val="6F7388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HISTOR</a:t>
              </a:r>
              <a:r>
                <a:rPr lang="ja-JP" altLang="en-US" sz="900" b="1" kern="0" spc="162">
                  <a:solidFill>
                    <a:srgbClr val="6F7388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、</a:t>
              </a:r>
              <a:r>
                <a:rPr lang="en-US" sz="900" b="1" kern="0" spc="162">
                  <a:solidFill>
                    <a:srgbClr val="6F7388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BUDGET LOG</a:t>
              </a:r>
              <a:endParaRPr lang="en-US" sz="9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3" name="Shape 31"/>
            <p:cNvSpPr/>
            <p:nvPr/>
          </p:nvSpPr>
          <p:spPr>
            <a:xfrm>
              <a:off x="10098308" y="5592872"/>
              <a:ext cx="396329" cy="247650"/>
            </a:xfrm>
            <a:prstGeom prst="rect">
              <a:avLst/>
            </a:prstGeom>
            <a:solidFill>
              <a:srgbClr val="F2EFE5"/>
            </a:solidFill>
            <a:ln w="9525">
              <a:solidFill>
                <a:srgbClr val="DCD8CE"/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4" name="Text 32"/>
            <p:cNvSpPr/>
            <p:nvPr/>
          </p:nvSpPr>
          <p:spPr>
            <a:xfrm>
              <a:off x="10203083" y="5630972"/>
              <a:ext cx="262979" cy="20955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050" b="1" kern="0" spc="105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4</a:t>
              </a:r>
              <a:endParaRPr lang="en-US" sz="105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5" name="Text 33"/>
            <p:cNvSpPr/>
            <p:nvPr/>
          </p:nvSpPr>
          <p:spPr>
            <a:xfrm>
              <a:off x="10608937" y="5640496"/>
              <a:ext cx="3145086" cy="32384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900" b="1" kern="0" spc="162">
                  <a:solidFill>
                    <a:srgbClr val="6F7388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DERIVED VALUE</a:t>
              </a:r>
              <a:endParaRPr lang="en-US" sz="9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36" name="Text 34"/>
          <p:cNvSpPr/>
          <p:nvPr/>
        </p:nvSpPr>
        <p:spPr>
          <a:xfrm>
            <a:off x="9496425" y="5916722"/>
            <a:ext cx="78486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8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警告色のリアルタイム算出</a:t>
            </a:r>
            <a:endParaRPr lang="en-US" sz="28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9496425" y="6370112"/>
            <a:ext cx="7848600" cy="2742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20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消費率は</a:t>
            </a:r>
            <a: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ja-JP" alt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７０</a:t>
            </a:r>
            <a:r>
              <a:rPr 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%</a:t>
            </a:r>
            <a:r>
              <a:rPr lang="ja-JP" alt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超でピックアップ表示 実装 完了</a:t>
            </a:r>
            <a:r>
              <a:rPr lang="en-US" altLang="ja-JP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)</a:t>
            </a:r>
            <a:br>
              <a:rPr lang="en-US" altLang="ja-JP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ja-JP" alt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７０％超、１００％超で通知の発出、メール発信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9" name="Text 1">
            <a:extLst>
              <a:ext uri="{FF2B5EF4-FFF2-40B4-BE49-F238E27FC236}">
                <a16:creationId xmlns:a16="http://schemas.microsoft.com/office/drawing/2014/main" id="{03ADDD1D-B2B1-1522-62D8-4EC9FEDE2DBA}"/>
              </a:ext>
            </a:extLst>
          </p:cNvPr>
          <p:cNvSpPr/>
          <p:nvPr/>
        </p:nvSpPr>
        <p:spPr>
          <a:xfrm>
            <a:off x="932717" y="342900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E60013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課題２</a:t>
            </a:r>
            <a:endParaRPr lang="en-US" sz="2400" b="1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914400" y="7629227"/>
            <a:ext cx="16459200" cy="1314450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923925" y="7638752"/>
            <a:ext cx="2286000" cy="1295400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7918400" y="7638752"/>
            <a:ext cx="9525" cy="1295400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12636401" y="7638752"/>
            <a:ext cx="9525" cy="1295400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1171575" y="7848302"/>
            <a:ext cx="186690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ctr">
              <a:buNone/>
            </a:pPr>
            <a:r>
              <a:rPr lang="ja-JP" altLang="en-US" sz="2000" b="1" kern="0" spc="180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判断基準の</a:t>
            </a:r>
            <a:br>
              <a:rPr lang="en-US" altLang="ja-JP" sz="2000" b="1" kern="0" spc="180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</a:br>
            <a:r>
              <a:rPr lang="ja-JP" altLang="en-US" sz="2000" b="1" kern="0" spc="180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３層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1171575" y="8057852"/>
            <a:ext cx="186690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endParaRPr lang="en-US" sz="3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3438525" y="7848302"/>
            <a:ext cx="437881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80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★ MUST</a:t>
            </a:r>
            <a:endParaRPr 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3438525" y="8057852"/>
            <a:ext cx="437881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2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必須</a:t>
            </a:r>
            <a:endParaRPr 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3438525" y="8419802"/>
            <a:ext cx="437881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課題1 の完成度を担保する機能</a:t>
            </a:r>
            <a:endParaRPr 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8156525" y="7848302"/>
            <a:ext cx="437881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80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+ MVP</a:t>
            </a:r>
            <a:endParaRPr 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8156525" y="8057852"/>
            <a:ext cx="437881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sz="32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課題２　</a:t>
            </a:r>
            <a:r>
              <a:rPr lang="en-US" sz="32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+α</a:t>
            </a:r>
            <a:r>
              <a:rPr lang="ja-JP" altLang="en-US" sz="32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　</a:t>
            </a:r>
            <a:endParaRPr 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8156525" y="8419802"/>
            <a:ext cx="437881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効果が大きい課題2 の一部</a:t>
            </a:r>
            <a:endParaRPr 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12874526" y="7848302"/>
            <a:ext cx="4388778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b="1" kern="0" spc="18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→ NEXT</a:t>
            </a:r>
            <a:endParaRPr 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12874526" y="8057852"/>
            <a:ext cx="438877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32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後回し</a:t>
            </a:r>
            <a:endParaRPr 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12874526" y="8419802"/>
            <a:ext cx="438877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次スプリント / 拡張テーブル設計のみ準備</a:t>
            </a:r>
            <a:endParaRPr 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2" name="Shape 38"/>
          <p:cNvSpPr/>
          <p:nvPr/>
        </p:nvSpPr>
        <p:spPr>
          <a:xfrm>
            <a:off x="1024695" y="9078506"/>
            <a:ext cx="16320329" cy="920315"/>
          </a:xfrm>
          <a:prstGeom prst="rect">
            <a:avLst/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3" name="Shape 39"/>
          <p:cNvSpPr/>
          <p:nvPr/>
        </p:nvSpPr>
        <p:spPr>
          <a:xfrm>
            <a:off x="914399" y="9078505"/>
            <a:ext cx="2295525" cy="920315"/>
          </a:xfrm>
          <a:prstGeom prst="rect">
            <a:avLst/>
          </a:prstGeom>
          <a:solidFill>
            <a:srgbClr val="E5A330"/>
          </a:solidFill>
          <a:ln/>
        </p:spPr>
        <p:txBody>
          <a:bodyPr>
            <a:noAutofit/>
          </a:bodyPr>
          <a:lstStyle/>
          <a:p>
            <a:endParaRPr lang="ja-JP" alt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4" name="Text 40"/>
          <p:cNvSpPr/>
          <p:nvPr/>
        </p:nvSpPr>
        <p:spPr>
          <a:xfrm>
            <a:off x="1328696" y="9395787"/>
            <a:ext cx="1208633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000" b="1" kern="0" spc="54">
                <a:solidFill>
                  <a:srgbClr val="1E1D52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選定基準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5" name="Text 41"/>
          <p:cNvSpPr/>
          <p:nvPr/>
        </p:nvSpPr>
        <p:spPr>
          <a:xfrm>
            <a:off x="3896982" y="9279684"/>
            <a:ext cx="8197834" cy="4524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sz="3200" b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効果</a:t>
            </a:r>
            <a:r>
              <a:rPr lang="ja-JP" altLang="en-US" sz="3200" b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　</a:t>
            </a:r>
            <a:r>
              <a:rPr lang="en-US" altLang="ja-JP" sz="3200" b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×</a:t>
            </a:r>
            <a:r>
              <a:rPr lang="ja-JP" altLang="en-US" sz="3200" b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　</a:t>
            </a:r>
            <a:r>
              <a:rPr lang="en-US" altLang="ja-JP" sz="32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コスト</a:t>
            </a:r>
            <a:r>
              <a:rPr lang="ja-JP" altLang="en-US" sz="3200" b="1">
                <a:solidFill>
                  <a:srgbClr val="FFFFFF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　</a:t>
            </a:r>
            <a:r>
              <a:rPr lang="en-US" altLang="ja-JP" sz="3200" b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× </a:t>
            </a:r>
            <a:r>
              <a:rPr lang="ja-JP" altLang="en-US" sz="3200" b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　</a:t>
            </a:r>
            <a:r>
              <a:rPr lang="en-US" altLang="ja-JP" sz="3600" b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リスク</a:t>
            </a:r>
            <a:endParaRPr lang="en-US" altLang="ja-JP" sz="3600" b="1">
              <a:solidFill>
                <a:srgbClr val="FF000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sz="32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lang="en-US" altLang="ja-JP" sz="320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 algn="l">
              <a:buNone/>
            </a:pPr>
            <a:endParaRPr 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6" name="Text 42"/>
          <p:cNvSpPr/>
          <p:nvPr/>
        </p:nvSpPr>
        <p:spPr>
          <a:xfrm>
            <a:off x="14749334" y="9990775"/>
            <a:ext cx="282625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endParaRPr 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7" name="Text 43"/>
          <p:cNvSpPr/>
          <p:nvPr/>
        </p:nvSpPr>
        <p:spPr>
          <a:xfrm>
            <a:off x="3396258" y="9466901"/>
            <a:ext cx="8191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endParaRPr 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9" name="Text 45"/>
          <p:cNvSpPr/>
          <p:nvPr/>
        </p:nvSpPr>
        <p:spPr>
          <a:xfrm>
            <a:off x="4688532" y="9466901"/>
            <a:ext cx="8191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endParaRPr 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0" name="Text 46"/>
          <p:cNvSpPr/>
          <p:nvPr/>
        </p:nvSpPr>
        <p:spPr>
          <a:xfrm>
            <a:off x="11816862" y="9570196"/>
            <a:ext cx="544644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400" kern="0" spc="24">
                <a:solidFill>
                  <a:srgbClr val="E9E8E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100時間の上限内で、もっとも痛みを減らす自動化を優先</a:t>
            </a:r>
            <a:endParaRPr lang="en-US" sz="1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0" name="楕円 49">
            <a:extLst>
              <a:ext uri="{FF2B5EF4-FFF2-40B4-BE49-F238E27FC236}">
                <a16:creationId xmlns:a16="http://schemas.microsoft.com/office/drawing/2014/main" id="{1662A602-BC77-7A51-D47A-30E7ECE37F32}"/>
              </a:ext>
            </a:extLst>
          </p:cNvPr>
          <p:cNvSpPr/>
          <p:nvPr/>
        </p:nvSpPr>
        <p:spPr>
          <a:xfrm>
            <a:off x="680665" y="2877497"/>
            <a:ext cx="864000" cy="864000"/>
          </a:xfrm>
          <a:prstGeom prst="ellipse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ja-JP" altLang="en-US" sz="16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24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済</a:t>
            </a:r>
          </a:p>
        </p:txBody>
      </p:sp>
      <p:sp>
        <p:nvSpPr>
          <p:cNvPr id="30" name="楕円 29">
            <a:extLst>
              <a:ext uri="{FF2B5EF4-FFF2-40B4-BE49-F238E27FC236}">
                <a16:creationId xmlns:a16="http://schemas.microsoft.com/office/drawing/2014/main" id="{C3B49FD9-A5DF-91E4-CC8C-BBDB98D5D64A}"/>
              </a:ext>
            </a:extLst>
          </p:cNvPr>
          <p:cNvSpPr/>
          <p:nvPr/>
        </p:nvSpPr>
        <p:spPr>
          <a:xfrm>
            <a:off x="9211397" y="2877497"/>
            <a:ext cx="864000" cy="864000"/>
          </a:xfrm>
          <a:prstGeom prst="ellipse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ja-JP" altLang="en-US" sz="16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24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済</a:t>
            </a:r>
          </a:p>
        </p:txBody>
      </p:sp>
      <p:sp>
        <p:nvSpPr>
          <p:cNvPr id="31" name="楕円 30">
            <a:extLst>
              <a:ext uri="{FF2B5EF4-FFF2-40B4-BE49-F238E27FC236}">
                <a16:creationId xmlns:a16="http://schemas.microsoft.com/office/drawing/2014/main" id="{5CC6785F-CD30-2300-CF71-D78264D76095}"/>
              </a:ext>
            </a:extLst>
          </p:cNvPr>
          <p:cNvSpPr/>
          <p:nvPr/>
        </p:nvSpPr>
        <p:spPr>
          <a:xfrm>
            <a:off x="680665" y="5162744"/>
            <a:ext cx="864000" cy="864000"/>
          </a:xfrm>
          <a:prstGeom prst="ellipse">
            <a:avLst/>
          </a:prstGeom>
          <a:solidFill>
            <a:srgbClr val="E600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ja-JP" altLang="en-US" sz="16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24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済</a:t>
            </a:r>
          </a:p>
        </p:txBody>
      </p:sp>
      <p:sp>
        <p:nvSpPr>
          <p:cNvPr id="40" name="矢印: 右 39">
            <a:extLst>
              <a:ext uri="{FF2B5EF4-FFF2-40B4-BE49-F238E27FC236}">
                <a16:creationId xmlns:a16="http://schemas.microsoft.com/office/drawing/2014/main" id="{872AF92E-DD50-5501-82FF-1FCE8C0F1F39}"/>
              </a:ext>
            </a:extLst>
          </p:cNvPr>
          <p:cNvSpPr/>
          <p:nvPr/>
        </p:nvSpPr>
        <p:spPr>
          <a:xfrm rot="20550121">
            <a:off x="8943202" y="4893132"/>
            <a:ext cx="1439330" cy="1093913"/>
          </a:xfrm>
          <a:prstGeom prst="rightArrow">
            <a:avLst>
              <a:gd name="adj1" fmla="val 69505"/>
              <a:gd name="adj2" fmla="val 42651"/>
            </a:avLst>
          </a:prstGeom>
          <a:solidFill>
            <a:srgbClr val="14A0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ja-JP" altLang="en-US" sz="20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32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未</a:t>
            </a:r>
          </a:p>
        </p:txBody>
      </p:sp>
      <p:sp>
        <p:nvSpPr>
          <p:cNvPr id="5" name="Text 18">
            <a:extLst>
              <a:ext uri="{FF2B5EF4-FFF2-40B4-BE49-F238E27FC236}">
                <a16:creationId xmlns:a16="http://schemas.microsoft.com/office/drawing/2014/main" id="{B9B7E043-A92E-0E63-701F-F341A34F16AC}"/>
              </a:ext>
            </a:extLst>
          </p:cNvPr>
          <p:cNvSpPr/>
          <p:nvPr/>
        </p:nvSpPr>
        <p:spPr>
          <a:xfrm>
            <a:off x="1171575" y="3880306"/>
            <a:ext cx="784860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ja-JP" altLang="en-US" sz="28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転記自動化</a:t>
            </a:r>
            <a:endParaRPr lang="en-US" altLang="ja-JP" sz="2800" b="1">
              <a:solidFill>
                <a:srgbClr val="15182A"/>
              </a:solidFill>
              <a:latin typeface="Meiryo UI" panose="020B0604030504040204" pitchFamily="50" charset="-128"/>
              <a:ea typeface="Meiryo UI" panose="020B0604030504040204" pitchFamily="50" charset="-128"/>
              <a:cs typeface="Arial" pitchFamily="34" charset="-12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342900"/>
            <a:ext cx="126057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147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ROADMAP · 11</a:t>
            </a:r>
            <a:endParaRPr lang="en-US" sz="10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399" y="1807843"/>
            <a:ext cx="15672436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ja-JP" altLang="en-US" sz="5400" b="1" kern="0" spc="-81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管理範囲</a:t>
            </a:r>
            <a:r>
              <a:rPr lang="ja-JP" alt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を広げ、</a:t>
            </a:r>
            <a:r>
              <a:rPr lang="ja-JP" altLang="en-US" sz="5400" b="1" kern="0" spc="-81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予算の粒度</a:t>
            </a:r>
            <a:r>
              <a:rPr lang="ja-JP" alt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を細かくする方向で</a:t>
            </a:r>
            <a:br>
              <a:rPr lang="en-US" altLang="ja-JP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ja-JP" alt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拡張予定</a:t>
            </a:r>
          </a:p>
        </p:txBody>
      </p:sp>
      <p:sp>
        <p:nvSpPr>
          <p:cNvPr id="7" name="Text 5"/>
          <p:cNvSpPr/>
          <p:nvPr/>
        </p:nvSpPr>
        <p:spPr>
          <a:xfrm>
            <a:off x="923924" y="8926777"/>
            <a:ext cx="16703675" cy="7503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US" altLang="ja-JP" sz="28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100</a:t>
            </a:r>
            <a:r>
              <a:rPr lang="ja-JP" altLang="en-US" sz="28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時間の限界を認識し、 拡張に備えて現行テーブルを肥大化させず、追加テーブルで拡張できる設計方針</a:t>
            </a:r>
          </a:p>
        </p:txBody>
      </p:sp>
      <p:sp>
        <p:nvSpPr>
          <p:cNvPr id="50" name="Text 1">
            <a:extLst>
              <a:ext uri="{FF2B5EF4-FFF2-40B4-BE49-F238E27FC236}">
                <a16:creationId xmlns:a16="http://schemas.microsoft.com/office/drawing/2014/main" id="{E24FABAB-DB54-90B8-9814-4611BB38A236}"/>
              </a:ext>
            </a:extLst>
          </p:cNvPr>
          <p:cNvSpPr/>
          <p:nvPr/>
        </p:nvSpPr>
        <p:spPr>
          <a:xfrm>
            <a:off x="914399" y="342899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E60013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24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課題２　</a:t>
            </a:r>
            <a:endParaRPr lang="en-US" sz="2400" b="1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1" name="Text 4">
            <a:extLst>
              <a:ext uri="{FF2B5EF4-FFF2-40B4-BE49-F238E27FC236}">
                <a16:creationId xmlns:a16="http://schemas.microsoft.com/office/drawing/2014/main" id="{785BD41B-E52F-BAF8-5DC7-28892F070FAC}"/>
              </a:ext>
            </a:extLst>
          </p:cNvPr>
          <p:cNvSpPr/>
          <p:nvPr/>
        </p:nvSpPr>
        <p:spPr>
          <a:xfrm>
            <a:off x="8044058" y="362129"/>
            <a:ext cx="10577981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endParaRPr lang="en-US" sz="5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3" name="Text 2">
            <a:extLst>
              <a:ext uri="{FF2B5EF4-FFF2-40B4-BE49-F238E27FC236}">
                <a16:creationId xmlns:a16="http://schemas.microsoft.com/office/drawing/2014/main" id="{F02DC648-B874-8A76-6E2D-739357E63BA1}"/>
              </a:ext>
            </a:extLst>
          </p:cNvPr>
          <p:cNvSpPr/>
          <p:nvPr/>
        </p:nvSpPr>
        <p:spPr>
          <a:xfrm>
            <a:off x="923925" y="1141093"/>
            <a:ext cx="5149198" cy="257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>
              <a:buNone/>
            </a:pPr>
            <a:r>
              <a:rPr lang="en-US" sz="3200" b="1" kern="0" spc="147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今後の拡張予定</a:t>
            </a:r>
            <a:endParaRPr lang="en-US" sz="3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58" name="グループ化 57">
            <a:extLst>
              <a:ext uri="{FF2B5EF4-FFF2-40B4-BE49-F238E27FC236}">
                <a16:creationId xmlns:a16="http://schemas.microsoft.com/office/drawing/2014/main" id="{C1626962-107D-58A3-1314-D019038591BF}"/>
              </a:ext>
            </a:extLst>
          </p:cNvPr>
          <p:cNvGrpSpPr/>
          <p:nvPr/>
        </p:nvGrpSpPr>
        <p:grpSpPr>
          <a:xfrm>
            <a:off x="914400" y="3880365"/>
            <a:ext cx="16459200" cy="5143621"/>
            <a:chOff x="914400" y="3880365"/>
            <a:chExt cx="16459200" cy="5143621"/>
          </a:xfrm>
        </p:grpSpPr>
        <p:sp>
          <p:nvSpPr>
            <p:cNvPr id="8" name="Shape 6"/>
            <p:cNvSpPr/>
            <p:nvPr/>
          </p:nvSpPr>
          <p:spPr>
            <a:xfrm>
              <a:off x="914400" y="3880365"/>
              <a:ext cx="16459200" cy="514362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CD8CE"/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ja-JP" altLang="en-US" sz="3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9" name="Shape 7"/>
            <p:cNvSpPr/>
            <p:nvPr/>
          </p:nvSpPr>
          <p:spPr>
            <a:xfrm>
              <a:off x="923925" y="3889891"/>
              <a:ext cx="16440150" cy="428625"/>
            </a:xfrm>
            <a:prstGeom prst="rect">
              <a:avLst/>
            </a:prstGeom>
            <a:solidFill>
              <a:srgbClr val="2F2E6E"/>
            </a:solidFill>
            <a:ln/>
          </p:spPr>
          <p:txBody>
            <a:bodyPr>
              <a:noAutofit/>
            </a:bodyPr>
            <a:lstStyle/>
            <a:p>
              <a:endParaRPr lang="ja-JP" altLang="en-US" sz="54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0" name="Shape 8"/>
            <p:cNvSpPr/>
            <p:nvPr/>
          </p:nvSpPr>
          <p:spPr>
            <a:xfrm>
              <a:off x="923925" y="4308991"/>
              <a:ext cx="16440150" cy="9525"/>
            </a:xfrm>
            <a:prstGeom prst="rect">
              <a:avLst/>
            </a:prstGeom>
            <a:solidFill>
              <a:srgbClr val="DCD8CE"/>
            </a:solidFill>
            <a:ln/>
          </p:spPr>
          <p:txBody>
            <a:bodyPr>
              <a:noAutofit/>
            </a:bodyPr>
            <a:lstStyle/>
            <a:p>
              <a:endParaRPr lang="ja-JP" altLang="en-US" sz="3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1095375" y="4023241"/>
              <a:ext cx="400050" cy="1905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buNone/>
              </a:pPr>
              <a:endParaRPr lang="en-US" sz="24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1762125" y="4023241"/>
              <a:ext cx="4239333" cy="1905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2400" b="1" kern="0" spc="180">
                  <a:solidFill>
                    <a:srgbClr val="FFFFFF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機能</a:t>
              </a:r>
              <a:endParaRPr lang="en-US" sz="24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6210895" y="4023241"/>
              <a:ext cx="6322432" cy="1905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2400" b="1" kern="0" spc="180">
                  <a:solidFill>
                    <a:srgbClr val="FFFFFF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実装内容</a:t>
              </a:r>
              <a:endParaRPr lang="en-US" sz="24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12682091" y="4023241"/>
              <a:ext cx="4656137" cy="1905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2400" b="1" kern="0" spc="180">
                  <a:solidFill>
                    <a:srgbClr val="FFFFFF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価値</a:t>
              </a:r>
              <a:endParaRPr lang="en-US" sz="24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5" name="Shape 13"/>
            <p:cNvSpPr/>
            <p:nvPr/>
          </p:nvSpPr>
          <p:spPr>
            <a:xfrm>
              <a:off x="923925" y="4975741"/>
              <a:ext cx="16440150" cy="9525"/>
            </a:xfrm>
            <a:prstGeom prst="rect">
              <a:avLst/>
            </a:prstGeom>
            <a:solidFill>
              <a:srgbClr val="DCD8CE"/>
            </a:solidFill>
            <a:ln/>
          </p:spPr>
          <p:txBody>
            <a:bodyPr>
              <a:noAutofit/>
            </a:bodyPr>
            <a:lstStyle/>
            <a:p>
              <a:endParaRPr lang="ja-JP" altLang="en-US" sz="3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1057275" y="4470916"/>
              <a:ext cx="400050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3200" b="1">
                  <a:solidFill>
                    <a:srgbClr val="E60013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1</a:t>
              </a:r>
              <a:endParaRPr lang="en-US" sz="3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1762125" y="4470916"/>
              <a:ext cx="4239333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2400" b="1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ロール別アカウント管理</a:t>
              </a:r>
              <a:endParaRPr lang="en-US" sz="24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6210895" y="4470916"/>
              <a:ext cx="6322432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20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本部で部門・ユーザーを動的に追加できる管理画面。</a:t>
              </a:r>
              <a:endParaRPr lang="en-US" sz="2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19" name="Shape 17"/>
            <p:cNvSpPr/>
            <p:nvPr/>
          </p:nvSpPr>
          <p:spPr>
            <a:xfrm>
              <a:off x="12510641" y="4318516"/>
              <a:ext cx="9525" cy="657225"/>
            </a:xfrm>
            <a:prstGeom prst="rect">
              <a:avLst/>
            </a:prstGeom>
            <a:solidFill>
              <a:srgbClr val="DCD8CE"/>
            </a:solidFill>
            <a:ln/>
          </p:spPr>
          <p:txBody>
            <a:bodyPr>
              <a:noAutofit/>
            </a:bodyPr>
            <a:lstStyle/>
            <a:p>
              <a:endParaRPr lang="ja-JP" altLang="en-US" sz="3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0" name="Text 18"/>
            <p:cNvSpPr/>
            <p:nvPr/>
          </p:nvSpPr>
          <p:spPr>
            <a:xfrm>
              <a:off x="12691616" y="4470916"/>
              <a:ext cx="4646612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20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権限境界の運用化。組織変更に追従。</a:t>
              </a:r>
              <a:endParaRPr lang="en-US" sz="2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1" name="Shape 19"/>
            <p:cNvSpPr/>
            <p:nvPr/>
          </p:nvSpPr>
          <p:spPr>
            <a:xfrm>
              <a:off x="923925" y="5642491"/>
              <a:ext cx="16440150" cy="9525"/>
            </a:xfrm>
            <a:prstGeom prst="rect">
              <a:avLst/>
            </a:prstGeom>
            <a:solidFill>
              <a:srgbClr val="DCD8CE"/>
            </a:solidFill>
            <a:ln/>
          </p:spPr>
          <p:txBody>
            <a:bodyPr>
              <a:noAutofit/>
            </a:bodyPr>
            <a:lstStyle/>
            <a:p>
              <a:endParaRPr lang="ja-JP" altLang="en-US" sz="3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2" name="Text 20"/>
            <p:cNvSpPr/>
            <p:nvPr/>
          </p:nvSpPr>
          <p:spPr>
            <a:xfrm>
              <a:off x="1057275" y="5137666"/>
              <a:ext cx="400050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3200" b="1">
                  <a:solidFill>
                    <a:srgbClr val="C686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2</a:t>
              </a:r>
              <a:endParaRPr lang="en-US" sz="3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3" name="Text 21"/>
            <p:cNvSpPr/>
            <p:nvPr/>
          </p:nvSpPr>
          <p:spPr>
            <a:xfrm>
              <a:off x="1762125" y="5137666"/>
              <a:ext cx="4239333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buNone/>
              </a:pPr>
              <a:r>
                <a:rPr lang="ja-JP" altLang="en-US" sz="2200" b="1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予算ダッシュボード</a:t>
              </a:r>
              <a:br>
                <a:rPr lang="en-US" altLang="ja-JP" sz="2200" b="1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</a:br>
              <a:r>
                <a:rPr lang="en-US" sz="2200" b="1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予算実績の追加方式</a:t>
              </a:r>
              <a:endParaRPr lang="en-US" sz="2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4" name="Text 22"/>
            <p:cNvSpPr/>
            <p:nvPr/>
          </p:nvSpPr>
          <p:spPr>
            <a:xfrm>
              <a:off x="6210895" y="5137666"/>
              <a:ext cx="6322432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lnSpc>
                  <a:spcPts val="2100"/>
                </a:lnSpc>
                <a:buNone/>
              </a:pPr>
              <a:r>
                <a:rPr lang="ja-JP" altLang="en-US" sz="220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予算ダッシュボード充実</a:t>
              </a:r>
              <a:br>
                <a:rPr lang="en-US" altLang="ja-JP" sz="220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</a:br>
              <a:r>
                <a:rPr lang="en-US" sz="220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budget_actuals テーブル / 費目別集計を追加。</a:t>
              </a:r>
              <a:endParaRPr lang="en-US" sz="2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5" name="Shape 23"/>
            <p:cNvSpPr/>
            <p:nvPr/>
          </p:nvSpPr>
          <p:spPr>
            <a:xfrm>
              <a:off x="12510641" y="4985266"/>
              <a:ext cx="9525" cy="657225"/>
            </a:xfrm>
            <a:prstGeom prst="rect">
              <a:avLst/>
            </a:prstGeom>
            <a:solidFill>
              <a:srgbClr val="DCD8CE"/>
            </a:solidFill>
            <a:ln/>
          </p:spPr>
          <p:txBody>
            <a:bodyPr>
              <a:noAutofit/>
            </a:bodyPr>
            <a:lstStyle/>
            <a:p>
              <a:endParaRPr lang="ja-JP" altLang="en-US" sz="2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6" name="Text 24"/>
            <p:cNvSpPr/>
            <p:nvPr/>
          </p:nvSpPr>
          <p:spPr>
            <a:xfrm>
              <a:off x="12691616" y="5137666"/>
              <a:ext cx="4646612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20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履歴と分析に耐える構造へ。</a:t>
              </a:r>
              <a:endParaRPr lang="en-US" sz="2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7" name="Shape 25"/>
            <p:cNvSpPr/>
            <p:nvPr/>
          </p:nvSpPr>
          <p:spPr>
            <a:xfrm>
              <a:off x="923925" y="6309241"/>
              <a:ext cx="16440150" cy="9525"/>
            </a:xfrm>
            <a:prstGeom prst="rect">
              <a:avLst/>
            </a:prstGeom>
            <a:solidFill>
              <a:srgbClr val="DCD8CE"/>
            </a:solidFill>
            <a:ln/>
          </p:spPr>
          <p:txBody>
            <a:bodyPr>
              <a:noAutofit/>
            </a:bodyPr>
            <a:lstStyle/>
            <a:p>
              <a:endParaRPr lang="ja-JP" altLang="en-US" sz="3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8" name="Text 26"/>
            <p:cNvSpPr/>
            <p:nvPr/>
          </p:nvSpPr>
          <p:spPr>
            <a:xfrm>
              <a:off x="1057275" y="5804416"/>
              <a:ext cx="400050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3200" b="1">
                  <a:solidFill>
                    <a:srgbClr val="2F2E6E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3</a:t>
              </a:r>
              <a:endParaRPr lang="en-US" sz="3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9" name="Text 27"/>
            <p:cNvSpPr/>
            <p:nvPr/>
          </p:nvSpPr>
          <p:spPr>
            <a:xfrm>
              <a:off x="1762125" y="5804416"/>
              <a:ext cx="4239333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2400" b="1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アラート通知</a:t>
              </a:r>
              <a:endParaRPr lang="en-US" sz="24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0" name="Text 28"/>
            <p:cNvSpPr/>
            <p:nvPr/>
          </p:nvSpPr>
          <p:spPr>
            <a:xfrm>
              <a:off x="6210895" y="5804416"/>
              <a:ext cx="6322432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20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消費率 </a:t>
              </a:r>
              <a:r>
                <a:rPr lang="en-US" altLang="ja-JP" sz="220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70</a:t>
              </a:r>
              <a:r>
                <a:rPr lang="en-US" sz="220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% / 100% 超過、期限滞留を自動検知。</a:t>
              </a:r>
              <a:endParaRPr lang="en-US" sz="2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1" name="Shape 29"/>
            <p:cNvSpPr/>
            <p:nvPr/>
          </p:nvSpPr>
          <p:spPr>
            <a:xfrm>
              <a:off x="12510641" y="5652016"/>
              <a:ext cx="9525" cy="657225"/>
            </a:xfrm>
            <a:prstGeom prst="rect">
              <a:avLst/>
            </a:prstGeom>
            <a:solidFill>
              <a:srgbClr val="DCD8CE"/>
            </a:solidFill>
            <a:ln/>
          </p:spPr>
          <p:txBody>
            <a:bodyPr>
              <a:noAutofit/>
            </a:bodyPr>
            <a:lstStyle/>
            <a:p>
              <a:endParaRPr lang="ja-JP" altLang="en-US" sz="2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2" name="Text 30"/>
            <p:cNvSpPr/>
            <p:nvPr/>
          </p:nvSpPr>
          <p:spPr>
            <a:xfrm>
              <a:off x="12691616" y="5804416"/>
              <a:ext cx="4646612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20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早期に対策できる。</a:t>
              </a:r>
              <a:endParaRPr lang="en-US" sz="2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3" name="Shape 31"/>
            <p:cNvSpPr/>
            <p:nvPr/>
          </p:nvSpPr>
          <p:spPr>
            <a:xfrm>
              <a:off x="923925" y="6975991"/>
              <a:ext cx="16440150" cy="9525"/>
            </a:xfrm>
            <a:prstGeom prst="rect">
              <a:avLst/>
            </a:prstGeom>
            <a:solidFill>
              <a:srgbClr val="DCD8CE"/>
            </a:solidFill>
            <a:ln/>
          </p:spPr>
          <p:txBody>
            <a:bodyPr>
              <a:noAutofit/>
            </a:bodyPr>
            <a:lstStyle/>
            <a:p>
              <a:endParaRPr lang="ja-JP" altLang="en-US" sz="3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4" name="Text 32"/>
            <p:cNvSpPr/>
            <p:nvPr/>
          </p:nvSpPr>
          <p:spPr>
            <a:xfrm>
              <a:off x="1057275" y="6471166"/>
              <a:ext cx="400050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3200" b="1">
                  <a:solidFill>
                    <a:srgbClr val="2F2E6E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4</a:t>
              </a:r>
              <a:endParaRPr lang="en-US" sz="3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5" name="Text 33"/>
            <p:cNvSpPr/>
            <p:nvPr/>
          </p:nvSpPr>
          <p:spPr>
            <a:xfrm>
              <a:off x="1762125" y="6471166"/>
              <a:ext cx="4239333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2400" b="1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見積書エクスポート</a:t>
              </a:r>
              <a:endParaRPr lang="en-US" sz="24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6" name="Text 34"/>
            <p:cNvSpPr/>
            <p:nvPr/>
          </p:nvSpPr>
          <p:spPr>
            <a:xfrm>
              <a:off x="6210895" y="6471166"/>
              <a:ext cx="6322432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20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案件・予算情報を PDF / Excel に出力。</a:t>
              </a:r>
              <a:endParaRPr lang="en-US" sz="2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7" name="Shape 35"/>
            <p:cNvSpPr/>
            <p:nvPr/>
          </p:nvSpPr>
          <p:spPr>
            <a:xfrm>
              <a:off x="12510641" y="6318766"/>
              <a:ext cx="9525" cy="657225"/>
            </a:xfrm>
            <a:prstGeom prst="rect">
              <a:avLst/>
            </a:prstGeom>
            <a:solidFill>
              <a:srgbClr val="DCD8CE"/>
            </a:solidFill>
            <a:ln/>
          </p:spPr>
          <p:txBody>
            <a:bodyPr>
              <a:noAutofit/>
            </a:bodyPr>
            <a:lstStyle/>
            <a:p>
              <a:endParaRPr lang="ja-JP" altLang="en-US" sz="2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8" name="Text 36"/>
            <p:cNvSpPr/>
            <p:nvPr/>
          </p:nvSpPr>
          <p:spPr>
            <a:xfrm>
              <a:off x="12691616" y="6471166"/>
              <a:ext cx="4646612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20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既存業務との接続 / 提出物に流用。</a:t>
              </a:r>
              <a:endParaRPr lang="en-US" sz="2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9" name="Shape 37"/>
            <p:cNvSpPr/>
            <p:nvPr/>
          </p:nvSpPr>
          <p:spPr>
            <a:xfrm>
              <a:off x="923925" y="7642788"/>
              <a:ext cx="16440150" cy="9431"/>
            </a:xfrm>
            <a:prstGeom prst="rect">
              <a:avLst/>
            </a:prstGeom>
            <a:solidFill>
              <a:srgbClr val="DCD8CE"/>
            </a:solidFill>
            <a:ln/>
          </p:spPr>
          <p:txBody>
            <a:bodyPr>
              <a:noAutofit/>
            </a:bodyPr>
            <a:lstStyle/>
            <a:p>
              <a:endParaRPr lang="ja-JP" altLang="en-US" sz="3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0" name="Text 38"/>
            <p:cNvSpPr/>
            <p:nvPr/>
          </p:nvSpPr>
          <p:spPr>
            <a:xfrm>
              <a:off x="1057275" y="7137916"/>
              <a:ext cx="400050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3200" b="1">
                  <a:solidFill>
                    <a:srgbClr val="2F2E6E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5</a:t>
              </a:r>
              <a:endParaRPr lang="en-US" sz="3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1" name="Text 39"/>
            <p:cNvSpPr/>
            <p:nvPr/>
          </p:nvSpPr>
          <p:spPr>
            <a:xfrm>
              <a:off x="1762125" y="7137916"/>
              <a:ext cx="4239333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2400" b="1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セキュリティ</a:t>
              </a:r>
              <a:endParaRPr lang="en-US" sz="24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2" name="Text 40"/>
            <p:cNvSpPr/>
            <p:nvPr/>
          </p:nvSpPr>
          <p:spPr>
            <a:xfrm>
              <a:off x="6210895" y="7137916"/>
              <a:ext cx="6322432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20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URL 直打ちの閲覧・編集制限を Policy で厳格化。</a:t>
              </a:r>
              <a:endParaRPr lang="en-US" sz="2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3" name="Shape 41"/>
            <p:cNvSpPr/>
            <p:nvPr/>
          </p:nvSpPr>
          <p:spPr>
            <a:xfrm>
              <a:off x="12510641" y="6985516"/>
              <a:ext cx="9525" cy="657225"/>
            </a:xfrm>
            <a:prstGeom prst="rect">
              <a:avLst/>
            </a:prstGeom>
            <a:solidFill>
              <a:srgbClr val="DCD8CE"/>
            </a:solidFill>
            <a:ln/>
          </p:spPr>
          <p:txBody>
            <a:bodyPr>
              <a:noAutofit/>
            </a:bodyPr>
            <a:lstStyle/>
            <a:p>
              <a:endParaRPr lang="ja-JP" altLang="en-US" sz="2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4" name="Text 42"/>
            <p:cNvSpPr/>
            <p:nvPr/>
          </p:nvSpPr>
          <p:spPr>
            <a:xfrm>
              <a:off x="12691616" y="7137916"/>
              <a:ext cx="4646612" cy="3905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20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権限外操作の遮断。</a:t>
              </a:r>
              <a:endParaRPr lang="en-US" sz="2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5" name="Text 43"/>
            <p:cNvSpPr/>
            <p:nvPr/>
          </p:nvSpPr>
          <p:spPr>
            <a:xfrm>
              <a:off x="1057275" y="7806599"/>
              <a:ext cx="400050" cy="38665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3200" b="1">
                  <a:solidFill>
                    <a:srgbClr val="2F2E6E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6</a:t>
              </a:r>
              <a:endParaRPr lang="en-US" sz="3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6" name="Text 44"/>
            <p:cNvSpPr/>
            <p:nvPr/>
          </p:nvSpPr>
          <p:spPr>
            <a:xfrm>
              <a:off x="1762125" y="7806599"/>
              <a:ext cx="4239333" cy="38665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2400" b="1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タスク管理の可視化強化</a:t>
              </a:r>
              <a:endParaRPr lang="en-US" sz="24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7" name="Text 45"/>
            <p:cNvSpPr/>
            <p:nvPr/>
          </p:nvSpPr>
          <p:spPr>
            <a:xfrm>
              <a:off x="6210895" y="7806599"/>
              <a:ext cx="6322432" cy="38665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20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バーンダウン / ガント / S-02ダッシュボードの発展。</a:t>
              </a:r>
              <a:endParaRPr lang="en-US" sz="2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8" name="Shape 46"/>
            <p:cNvSpPr/>
            <p:nvPr/>
          </p:nvSpPr>
          <p:spPr>
            <a:xfrm>
              <a:off x="12510641" y="7655519"/>
              <a:ext cx="9525" cy="650718"/>
            </a:xfrm>
            <a:prstGeom prst="rect">
              <a:avLst/>
            </a:prstGeom>
            <a:solidFill>
              <a:srgbClr val="DCD8CE"/>
            </a:solidFill>
            <a:ln/>
          </p:spPr>
          <p:txBody>
            <a:bodyPr>
              <a:noAutofit/>
            </a:bodyPr>
            <a:lstStyle/>
            <a:p>
              <a:endParaRPr lang="ja-JP" altLang="en-US" sz="2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9" name="Text 47"/>
            <p:cNvSpPr/>
            <p:nvPr/>
          </p:nvSpPr>
          <p:spPr>
            <a:xfrm>
              <a:off x="12691616" y="7806599"/>
              <a:ext cx="4646612" cy="38665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en-US" sz="220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進捗の傾向と先読みが可能に。</a:t>
              </a:r>
              <a:endParaRPr lang="en-US" sz="2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5" name="Shape 37">
              <a:extLst>
                <a:ext uri="{FF2B5EF4-FFF2-40B4-BE49-F238E27FC236}">
                  <a16:creationId xmlns:a16="http://schemas.microsoft.com/office/drawing/2014/main" id="{7CEFBF71-CC17-D054-5581-4DF1306C5E02}"/>
                </a:ext>
              </a:extLst>
            </p:cNvPr>
            <p:cNvSpPr/>
            <p:nvPr/>
          </p:nvSpPr>
          <p:spPr>
            <a:xfrm>
              <a:off x="923925" y="8316950"/>
              <a:ext cx="16440150" cy="9431"/>
            </a:xfrm>
            <a:prstGeom prst="rect">
              <a:avLst/>
            </a:prstGeom>
            <a:solidFill>
              <a:srgbClr val="DCD8CE"/>
            </a:solidFill>
            <a:ln/>
          </p:spPr>
          <p:txBody>
            <a:bodyPr>
              <a:noAutofit/>
            </a:bodyPr>
            <a:lstStyle/>
            <a:p>
              <a:endParaRPr lang="ja-JP" altLang="en-US" sz="3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52" name="Text 43">
              <a:extLst>
                <a:ext uri="{FF2B5EF4-FFF2-40B4-BE49-F238E27FC236}">
                  <a16:creationId xmlns:a16="http://schemas.microsoft.com/office/drawing/2014/main" id="{10B653C8-3D4F-BF1F-9BED-1B44EE3C3D29}"/>
                </a:ext>
              </a:extLst>
            </p:cNvPr>
            <p:cNvSpPr/>
            <p:nvPr/>
          </p:nvSpPr>
          <p:spPr>
            <a:xfrm>
              <a:off x="1057275" y="8480761"/>
              <a:ext cx="400050" cy="38665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altLang="ja-JP" sz="3200" b="1">
                  <a:solidFill>
                    <a:srgbClr val="2F2E6E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7</a:t>
              </a:r>
              <a:endParaRPr lang="en-US" sz="3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54" name="Text 44">
              <a:extLst>
                <a:ext uri="{FF2B5EF4-FFF2-40B4-BE49-F238E27FC236}">
                  <a16:creationId xmlns:a16="http://schemas.microsoft.com/office/drawing/2014/main" id="{B75BF3BF-363B-FA44-C65C-2CAF5AD74921}"/>
                </a:ext>
              </a:extLst>
            </p:cNvPr>
            <p:cNvSpPr/>
            <p:nvPr/>
          </p:nvSpPr>
          <p:spPr>
            <a:xfrm>
              <a:off x="1762125" y="8480761"/>
              <a:ext cx="4239333" cy="38665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altLang="ja-JP" sz="2400" b="1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PC</a:t>
              </a:r>
              <a:r>
                <a:rPr lang="ja-JP" altLang="en-US" sz="2400" b="1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・タブレット対応</a:t>
              </a:r>
              <a:endParaRPr lang="en-US" sz="24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55" name="Text 45">
              <a:extLst>
                <a:ext uri="{FF2B5EF4-FFF2-40B4-BE49-F238E27FC236}">
                  <a16:creationId xmlns:a16="http://schemas.microsoft.com/office/drawing/2014/main" id="{E5747D76-0D6E-25EB-8517-9927BC7FAEE7}"/>
                </a:ext>
              </a:extLst>
            </p:cNvPr>
            <p:cNvSpPr/>
            <p:nvPr/>
          </p:nvSpPr>
          <p:spPr>
            <a:xfrm>
              <a:off x="6210895" y="8480761"/>
              <a:ext cx="6322432" cy="38665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ja-JP" altLang="en-US" sz="220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ハンバーガーメニュー</a:t>
              </a:r>
              <a:r>
                <a:rPr lang="en-US" altLang="ja-JP" sz="220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/</a:t>
              </a:r>
              <a:r>
                <a:rPr lang="ja-JP" altLang="en-US" sz="220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レスポンシブ対応</a:t>
              </a:r>
              <a:endParaRPr lang="en-US" sz="2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56" name="Shape 46">
              <a:extLst>
                <a:ext uri="{FF2B5EF4-FFF2-40B4-BE49-F238E27FC236}">
                  <a16:creationId xmlns:a16="http://schemas.microsoft.com/office/drawing/2014/main" id="{CC0BBA72-64AE-FD32-A5D8-6E7B465A9203}"/>
                </a:ext>
              </a:extLst>
            </p:cNvPr>
            <p:cNvSpPr/>
            <p:nvPr/>
          </p:nvSpPr>
          <p:spPr>
            <a:xfrm>
              <a:off x="12510641" y="8329681"/>
              <a:ext cx="9525" cy="650718"/>
            </a:xfrm>
            <a:prstGeom prst="rect">
              <a:avLst/>
            </a:prstGeom>
            <a:solidFill>
              <a:srgbClr val="DCD8CE"/>
            </a:solidFill>
            <a:ln/>
          </p:spPr>
          <p:txBody>
            <a:bodyPr>
              <a:noAutofit/>
            </a:bodyPr>
            <a:lstStyle/>
            <a:p>
              <a:endParaRPr lang="ja-JP" altLang="en-US" sz="2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57" name="Text 47">
              <a:extLst>
                <a:ext uri="{FF2B5EF4-FFF2-40B4-BE49-F238E27FC236}">
                  <a16:creationId xmlns:a16="http://schemas.microsoft.com/office/drawing/2014/main" id="{8D54DDBE-4E48-E045-A5DD-2321F6C1D2B9}"/>
                </a:ext>
              </a:extLst>
            </p:cNvPr>
            <p:cNvSpPr/>
            <p:nvPr/>
          </p:nvSpPr>
          <p:spPr>
            <a:xfrm>
              <a:off x="12691616" y="8480761"/>
              <a:ext cx="4646612" cy="386658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Autofit/>
            </a:bodyPr>
            <a:lstStyle/>
            <a:p>
              <a:pPr marL="0" indent="0" algn="l">
                <a:lnSpc>
                  <a:spcPct val="150000"/>
                </a:lnSpc>
                <a:buNone/>
              </a:pPr>
              <a:r>
                <a:rPr lang="ja-JP" altLang="en-US" sz="2200">
                  <a:latin typeface="Meiryo UI" panose="020B0604030504040204" pitchFamily="50" charset="-128"/>
                  <a:ea typeface="Meiryo UI" panose="020B0604030504040204" pitchFamily="50" charset="-128"/>
                </a:rPr>
                <a:t>利便性向上</a:t>
              </a:r>
              <a:endParaRPr lang="en-US" sz="22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4" name="矢印: 右 3">
            <a:extLst>
              <a:ext uri="{FF2B5EF4-FFF2-40B4-BE49-F238E27FC236}">
                <a16:creationId xmlns:a16="http://schemas.microsoft.com/office/drawing/2014/main" id="{CC6E02D8-74D8-43B1-FA43-A5862FCE03A8}"/>
              </a:ext>
            </a:extLst>
          </p:cNvPr>
          <p:cNvSpPr/>
          <p:nvPr/>
        </p:nvSpPr>
        <p:spPr>
          <a:xfrm rot="20550121">
            <a:off x="58291" y="3403778"/>
            <a:ext cx="1439330" cy="1093913"/>
          </a:xfrm>
          <a:prstGeom prst="rightArrow">
            <a:avLst>
              <a:gd name="adj1" fmla="val 69505"/>
              <a:gd name="adj2" fmla="val 42651"/>
            </a:avLst>
          </a:prstGeom>
          <a:solidFill>
            <a:srgbClr val="14A0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kumimoji="1" lang="ja-JP" altLang="en-US" sz="20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実装</a:t>
            </a:r>
            <a:r>
              <a:rPr kumimoji="1" lang="ja-JP" altLang="en-US" sz="32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未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6">
            <a:extLst>
              <a:ext uri="{FF2B5EF4-FFF2-40B4-BE49-F238E27FC236}">
                <a16:creationId xmlns:a16="http://schemas.microsoft.com/office/drawing/2014/main" id="{E693BF94-007A-F4CA-4E07-36E4E131FA0C}"/>
              </a:ext>
            </a:extLst>
          </p:cNvPr>
          <p:cNvSpPr/>
          <p:nvPr/>
        </p:nvSpPr>
        <p:spPr>
          <a:xfrm>
            <a:off x="914399" y="2604635"/>
            <a:ext cx="16668751" cy="3330613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57" name="グループ化 56">
            <a:extLst>
              <a:ext uri="{FF2B5EF4-FFF2-40B4-BE49-F238E27FC236}">
                <a16:creationId xmlns:a16="http://schemas.microsoft.com/office/drawing/2014/main" id="{0E8722D9-F423-613D-86E4-1D4D203FACB4}"/>
              </a:ext>
            </a:extLst>
          </p:cNvPr>
          <p:cNvGrpSpPr/>
          <p:nvPr/>
        </p:nvGrpSpPr>
        <p:grpSpPr>
          <a:xfrm>
            <a:off x="1123950" y="2832086"/>
            <a:ext cx="5328000" cy="2869435"/>
            <a:chOff x="1123950" y="3550538"/>
            <a:chExt cx="5328000" cy="2869435"/>
          </a:xfrm>
        </p:grpSpPr>
        <p:sp>
          <p:nvSpPr>
            <p:cNvPr id="16" name="Shape 14"/>
            <p:cNvSpPr/>
            <p:nvPr/>
          </p:nvSpPr>
          <p:spPr>
            <a:xfrm>
              <a:off x="1123950" y="3550538"/>
              <a:ext cx="5328000" cy="286943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CD8CE"/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ja-JP" altLang="en-US" sz="24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grpSp>
          <p:nvGrpSpPr>
            <p:cNvPr id="55" name="グループ化 54">
              <a:extLst>
                <a:ext uri="{FF2B5EF4-FFF2-40B4-BE49-F238E27FC236}">
                  <a16:creationId xmlns:a16="http://schemas.microsoft.com/office/drawing/2014/main" id="{9FEBFF61-3191-C48A-0BB5-99CE8A88CB0B}"/>
                </a:ext>
              </a:extLst>
            </p:cNvPr>
            <p:cNvGrpSpPr/>
            <p:nvPr/>
          </p:nvGrpSpPr>
          <p:grpSpPr>
            <a:xfrm>
              <a:off x="1419225" y="3826763"/>
              <a:ext cx="4898783" cy="2135386"/>
              <a:chOff x="1419225" y="3826763"/>
              <a:chExt cx="4898783" cy="2135386"/>
            </a:xfrm>
          </p:grpSpPr>
          <p:sp>
            <p:nvSpPr>
              <p:cNvPr id="17" name="Text 15"/>
              <p:cNvSpPr/>
              <p:nvPr/>
            </p:nvSpPr>
            <p:spPr>
              <a:xfrm>
                <a:off x="1419225" y="3826763"/>
                <a:ext cx="4898783" cy="200025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Autofit/>
              </a:bodyPr>
              <a:lstStyle/>
              <a:p>
                <a:pPr marL="0" indent="0" algn="l">
                  <a:buNone/>
                </a:pPr>
                <a:r>
                  <a:rPr lang="en-US" sz="1050" b="1" kern="0" spc="195">
                    <a:solidFill>
                      <a:srgbClr val="2F2E6E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Courier New" pitchFamily="34" charset="-120"/>
                  </a:rPr>
                  <a:t>LESSON 01</a:t>
                </a:r>
                <a:endParaRPr lang="en-US" sz="105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18" name="Text 16"/>
              <p:cNvSpPr/>
              <p:nvPr/>
            </p:nvSpPr>
            <p:spPr>
              <a:xfrm>
                <a:off x="1419225" y="4845938"/>
                <a:ext cx="4898783" cy="381000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ja-JP" altLang="en-US" sz="2800" b="1">
                    <a:solidFill>
                      <a:srgbClr val="E60013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</a:rPr>
                  <a:t>作る前に、使う人を理解する</a:t>
                </a:r>
                <a:endParaRPr lang="en-US" sz="2800" b="1">
                  <a:solidFill>
                    <a:srgbClr val="E60013"/>
                  </a:solidFill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19" name="Text 17"/>
              <p:cNvSpPr/>
              <p:nvPr/>
            </p:nvSpPr>
            <p:spPr>
              <a:xfrm>
                <a:off x="1419225" y="5436488"/>
                <a:ext cx="4898783" cy="525661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Autofit/>
              </a:bodyPr>
              <a:lstStyle/>
              <a:p>
                <a:pPr>
                  <a:lnSpc>
                    <a:spcPct val="160000"/>
                  </a:lnSpc>
                </a:pPr>
                <a:r>
                  <a:rPr lang="en-US" altLang="ja-JP" sz="2000">
                    <a:latin typeface="Meiryo UI" panose="020B0604030504040204" pitchFamily="50" charset="-128"/>
                    <a:ea typeface="Meiryo UI" panose="020B0604030504040204" pitchFamily="50" charset="-128"/>
                  </a:rPr>
                  <a:t>3</a:t>
                </a:r>
                <a:r>
                  <a:rPr lang="ja-JP" altLang="en-US" sz="2000">
                    <a:latin typeface="Meiryo UI" panose="020B0604030504040204" pitchFamily="50" charset="-128"/>
                    <a:ea typeface="Meiryo UI" panose="020B0604030504040204" pitchFamily="50" charset="-128"/>
                  </a:rPr>
                  <a:t>ロールの違いを整理することで、必要な画面・権限・導線が明確になった。</a:t>
                </a:r>
                <a:endParaRPr lang="en-US" sz="200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46" name="Text 15">
                <a:extLst>
                  <a:ext uri="{FF2B5EF4-FFF2-40B4-BE49-F238E27FC236}">
                    <a16:creationId xmlns:a16="http://schemas.microsoft.com/office/drawing/2014/main" id="{98BAEBFB-5A7B-5C6B-A352-FF666E97A4A4}"/>
                  </a:ext>
                </a:extLst>
              </p:cNvPr>
              <p:cNvSpPr/>
              <p:nvPr/>
            </p:nvSpPr>
            <p:spPr>
              <a:xfrm>
                <a:off x="1419225" y="4250506"/>
                <a:ext cx="4898783" cy="200025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Autofit/>
              </a:bodyPr>
              <a:lstStyle/>
              <a:p>
                <a:pPr marL="0" indent="0" algn="l">
                  <a:buNone/>
                </a:pPr>
                <a:r>
                  <a:rPr lang="ja-JP" altLang="en-US" sz="2800" b="1" kern="0" spc="195">
                    <a:solidFill>
                      <a:srgbClr val="2F2E6E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Courier New" pitchFamily="34" charset="-120"/>
                  </a:rPr>
                  <a:t>業務理解</a:t>
                </a:r>
                <a:endParaRPr lang="en-US" sz="280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</p:grpSp>
      </p:grpSp>
      <p:grpSp>
        <p:nvGrpSpPr>
          <p:cNvPr id="58" name="グループ化 57">
            <a:extLst>
              <a:ext uri="{FF2B5EF4-FFF2-40B4-BE49-F238E27FC236}">
                <a16:creationId xmlns:a16="http://schemas.microsoft.com/office/drawing/2014/main" id="{8F4F389A-1C8E-590F-73CF-003EB29155FE}"/>
              </a:ext>
            </a:extLst>
          </p:cNvPr>
          <p:cNvGrpSpPr/>
          <p:nvPr/>
        </p:nvGrpSpPr>
        <p:grpSpPr>
          <a:xfrm>
            <a:off x="6574012" y="2832086"/>
            <a:ext cx="5328000" cy="2869435"/>
            <a:chOff x="6680151" y="3550538"/>
            <a:chExt cx="5328000" cy="2869435"/>
          </a:xfrm>
        </p:grpSpPr>
        <p:sp>
          <p:nvSpPr>
            <p:cNvPr id="22" name="Shape 20"/>
            <p:cNvSpPr/>
            <p:nvPr/>
          </p:nvSpPr>
          <p:spPr>
            <a:xfrm>
              <a:off x="6680151" y="3550538"/>
              <a:ext cx="5328000" cy="286943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CD8CE"/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ja-JP" altLang="en-US" sz="24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3" name="Text 21"/>
            <p:cNvSpPr/>
            <p:nvPr/>
          </p:nvSpPr>
          <p:spPr>
            <a:xfrm>
              <a:off x="6975425" y="3826763"/>
              <a:ext cx="4898783" cy="2000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050" b="1" kern="0" spc="195">
                  <a:solidFill>
                    <a:srgbClr val="0064A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LESSON 02</a:t>
              </a:r>
              <a:endParaRPr lang="en-US" sz="105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4" name="Text 22"/>
            <p:cNvSpPr/>
            <p:nvPr/>
          </p:nvSpPr>
          <p:spPr>
            <a:xfrm>
              <a:off x="6975425" y="4845938"/>
              <a:ext cx="4898783" cy="3810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20000"/>
                </a:lnSpc>
                <a:buNone/>
              </a:pPr>
              <a:r>
                <a:rPr lang="en-US" sz="2800" b="1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スコープを切る</a:t>
              </a:r>
              <a:endParaRPr lang="en-US" sz="28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5" name="Text 23"/>
            <p:cNvSpPr/>
            <p:nvPr/>
          </p:nvSpPr>
          <p:spPr>
            <a:xfrm>
              <a:off x="6975425" y="5436488"/>
              <a:ext cx="4898783" cy="53518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>
                <a:lnSpc>
                  <a:spcPct val="160000"/>
                </a:lnSpc>
              </a:pPr>
              <a:r>
                <a:rPr lang="en-US" altLang="ja-JP" sz="2000">
                  <a:latin typeface="Meiryo UI" panose="020B0604030504040204" pitchFamily="50" charset="-128"/>
                  <a:ea typeface="Meiryo UI" panose="020B0604030504040204" pitchFamily="50" charset="-128"/>
                </a:rPr>
                <a:t>100</a:t>
              </a:r>
              <a:r>
                <a:rPr lang="ja-JP" altLang="en-US" sz="2000">
                  <a:latin typeface="Meiryo UI" panose="020B0604030504040204" pitchFamily="50" charset="-128"/>
                  <a:ea typeface="Meiryo UI" panose="020B0604030504040204" pitchFamily="50" charset="-128"/>
                </a:rPr>
                <a:t>時間内で必須機能を優先</a:t>
              </a:r>
              <a:br>
                <a:rPr lang="en-US" altLang="ja-JP" sz="2000">
                  <a:latin typeface="Meiryo UI" panose="020B0604030504040204" pitchFamily="50" charset="-128"/>
                  <a:ea typeface="Meiryo UI" panose="020B0604030504040204" pitchFamily="50" charset="-128"/>
                </a:rPr>
              </a:br>
              <a:r>
                <a:rPr lang="ja-JP" altLang="en-US" sz="2000">
                  <a:latin typeface="Meiryo UI" panose="020B0604030504040204" pitchFamily="50" charset="-128"/>
                  <a:ea typeface="Meiryo UI" panose="020B0604030504040204" pitchFamily="50" charset="-128"/>
                </a:rPr>
                <a:t>追加機能は</a:t>
              </a:r>
              <a:r>
                <a:rPr lang="en-US" altLang="ja-JP" sz="2000">
                  <a:latin typeface="Meiryo UI" panose="020B0604030504040204" pitchFamily="50" charset="-128"/>
                  <a:ea typeface="Meiryo UI" panose="020B0604030504040204" pitchFamily="50" charset="-128"/>
                </a:rPr>
                <a:t>MVP / NEXT</a:t>
              </a:r>
              <a:r>
                <a:rPr lang="ja-JP" altLang="en-US" sz="2000">
                  <a:latin typeface="Meiryo UI" panose="020B0604030504040204" pitchFamily="50" charset="-128"/>
                  <a:ea typeface="Meiryo UI" panose="020B0604030504040204" pitchFamily="50" charset="-128"/>
                </a:rPr>
                <a:t>に分けた。</a:t>
              </a:r>
              <a:endParaRPr lang="en-US" sz="20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7" name="Text 21">
              <a:extLst>
                <a:ext uri="{FF2B5EF4-FFF2-40B4-BE49-F238E27FC236}">
                  <a16:creationId xmlns:a16="http://schemas.microsoft.com/office/drawing/2014/main" id="{F8043214-3332-7657-1285-06AA87930CA4}"/>
                </a:ext>
              </a:extLst>
            </p:cNvPr>
            <p:cNvSpPr/>
            <p:nvPr/>
          </p:nvSpPr>
          <p:spPr>
            <a:xfrm>
              <a:off x="6975425" y="4250506"/>
              <a:ext cx="4898783" cy="2000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ja-JP" altLang="en-US" sz="2800" b="1" kern="0" spc="195">
                  <a:solidFill>
                    <a:srgbClr val="0064A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優先順位</a:t>
              </a:r>
              <a:endParaRPr lang="en-US" sz="28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grpSp>
        <p:nvGrpSpPr>
          <p:cNvPr id="56" name="グループ化 55">
            <a:extLst>
              <a:ext uri="{FF2B5EF4-FFF2-40B4-BE49-F238E27FC236}">
                <a16:creationId xmlns:a16="http://schemas.microsoft.com/office/drawing/2014/main" id="{C999F5A0-DAB6-B835-54DF-507B91ED115B}"/>
              </a:ext>
            </a:extLst>
          </p:cNvPr>
          <p:cNvGrpSpPr/>
          <p:nvPr/>
        </p:nvGrpSpPr>
        <p:grpSpPr>
          <a:xfrm>
            <a:off x="12024074" y="2832086"/>
            <a:ext cx="5328000" cy="2869435"/>
            <a:chOff x="12236351" y="3550538"/>
            <a:chExt cx="5328000" cy="2869435"/>
          </a:xfrm>
        </p:grpSpPr>
        <p:sp>
          <p:nvSpPr>
            <p:cNvPr id="28" name="Shape 26"/>
            <p:cNvSpPr/>
            <p:nvPr/>
          </p:nvSpPr>
          <p:spPr>
            <a:xfrm>
              <a:off x="12236351" y="3550538"/>
              <a:ext cx="5328000" cy="286943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CD8CE"/>
              </a:solidFill>
              <a:prstDash val="solid"/>
            </a:ln>
          </p:spPr>
          <p:txBody>
            <a:bodyPr>
              <a:noAutofit/>
            </a:bodyPr>
            <a:lstStyle/>
            <a:p>
              <a:endParaRPr lang="ja-JP" altLang="en-US" sz="24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9" name="Text 27"/>
            <p:cNvSpPr/>
            <p:nvPr/>
          </p:nvSpPr>
          <p:spPr>
            <a:xfrm>
              <a:off x="12531626" y="3826763"/>
              <a:ext cx="4898783" cy="2000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050" b="1" kern="0" spc="195">
                  <a:solidFill>
                    <a:srgbClr val="14A0B4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LESSON 03</a:t>
              </a:r>
              <a:endParaRPr lang="en-US" sz="105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0" name="Text 28"/>
            <p:cNvSpPr/>
            <p:nvPr/>
          </p:nvSpPr>
          <p:spPr>
            <a:xfrm>
              <a:off x="12531626" y="4845938"/>
              <a:ext cx="4898783" cy="3810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20000"/>
                </a:lnSpc>
                <a:buNone/>
              </a:pPr>
              <a:r>
                <a:rPr lang="en-US" sz="2800" b="1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引継ぎを設計する</a:t>
              </a:r>
              <a:endParaRPr lang="en-US" sz="28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31" name="Text 29"/>
            <p:cNvSpPr/>
            <p:nvPr/>
          </p:nvSpPr>
          <p:spPr>
            <a:xfrm>
              <a:off x="12531626" y="5436488"/>
              <a:ext cx="4898783" cy="52566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60000"/>
                </a:lnSpc>
                <a:buNone/>
              </a:pPr>
              <a:r>
                <a:rPr lang="ja-JP" altLang="en-US" sz="200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仕様書・</a:t>
              </a:r>
              <a:r>
                <a:rPr lang="en-US" altLang="ja-JP" sz="200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ER</a:t>
              </a:r>
              <a:r>
                <a:rPr lang="ja-JP" altLang="en-US" sz="200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図・マニュアル・日報を残すことで、</a:t>
              </a:r>
              <a:br>
                <a:rPr lang="en-US" altLang="ja-JP" sz="200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</a:br>
              <a:r>
                <a:rPr lang="ja-JP" altLang="en-US" sz="2000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設計判断を説明できるようになった。</a:t>
              </a:r>
              <a:endParaRPr lang="en-US" sz="20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48" name="Text 27">
              <a:extLst>
                <a:ext uri="{FF2B5EF4-FFF2-40B4-BE49-F238E27FC236}">
                  <a16:creationId xmlns:a16="http://schemas.microsoft.com/office/drawing/2014/main" id="{1EC145BE-3D10-759F-3E0F-AE7B26D6CE3D}"/>
                </a:ext>
              </a:extLst>
            </p:cNvPr>
            <p:cNvSpPr/>
            <p:nvPr/>
          </p:nvSpPr>
          <p:spPr>
            <a:xfrm>
              <a:off x="12531626" y="4250506"/>
              <a:ext cx="4898783" cy="2000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ja-JP" altLang="en-US" sz="2800" b="1" kern="0" spc="195">
                  <a:solidFill>
                    <a:srgbClr val="14A0B4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説明責任</a:t>
              </a:r>
              <a:endParaRPr lang="en-US" sz="28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54" name="Text 6">
            <a:extLst>
              <a:ext uri="{FF2B5EF4-FFF2-40B4-BE49-F238E27FC236}">
                <a16:creationId xmlns:a16="http://schemas.microsoft.com/office/drawing/2014/main" id="{E4398CF2-9C20-5299-483B-8C3E87990025}"/>
              </a:ext>
            </a:extLst>
          </p:cNvPr>
          <p:cNvSpPr/>
          <p:nvPr/>
        </p:nvSpPr>
        <p:spPr>
          <a:xfrm>
            <a:off x="1145088" y="2407397"/>
            <a:ext cx="3531870" cy="5074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altLang="ja-JP" sz="2000" b="1"/>
              <a:t>PoC</a:t>
            </a:r>
            <a:r>
              <a:rPr lang="ja-JP" altLang="en-US" sz="2000" b="1"/>
              <a:t>開発で学んだ</a:t>
            </a:r>
            <a:r>
              <a:rPr lang="en-US" altLang="ja-JP" sz="2000" b="1"/>
              <a:t>3</a:t>
            </a:r>
            <a:r>
              <a:rPr lang="ja-JP" altLang="en-US" sz="2000" b="1"/>
              <a:t>つのこと</a:t>
            </a:r>
          </a:p>
        </p:txBody>
      </p:sp>
      <p:sp>
        <p:nvSpPr>
          <p:cNvPr id="50" name="Shape 6">
            <a:extLst>
              <a:ext uri="{FF2B5EF4-FFF2-40B4-BE49-F238E27FC236}">
                <a16:creationId xmlns:a16="http://schemas.microsoft.com/office/drawing/2014/main" id="{F37D8EB0-B711-102B-DAF3-FFD0236A165F}"/>
              </a:ext>
            </a:extLst>
          </p:cNvPr>
          <p:cNvSpPr/>
          <p:nvPr/>
        </p:nvSpPr>
        <p:spPr>
          <a:xfrm>
            <a:off x="914399" y="6662575"/>
            <a:ext cx="16668751" cy="2869435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123950" y="6989212"/>
            <a:ext cx="8064000" cy="2371347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" name="Text 7"/>
          <p:cNvSpPr/>
          <p:nvPr/>
        </p:nvSpPr>
        <p:spPr>
          <a:xfrm>
            <a:off x="1419225" y="7055888"/>
            <a:ext cx="776030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kern="0" spc="180">
                <a:solidFill>
                  <a:srgbClr val="14A0B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★ うまくいったこと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419225" y="7455938"/>
            <a:ext cx="7760303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ja-JP" altLang="en-US" sz="20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生活リズムを変えずにインターンに参加できた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419225" y="7848249"/>
            <a:ext cx="7760303" cy="5884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ja-JP" altLang="en-US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いつも午前は、家事育児、就労移行支援事業所で１３時から１５時に訓練をし、</a:t>
            </a:r>
            <a:br>
              <a:rPr lang="en-US" altLang="ja-JP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ja-JP" altLang="en-US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その後家事、一通り終わって夜に自習というサイクル。同じサイクルでペースを守って</a:t>
            </a:r>
            <a:br>
              <a:rPr lang="en-US" altLang="ja-JP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ja-JP" altLang="en-US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インターンに参加し、就労のイメージを持てた</a:t>
            </a:r>
            <a:endParaRPr 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353550" y="6989212"/>
            <a:ext cx="8064000" cy="2371347"/>
          </a:xfrm>
          <a:prstGeom prst="rect">
            <a:avLst/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753600" y="7027313"/>
            <a:ext cx="3093719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2400" b="1" kern="0" spc="180">
                <a:solidFill>
                  <a:srgbClr val="C686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! 想定外だったこと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753600" y="7455938"/>
            <a:ext cx="7760303" cy="335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altLang="ja-JP" sz="20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GW</a:t>
            </a:r>
            <a:r>
              <a:rPr lang="ja-JP" altLang="en-US" sz="20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後に休み疲れ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753600" y="7848249"/>
            <a:ext cx="7760303" cy="11218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ja-JP" alt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おおむね安定して取り組むことができたが、</a:t>
            </a:r>
            <a:br>
              <a:rPr lang="en-US" altLang="ja-JP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en-US" altLang="ja-JP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GW</a:t>
            </a:r>
            <a:r>
              <a:rPr lang="ja-JP" altLang="en-US" sz="20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には遠出をし、休み明けに風邪気味になった。スケジュールに余裕を持っていたことと、合計時間管理なので、他の日で調整できた</a:t>
            </a:r>
            <a:endParaRPr lang="en-US" sz="20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342900"/>
            <a:ext cx="1556593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200" kern="0" spc="147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REFLECTION · 12</a:t>
            </a:r>
            <a:endParaRPr lang="en-US" sz="12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1123950"/>
            <a:ext cx="16802100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ja-JP" sz="6600" b="1">
                <a:latin typeface="Meiryo UI" panose="020B0604030504040204" pitchFamily="50" charset="-128"/>
                <a:ea typeface="Meiryo UI" panose="020B0604030504040204" pitchFamily="50" charset="-128"/>
              </a:rPr>
              <a:t>PoC</a:t>
            </a:r>
            <a:r>
              <a:rPr lang="ja-JP" altLang="en-US" sz="6600" b="1">
                <a:latin typeface="Meiryo UI" panose="020B0604030504040204" pitchFamily="50" charset="-128"/>
                <a:ea typeface="Meiryo UI" panose="020B0604030504040204" pitchFamily="50" charset="-128"/>
              </a:rPr>
              <a:t>作成＆体調管理で、</a:t>
            </a:r>
            <a:r>
              <a:rPr lang="ja-JP" altLang="en-US" sz="6600" b="1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働く自信</a:t>
            </a:r>
            <a:r>
              <a:rPr lang="ja-JP" altLang="en-US" sz="6600" b="1">
                <a:latin typeface="Meiryo UI" panose="020B0604030504040204" pitchFamily="50" charset="-128"/>
                <a:ea typeface="Meiryo UI" panose="020B0604030504040204" pitchFamily="50" charset="-128"/>
              </a:rPr>
              <a:t>が持てた</a:t>
            </a:r>
            <a:endParaRPr lang="en-US" sz="6600" b="1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Text 1">
            <a:extLst>
              <a:ext uri="{FF2B5EF4-FFF2-40B4-BE49-F238E27FC236}">
                <a16:creationId xmlns:a16="http://schemas.microsoft.com/office/drawing/2014/main" id="{B53D176F-DE01-1C63-35F5-3A18F82EF77E}"/>
              </a:ext>
            </a:extLst>
          </p:cNvPr>
          <p:cNvSpPr/>
          <p:nvPr/>
        </p:nvSpPr>
        <p:spPr>
          <a:xfrm>
            <a:off x="914399" y="342899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E60013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ctr">
              <a:buNone/>
            </a:pPr>
            <a:r>
              <a:rPr lang="ja-JP" altLang="en-US" sz="32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感想</a:t>
            </a:r>
            <a:endParaRPr lang="en-US" sz="3200" b="1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9" name="Text 6">
            <a:extLst>
              <a:ext uri="{FF2B5EF4-FFF2-40B4-BE49-F238E27FC236}">
                <a16:creationId xmlns:a16="http://schemas.microsoft.com/office/drawing/2014/main" id="{1E96E8B9-22D6-D7C0-C58C-45DE3264D90D}"/>
              </a:ext>
            </a:extLst>
          </p:cNvPr>
          <p:cNvSpPr/>
          <p:nvPr/>
        </p:nvSpPr>
        <p:spPr>
          <a:xfrm>
            <a:off x="1145088" y="6465337"/>
            <a:ext cx="353187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sz="2000" b="1"/>
              <a:t>体調管理の感想</a:t>
            </a:r>
            <a:endParaRPr lang="en-US" sz="2000" b="1"/>
          </a:p>
        </p:txBody>
      </p:sp>
      <p:grpSp>
        <p:nvGrpSpPr>
          <p:cNvPr id="39" name="グループ化 38">
            <a:extLst>
              <a:ext uri="{FF2B5EF4-FFF2-40B4-BE49-F238E27FC236}">
                <a16:creationId xmlns:a16="http://schemas.microsoft.com/office/drawing/2014/main" id="{DE468163-38C0-B600-FA95-9FB545AF0E0E}"/>
              </a:ext>
            </a:extLst>
          </p:cNvPr>
          <p:cNvGrpSpPr/>
          <p:nvPr/>
        </p:nvGrpSpPr>
        <p:grpSpPr>
          <a:xfrm>
            <a:off x="914399" y="10388561"/>
            <a:ext cx="16668751" cy="3049016"/>
            <a:chOff x="914399" y="10388561"/>
            <a:chExt cx="16668751" cy="3049016"/>
          </a:xfrm>
        </p:grpSpPr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4804F5BF-E7BA-3893-E938-6D60E1562234}"/>
                </a:ext>
              </a:extLst>
            </p:cNvPr>
            <p:cNvGrpSpPr/>
            <p:nvPr/>
          </p:nvGrpSpPr>
          <p:grpSpPr>
            <a:xfrm>
              <a:off x="914399" y="10568142"/>
              <a:ext cx="16668751" cy="2869435"/>
              <a:chOff x="704849" y="9208203"/>
              <a:chExt cx="16668751" cy="2869435"/>
            </a:xfrm>
          </p:grpSpPr>
          <p:sp>
            <p:nvSpPr>
              <p:cNvPr id="20" name="Shape 6">
                <a:extLst>
                  <a:ext uri="{FF2B5EF4-FFF2-40B4-BE49-F238E27FC236}">
                    <a16:creationId xmlns:a16="http://schemas.microsoft.com/office/drawing/2014/main" id="{005F3220-8DFB-C89B-61E0-C10987F81D2A}"/>
                  </a:ext>
                </a:extLst>
              </p:cNvPr>
              <p:cNvSpPr/>
              <p:nvPr/>
            </p:nvSpPr>
            <p:spPr>
              <a:xfrm>
                <a:off x="704849" y="9208203"/>
                <a:ext cx="16668751" cy="286943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DCD8CE"/>
                </a:solidFill>
                <a:prstDash val="solid"/>
              </a:ln>
            </p:spPr>
            <p:txBody>
              <a:bodyPr>
                <a:noAutofit/>
              </a:bodyPr>
              <a:lstStyle/>
              <a:p>
                <a:endParaRPr lang="ja-JP" altLang="en-US" sz="240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21" name="Shape 6">
                <a:extLst>
                  <a:ext uri="{FF2B5EF4-FFF2-40B4-BE49-F238E27FC236}">
                    <a16:creationId xmlns:a16="http://schemas.microsoft.com/office/drawing/2014/main" id="{52DEB602-8BCF-41D9-EAE0-CD3A0C402665}"/>
                  </a:ext>
                </a:extLst>
              </p:cNvPr>
              <p:cNvSpPr/>
              <p:nvPr/>
            </p:nvSpPr>
            <p:spPr>
              <a:xfrm>
                <a:off x="914400" y="9534840"/>
                <a:ext cx="8124825" cy="2371347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DCD8CE"/>
                </a:solidFill>
                <a:prstDash val="solid"/>
              </a:ln>
            </p:spPr>
            <p:txBody>
              <a:bodyPr>
                <a:noAutofit/>
              </a:bodyPr>
              <a:lstStyle/>
              <a:p>
                <a:endParaRPr lang="ja-JP" altLang="en-US" sz="240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26" name="Text 7">
                <a:extLst>
                  <a:ext uri="{FF2B5EF4-FFF2-40B4-BE49-F238E27FC236}">
                    <a16:creationId xmlns:a16="http://schemas.microsoft.com/office/drawing/2014/main" id="{DD6A0BD5-8FFE-7B41-BFB2-FA045E5E2F6E}"/>
                  </a:ext>
                </a:extLst>
              </p:cNvPr>
              <p:cNvSpPr/>
              <p:nvPr/>
            </p:nvSpPr>
            <p:spPr>
              <a:xfrm>
                <a:off x="1209675" y="9601516"/>
                <a:ext cx="7760303" cy="381000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Autofit/>
              </a:bodyPr>
              <a:lstStyle/>
              <a:p>
                <a:pPr marL="0" indent="0" algn="l">
                  <a:buNone/>
                </a:pPr>
                <a:r>
                  <a:rPr lang="en-US" sz="2400" b="1" kern="0" spc="180">
                    <a:solidFill>
                      <a:srgbClr val="14A0B4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Courier New" pitchFamily="34" charset="-120"/>
                  </a:rPr>
                  <a:t>★ うまくいったこと</a:t>
                </a:r>
                <a:endParaRPr lang="en-US" sz="240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27" name="Text 8">
                <a:extLst>
                  <a:ext uri="{FF2B5EF4-FFF2-40B4-BE49-F238E27FC236}">
                    <a16:creationId xmlns:a16="http://schemas.microsoft.com/office/drawing/2014/main" id="{851D1B50-D58B-C250-38E2-411EE731B678}"/>
                  </a:ext>
                </a:extLst>
              </p:cNvPr>
              <p:cNvSpPr/>
              <p:nvPr/>
            </p:nvSpPr>
            <p:spPr>
              <a:xfrm>
                <a:off x="1209675" y="10001566"/>
                <a:ext cx="7760303" cy="335161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Autofit/>
              </a:bodyPr>
              <a:lstStyle/>
              <a:p>
                <a:pPr marL="0" indent="0" algn="l">
                  <a:lnSpc>
                    <a:spcPct val="130000"/>
                  </a:lnSpc>
                  <a:buNone/>
                </a:pPr>
                <a:r>
                  <a:rPr lang="en-US" sz="2000" b="1">
                    <a:solidFill>
                      <a:srgbClr val="15182A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設計段階で画面イメージを作れた</a:t>
                </a:r>
                <a:endParaRPr lang="en-US" sz="200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32" name="Text 9">
                <a:extLst>
                  <a:ext uri="{FF2B5EF4-FFF2-40B4-BE49-F238E27FC236}">
                    <a16:creationId xmlns:a16="http://schemas.microsoft.com/office/drawing/2014/main" id="{4D63C1B9-2E4B-DE00-1EBC-A03E9D476427}"/>
                  </a:ext>
                </a:extLst>
              </p:cNvPr>
              <p:cNvSpPr/>
              <p:nvPr/>
            </p:nvSpPr>
            <p:spPr>
              <a:xfrm>
                <a:off x="1209675" y="10393877"/>
                <a:ext cx="7286143" cy="588466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Autofit/>
              </a:bodyPr>
              <a:lstStyle/>
              <a:p>
                <a:pPr marL="0" indent="0" algn="l">
                  <a:lnSpc>
                    <a:spcPct val="170000"/>
                  </a:lnSpc>
                  <a:buNone/>
                </a:pPr>
                <a:r>
                  <a:rPr lang="en-US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AI </a:t>
                </a:r>
                <a:r>
                  <a:rPr lang="en-US" err="1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を使った設計は初めてだったが、実装前にモックを並べたことで</a:t>
                </a:r>
                <a:r>
                  <a:rPr lang="en-US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、</a:t>
                </a:r>
                <a:br>
                  <a:rPr lang="en-US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</a:br>
                <a:r>
                  <a:rPr lang="en-US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AI </a:t>
                </a:r>
                <a:r>
                  <a:rPr lang="en-US" err="1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への指示も具体的に行えた</a:t>
                </a:r>
                <a:r>
                  <a:rPr lang="en-US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。</a:t>
                </a:r>
                <a:br>
                  <a:rPr lang="en-US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</a:br>
                <a:r>
                  <a:rPr lang="en-US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「何を作るか」の合意形成が速かった。</a:t>
                </a:r>
                <a:endParaRPr lang="en-US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33" name="Shape 10">
                <a:extLst>
                  <a:ext uri="{FF2B5EF4-FFF2-40B4-BE49-F238E27FC236}">
                    <a16:creationId xmlns:a16="http://schemas.microsoft.com/office/drawing/2014/main" id="{C7328355-CDE6-37A5-6149-2DDD0C7B28A6}"/>
                  </a:ext>
                </a:extLst>
              </p:cNvPr>
              <p:cNvSpPr/>
              <p:nvPr/>
            </p:nvSpPr>
            <p:spPr>
              <a:xfrm>
                <a:off x="9248775" y="9534840"/>
                <a:ext cx="8124825" cy="2371347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DCD8CE"/>
                </a:solidFill>
                <a:prstDash val="solid"/>
              </a:ln>
            </p:spPr>
            <p:txBody>
              <a:bodyPr>
                <a:noAutofit/>
              </a:bodyPr>
              <a:lstStyle/>
              <a:p>
                <a:endParaRPr lang="ja-JP" altLang="en-US" sz="240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35" name="Text 11">
                <a:extLst>
                  <a:ext uri="{FF2B5EF4-FFF2-40B4-BE49-F238E27FC236}">
                    <a16:creationId xmlns:a16="http://schemas.microsoft.com/office/drawing/2014/main" id="{BD4BAD9E-1150-0E2C-89C5-70179B2985BA}"/>
                  </a:ext>
                </a:extLst>
              </p:cNvPr>
              <p:cNvSpPr/>
              <p:nvPr/>
            </p:nvSpPr>
            <p:spPr>
              <a:xfrm>
                <a:off x="9544050" y="9572941"/>
                <a:ext cx="3093719" cy="428625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Autofit/>
              </a:bodyPr>
              <a:lstStyle/>
              <a:p>
                <a:pPr marL="0" indent="0" algn="l">
                  <a:buNone/>
                </a:pPr>
                <a:r>
                  <a:rPr lang="en-US" sz="2400" b="1" kern="0" spc="180">
                    <a:solidFill>
                      <a:srgbClr val="C6862A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Courier New" pitchFamily="34" charset="-120"/>
                  </a:rPr>
                  <a:t>! 想定外だったこと</a:t>
                </a:r>
                <a:endParaRPr lang="en-US" sz="240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36" name="Text 12">
                <a:extLst>
                  <a:ext uri="{FF2B5EF4-FFF2-40B4-BE49-F238E27FC236}">
                    <a16:creationId xmlns:a16="http://schemas.microsoft.com/office/drawing/2014/main" id="{4ED200B7-381F-FFE0-4D1D-455A0B5D7469}"/>
                  </a:ext>
                </a:extLst>
              </p:cNvPr>
              <p:cNvSpPr/>
              <p:nvPr/>
            </p:nvSpPr>
            <p:spPr>
              <a:xfrm>
                <a:off x="9544050" y="10001566"/>
                <a:ext cx="7760303" cy="335161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Autofit/>
              </a:bodyPr>
              <a:lstStyle/>
              <a:p>
                <a:pPr marL="0" indent="0" algn="l">
                  <a:lnSpc>
                    <a:spcPct val="130000"/>
                  </a:lnSpc>
                  <a:buNone/>
                </a:pPr>
                <a:r>
                  <a:rPr lang="en-US" sz="2000" b="1">
                    <a:solidFill>
                      <a:srgbClr val="15182A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モック作成のトークン消費が大きい</a:t>
                </a:r>
                <a:endParaRPr lang="en-US" sz="200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37" name="Text 13">
                <a:extLst>
                  <a:ext uri="{FF2B5EF4-FFF2-40B4-BE49-F238E27FC236}">
                    <a16:creationId xmlns:a16="http://schemas.microsoft.com/office/drawing/2014/main" id="{25E9B68B-DB11-EF5A-8A66-E5FF7CFC859D}"/>
                  </a:ext>
                </a:extLst>
              </p:cNvPr>
              <p:cNvSpPr/>
              <p:nvPr/>
            </p:nvSpPr>
            <p:spPr>
              <a:xfrm>
                <a:off x="9544050" y="10393877"/>
                <a:ext cx="7760303" cy="1121868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t">
                <a:noAutofit/>
              </a:bodyPr>
              <a:lstStyle/>
              <a:p>
                <a:pPr marL="0" indent="0" algn="l">
                  <a:lnSpc>
                    <a:spcPct val="170000"/>
                  </a:lnSpc>
                  <a:buNone/>
                </a:pPr>
                <a:r>
                  <a:rPr lang="en-US" sz="2000" err="1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画面数を絞り、同じデザインを流用するなど、途中で運用ルールを調整した</a:t>
                </a:r>
                <a:r>
                  <a:rPr lang="en-US" sz="2000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。</a:t>
                </a:r>
                <a:br>
                  <a:rPr lang="en-US" sz="2000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</a:br>
                <a:r>
                  <a:rPr lang="en-US" sz="2000">
                    <a:solidFill>
                      <a:srgbClr val="3A3E55"/>
                    </a:solidFill>
                    <a:latin typeface="Meiryo UI" panose="020B0604030504040204" pitchFamily="50" charset="-128"/>
                    <a:ea typeface="Meiryo UI" panose="020B0604030504040204" pitchFamily="50" charset="-128"/>
                    <a:cs typeface="Arial" pitchFamily="34" charset="-120"/>
                  </a:rPr>
                  <a:t>AI のコストも設計対象になることを学んだ。</a:t>
                </a:r>
                <a:endParaRPr lang="en-US" sz="2000"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</p:grpSp>
        <p:sp>
          <p:nvSpPr>
            <p:cNvPr id="38" name="Text 6">
              <a:extLst>
                <a:ext uri="{FF2B5EF4-FFF2-40B4-BE49-F238E27FC236}">
                  <a16:creationId xmlns:a16="http://schemas.microsoft.com/office/drawing/2014/main" id="{33F6F017-6A3E-3803-9889-D04DFC604E30}"/>
                </a:ext>
              </a:extLst>
            </p:cNvPr>
            <p:cNvSpPr/>
            <p:nvPr/>
          </p:nvSpPr>
          <p:spPr>
            <a:xfrm>
              <a:off x="1145088" y="10388561"/>
              <a:ext cx="353187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altLang="ja-JP" sz="2000" b="1"/>
                <a:t>AI</a:t>
              </a:r>
              <a:r>
                <a:rPr lang="ja-JP" altLang="en-US" sz="2000" b="1"/>
                <a:t>開発の感想</a:t>
              </a:r>
              <a:endParaRPr lang="en-US" sz="2000" b="1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グループ化 93">
            <a:extLst>
              <a:ext uri="{FF2B5EF4-FFF2-40B4-BE49-F238E27FC236}">
                <a16:creationId xmlns:a16="http://schemas.microsoft.com/office/drawing/2014/main" id="{DB5BC20D-9EE3-BBEE-57A0-E23CC40EC33B}"/>
              </a:ext>
            </a:extLst>
          </p:cNvPr>
          <p:cNvGrpSpPr/>
          <p:nvPr/>
        </p:nvGrpSpPr>
        <p:grpSpPr>
          <a:xfrm>
            <a:off x="4876800" y="7989688"/>
            <a:ext cx="12617482" cy="912019"/>
            <a:chOff x="4876800" y="7989688"/>
            <a:chExt cx="12617482" cy="912019"/>
          </a:xfrm>
        </p:grpSpPr>
        <p:sp>
          <p:nvSpPr>
            <p:cNvPr id="74" name="Shape 52">
              <a:extLst>
                <a:ext uri="{FF2B5EF4-FFF2-40B4-BE49-F238E27FC236}">
                  <a16:creationId xmlns:a16="http://schemas.microsoft.com/office/drawing/2014/main" id="{8DB0A449-30F9-1510-2A73-FF412F55BFDD}"/>
                </a:ext>
              </a:extLst>
            </p:cNvPr>
            <p:cNvSpPr/>
            <p:nvPr/>
          </p:nvSpPr>
          <p:spPr>
            <a:xfrm>
              <a:off x="4876800" y="7989688"/>
              <a:ext cx="12496800" cy="912019"/>
            </a:xfrm>
            <a:prstGeom prst="rect">
              <a:avLst/>
            </a:prstGeom>
            <a:solidFill>
              <a:srgbClr val="FFFFFF"/>
            </a:solidFill>
            <a:ln/>
          </p:spPr>
          <p:txBody>
            <a:bodyPr>
              <a:noAutofit/>
            </a:bodyPr>
            <a:lstStyle/>
            <a:p>
              <a:endParaRPr lang="ja-JP" altLang="en-US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81" name="Shape 55">
              <a:extLst>
                <a:ext uri="{FF2B5EF4-FFF2-40B4-BE49-F238E27FC236}">
                  <a16:creationId xmlns:a16="http://schemas.microsoft.com/office/drawing/2014/main" id="{2B7F4561-472B-02EB-1552-E3B9D28E7F35}"/>
                </a:ext>
              </a:extLst>
            </p:cNvPr>
            <p:cNvSpPr/>
            <p:nvPr/>
          </p:nvSpPr>
          <p:spPr>
            <a:xfrm>
              <a:off x="4876800" y="7989688"/>
              <a:ext cx="38100" cy="912019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txBody>
            <a:bodyPr>
              <a:noAutofit/>
            </a:bodyPr>
            <a:lstStyle/>
            <a:p>
              <a:endParaRPr lang="ja-JP" altLang="en-US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83" name="Text 57">
              <a:extLst>
                <a:ext uri="{FF2B5EF4-FFF2-40B4-BE49-F238E27FC236}">
                  <a16:creationId xmlns:a16="http://schemas.microsoft.com/office/drawing/2014/main" id="{00370BF0-A075-77CA-8F49-DD9E34E1B028}"/>
                </a:ext>
              </a:extLst>
            </p:cNvPr>
            <p:cNvSpPr/>
            <p:nvPr/>
          </p:nvSpPr>
          <p:spPr>
            <a:xfrm>
              <a:off x="5124450" y="8170663"/>
              <a:ext cx="609600" cy="588169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2100" b="1">
                  <a:solidFill>
                    <a:srgbClr val="C00000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Courier New" pitchFamily="34" charset="-120"/>
                </a:rPr>
                <a:t>04</a:t>
              </a:r>
              <a:endParaRPr lang="en-US" sz="2100">
                <a:solidFill>
                  <a:srgbClr val="C00000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84" name="Text 58">
              <a:extLst>
                <a:ext uri="{FF2B5EF4-FFF2-40B4-BE49-F238E27FC236}">
                  <a16:creationId xmlns:a16="http://schemas.microsoft.com/office/drawing/2014/main" id="{57939FA1-138A-3082-D99D-2B35C84409CA}"/>
                </a:ext>
              </a:extLst>
            </p:cNvPr>
            <p:cNvSpPr/>
            <p:nvPr/>
          </p:nvSpPr>
          <p:spPr>
            <a:xfrm>
              <a:off x="5829300" y="8170663"/>
              <a:ext cx="11412000" cy="314325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buNone/>
              </a:pPr>
              <a:r>
                <a:rPr lang="en-US" sz="1500" b="1" err="1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赤は最重要</a:t>
              </a:r>
              <a:r>
                <a:rPr lang="en-US" sz="1500" b="1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/</a:t>
              </a:r>
              <a:r>
                <a:rPr lang="ja-JP" altLang="en-US" sz="1500" b="1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アクション</a:t>
              </a:r>
              <a:r>
                <a:rPr lang="en-US" sz="1500" b="1" err="1">
                  <a:solidFill>
                    <a:srgbClr val="15182A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だけ</a:t>
              </a:r>
              <a:endParaRPr lang="en-US" sz="1500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85" name="Text 59">
              <a:extLst>
                <a:ext uri="{FF2B5EF4-FFF2-40B4-BE49-F238E27FC236}">
                  <a16:creationId xmlns:a16="http://schemas.microsoft.com/office/drawing/2014/main" id="{14BC0B16-2AFB-2B3E-7639-C65632596763}"/>
                </a:ext>
              </a:extLst>
            </p:cNvPr>
            <p:cNvSpPr/>
            <p:nvPr/>
          </p:nvSpPr>
          <p:spPr>
            <a:xfrm>
              <a:off x="5829300" y="8484988"/>
              <a:ext cx="11664982" cy="27384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>
              <a:noAutofit/>
            </a:bodyPr>
            <a:lstStyle/>
            <a:p>
              <a:pPr marL="0" indent="0" algn="l">
                <a:lnSpc>
                  <a:spcPct val="165000"/>
                </a:lnSpc>
                <a:buNone/>
              </a:pPr>
              <a:r>
                <a:rPr lang="en-US" sz="1125">
                  <a:solidFill>
                    <a:srgbClr val="3A3E55"/>
                  </a:solidFill>
                  <a:latin typeface="Meiryo UI" panose="020B0604030504040204" pitchFamily="50" charset="-128"/>
                  <a:ea typeface="Meiryo UI" panose="020B0604030504040204" pitchFamily="50" charset="-128"/>
                  <a:cs typeface="Arial" pitchFamily="34" charset="-120"/>
                </a:rPr>
                <a:t>jpt-red はリスク・CTA・最重要キーワードに限定。多用しない。通常のアクセントは amber / cyan で取る。</a:t>
              </a:r>
              <a:endParaRPr lang="en-US" sz="1125"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sp>
        <p:nvSpPr>
          <p:cNvPr id="77" name="Shape 36">
            <a:extLst>
              <a:ext uri="{FF2B5EF4-FFF2-40B4-BE49-F238E27FC236}">
                <a16:creationId xmlns:a16="http://schemas.microsoft.com/office/drawing/2014/main" id="{1BC8D57C-9888-0BC8-6005-618F3FFBC68B}"/>
              </a:ext>
            </a:extLst>
          </p:cNvPr>
          <p:cNvSpPr/>
          <p:nvPr/>
        </p:nvSpPr>
        <p:spPr>
          <a:xfrm>
            <a:off x="11637336" y="1210271"/>
            <a:ext cx="5856946" cy="3281362"/>
          </a:xfrm>
          <a:prstGeom prst="rect">
            <a:avLst/>
          </a:prstGeom>
          <a:solidFill>
            <a:srgbClr val="FFFFFF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2" name="Shape 36">
            <a:extLst>
              <a:ext uri="{FF2B5EF4-FFF2-40B4-BE49-F238E27FC236}">
                <a16:creationId xmlns:a16="http://schemas.microsoft.com/office/drawing/2014/main" id="{E8916F68-77E6-2EDB-FE6E-6B49947D1DA7}"/>
              </a:ext>
            </a:extLst>
          </p:cNvPr>
          <p:cNvSpPr/>
          <p:nvPr/>
        </p:nvSpPr>
        <p:spPr>
          <a:xfrm>
            <a:off x="11826240" y="1819573"/>
            <a:ext cx="2667000" cy="2464891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3" name="Shape 36">
            <a:extLst>
              <a:ext uri="{FF2B5EF4-FFF2-40B4-BE49-F238E27FC236}">
                <a16:creationId xmlns:a16="http://schemas.microsoft.com/office/drawing/2014/main" id="{ADA2D452-7CAF-4593-D382-8678AF0F5D08}"/>
              </a:ext>
            </a:extLst>
          </p:cNvPr>
          <p:cNvSpPr/>
          <p:nvPr/>
        </p:nvSpPr>
        <p:spPr>
          <a:xfrm>
            <a:off x="14679311" y="1819573"/>
            <a:ext cx="2667000" cy="2464891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75" name="図 74">
            <a:extLst>
              <a:ext uri="{FF2B5EF4-FFF2-40B4-BE49-F238E27FC236}">
                <a16:creationId xmlns:a16="http://schemas.microsoft.com/office/drawing/2014/main" id="{F6304B97-D449-A573-CA50-7D6A7835F5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073" r="13281"/>
          <a:stretch>
            <a:fillRect/>
          </a:stretch>
        </p:blipFill>
        <p:spPr>
          <a:xfrm>
            <a:off x="12145255" y="2710756"/>
            <a:ext cx="2196465" cy="1355382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8288000" cy="57150"/>
          </a:xfrm>
          <a:prstGeom prst="rect">
            <a:avLst/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342900"/>
            <a:ext cx="185276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050" kern="0" spc="147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DESIGN POLICY · 00</a:t>
            </a:r>
            <a:endParaRPr lang="en-US" sz="10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Text 3"/>
          <p:cNvSpPr/>
          <p:nvPr/>
        </p:nvSpPr>
        <p:spPr>
          <a:xfrm>
            <a:off x="943590" y="1116930"/>
            <a:ext cx="3775587" cy="380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Autofit/>
          </a:bodyPr>
          <a:lstStyle/>
          <a:p>
            <a:pPr marL="0" indent="0" algn="l">
              <a:buNone/>
            </a:pPr>
            <a:r>
              <a:rPr lang="ja-JP" altLang="en-US" b="1" kern="0" spc="230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プレゼン資料用プロンプト</a:t>
            </a:r>
            <a:endParaRPr 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1635448"/>
            <a:ext cx="10791825" cy="14781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ja-JP" alt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デザイン</a:t>
            </a:r>
            <a:r>
              <a:rPr lang="en-US" sz="5400" b="1" kern="0" spc="-81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方針</a:t>
            </a:r>
            <a:r>
              <a:rPr lang="ja-JP" altLang="en-US" sz="5400" b="1" kern="0" spc="-8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作成→確認→資料作成</a:t>
            </a:r>
            <a:endParaRPr lang="en-US" sz="5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" name="Text 5"/>
          <p:cNvSpPr/>
          <p:nvPr/>
        </p:nvSpPr>
        <p:spPr>
          <a:xfrm>
            <a:off x="914400" y="2735461"/>
            <a:ext cx="9828000" cy="9179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70000"/>
              </a:lnSpc>
              <a:buNone/>
            </a:pPr>
            <a:r>
              <a:rPr lang="en-US" sz="24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JPT</a:t>
            </a:r>
            <a:r>
              <a:rPr lang="ja-JP" altLang="en-US" sz="24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altLang="ja-JP" sz="24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HP</a:t>
            </a:r>
            <a:r>
              <a:rPr lang="en-US" sz="24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から</a:t>
            </a:r>
            <a:r>
              <a:rPr lang="en-US" sz="2400" b="1" err="1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cyan→blue→indigo</a:t>
            </a:r>
            <a:r>
              <a:rPr lang="en-US" sz="24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のグラデーションと</a:t>
            </a:r>
            <a:r>
              <a:rPr lang="en-US" sz="2400" b="1" err="1">
                <a:solidFill>
                  <a:srgbClr val="C686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amber</a:t>
            </a:r>
            <a:r>
              <a:rPr lang="en-US" sz="2400" b="1">
                <a:solidFill>
                  <a:srgbClr val="C686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sz="24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を抽出</a:t>
            </a:r>
            <a:r>
              <a:rPr lang="en-US" sz="24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br>
              <a:rPr lang="en-US" sz="24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</a:br>
            <a:r>
              <a:rPr lang="ja-JP" altLang="en-US" sz="24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最重要・</a:t>
            </a:r>
            <a:r>
              <a:rPr lang="en-US" sz="24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CTA/</a:t>
            </a:r>
            <a:r>
              <a:rPr lang="en-US" sz="2400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アクションだけに</a:t>
            </a:r>
            <a:r>
              <a:rPr lang="en-US" sz="24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 </a:t>
            </a:r>
            <a:r>
              <a:rPr lang="en-US" sz="2400" b="1">
                <a:solidFill>
                  <a:srgbClr val="E60013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red #E60013</a:t>
            </a:r>
            <a:r>
              <a:rPr lang="en-US" sz="2400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を割り当てる。</a:t>
            </a:r>
            <a:endParaRPr lang="en-US" sz="24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68639" y="2786956"/>
            <a:ext cx="1390352" cy="13903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4243983"/>
            <a:ext cx="353187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50" b="1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カラ</a:t>
            </a:r>
            <a:r>
              <a:rPr lang="en-US" sz="16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ー</a:t>
            </a:r>
            <a:r>
              <a:rPr lang="ja-JP" altLang="en-US" sz="16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ガイド</a:t>
            </a:r>
            <a:endParaRPr lang="en-US" sz="16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914400" y="4682133"/>
            <a:ext cx="3429000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1057275" y="4786908"/>
            <a:ext cx="342900" cy="342900"/>
          </a:xfrm>
          <a:prstGeom prst="roundRect">
            <a:avLst>
              <a:gd name="adj" fmla="val 11111"/>
            </a:avLst>
          </a:prstGeom>
          <a:solidFill>
            <a:srgbClr val="2F2E6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533525" y="4858345"/>
            <a:ext cx="20896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jpt-indigo</a:t>
            </a:r>
            <a:endParaRPr lang="en-US" sz="1125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2875280" y="4866600"/>
            <a:ext cx="126936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#2F2E6E</a:t>
            </a:r>
            <a:endParaRPr lang="en-US" sz="1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914400" y="5329833"/>
            <a:ext cx="3429000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1057275" y="5434608"/>
            <a:ext cx="342900" cy="342900"/>
          </a:xfrm>
          <a:prstGeom prst="roundRect">
            <a:avLst>
              <a:gd name="adj" fmla="val 11111"/>
            </a:avLst>
          </a:prstGeom>
          <a:solidFill>
            <a:srgbClr val="0064A0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533525" y="5506045"/>
            <a:ext cx="20896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jpt-blue</a:t>
            </a:r>
            <a:endParaRPr lang="en-US" sz="1125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2875280" y="5514300"/>
            <a:ext cx="126936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#0064A0</a:t>
            </a:r>
            <a:endParaRPr lang="en-US" sz="1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914400" y="5977533"/>
            <a:ext cx="3429000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1057275" y="6082308"/>
            <a:ext cx="342900" cy="342900"/>
          </a:xfrm>
          <a:prstGeom prst="roundRect">
            <a:avLst>
              <a:gd name="adj" fmla="val 11111"/>
            </a:avLst>
          </a:prstGeom>
          <a:solidFill>
            <a:srgbClr val="14A0B4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1533525" y="6153745"/>
            <a:ext cx="20896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jpt-cyan</a:t>
            </a:r>
            <a:endParaRPr lang="en-US" sz="1125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2875280" y="6162000"/>
            <a:ext cx="126936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#14A0B4</a:t>
            </a:r>
            <a:endParaRPr lang="en-US" sz="1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2" name="Shape 19"/>
          <p:cNvSpPr/>
          <p:nvPr/>
        </p:nvSpPr>
        <p:spPr>
          <a:xfrm>
            <a:off x="914400" y="6625233"/>
            <a:ext cx="3429000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1057275" y="6730008"/>
            <a:ext cx="342900" cy="342900"/>
          </a:xfrm>
          <a:prstGeom prst="roundRect">
            <a:avLst>
              <a:gd name="adj" fmla="val 11111"/>
            </a:avLst>
          </a:prstGeom>
          <a:solidFill>
            <a:srgbClr val="E5A330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1533525" y="6801445"/>
            <a:ext cx="20896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jpt-amber</a:t>
            </a:r>
            <a:endParaRPr lang="en-US" sz="1125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2875280" y="6809700"/>
            <a:ext cx="126936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#E5A330</a:t>
            </a:r>
            <a:endParaRPr lang="en-US" sz="1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6" name="Shape 23"/>
          <p:cNvSpPr/>
          <p:nvPr/>
        </p:nvSpPr>
        <p:spPr>
          <a:xfrm>
            <a:off x="914400" y="7272933"/>
            <a:ext cx="3429000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7" name="Shape 24"/>
          <p:cNvSpPr/>
          <p:nvPr/>
        </p:nvSpPr>
        <p:spPr>
          <a:xfrm>
            <a:off x="1057275" y="7377708"/>
            <a:ext cx="342900" cy="342900"/>
          </a:xfrm>
          <a:prstGeom prst="roundRect">
            <a:avLst>
              <a:gd name="adj" fmla="val 11111"/>
            </a:avLst>
          </a:prstGeom>
          <a:solidFill>
            <a:srgbClr val="E60013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1533525" y="7449145"/>
            <a:ext cx="20896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jpt-red ★CTA</a:t>
            </a:r>
            <a:endParaRPr lang="en-US" sz="1125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2875280" y="7457400"/>
            <a:ext cx="126936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#E60013</a:t>
            </a:r>
            <a:endParaRPr lang="en-US" sz="1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0" name="Shape 27"/>
          <p:cNvSpPr/>
          <p:nvPr/>
        </p:nvSpPr>
        <p:spPr>
          <a:xfrm>
            <a:off x="914400" y="7920633"/>
            <a:ext cx="3429000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1" name="Shape 28"/>
          <p:cNvSpPr/>
          <p:nvPr/>
        </p:nvSpPr>
        <p:spPr>
          <a:xfrm>
            <a:off x="1057275" y="8025408"/>
            <a:ext cx="342900" cy="342900"/>
          </a:xfrm>
          <a:prstGeom prst="roundRect">
            <a:avLst>
              <a:gd name="adj" fmla="val 11111"/>
            </a:avLst>
          </a:prstGeom>
          <a:solidFill>
            <a:srgbClr val="FAF8F3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1533525" y="8096845"/>
            <a:ext cx="20896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paper</a:t>
            </a:r>
            <a:endParaRPr lang="en-US" sz="1125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2875280" y="8105100"/>
            <a:ext cx="126936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#FAF8F3</a:t>
            </a:r>
            <a:endParaRPr lang="en-US" sz="1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4" name="Shape 31"/>
          <p:cNvSpPr/>
          <p:nvPr/>
        </p:nvSpPr>
        <p:spPr>
          <a:xfrm>
            <a:off x="914400" y="8568333"/>
            <a:ext cx="3429000" cy="552450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9525">
            <a:solidFill>
              <a:srgbClr val="DCD8CE"/>
            </a:solidFill>
            <a:prstDash val="solid"/>
          </a:ln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1057275" y="8673108"/>
            <a:ext cx="342900" cy="342900"/>
          </a:xfrm>
          <a:prstGeom prst="roundRect">
            <a:avLst>
              <a:gd name="adj" fmla="val 11111"/>
            </a:avLst>
          </a:prstGeom>
          <a:solidFill>
            <a:srgbClr val="15182A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1533525" y="8744545"/>
            <a:ext cx="208969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125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ink</a:t>
            </a:r>
            <a:endParaRPr lang="en-US" sz="1125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2875280" y="8752800"/>
            <a:ext cx="126936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600">
                <a:solidFill>
                  <a:srgbClr val="6F7388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#15182A</a:t>
            </a:r>
            <a:endParaRPr lang="en-US" sz="16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4876800" y="4243983"/>
            <a:ext cx="1287170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altLang="ja-JP" sz="16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5</a:t>
            </a:r>
            <a:r>
              <a:rPr lang="en-US" sz="165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つの原則</a:t>
            </a:r>
            <a:endParaRPr lang="en-US" sz="165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4876800" y="4682133"/>
            <a:ext cx="12496800" cy="912019"/>
          </a:xfrm>
          <a:prstGeom prst="rect">
            <a:avLst/>
          </a:prstGeom>
          <a:solidFill>
            <a:srgbClr val="FFFFFF"/>
          </a:solidFill>
          <a:ln/>
        </p:spPr>
        <p:txBody>
          <a:bodyPr>
            <a:noAutofit/>
          </a:bodyPr>
          <a:lstStyle/>
          <a:p>
            <a:endParaRPr lang="ja-JP" altLang="en-US">
              <a:solidFill>
                <a:srgbClr val="002E6E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0" name="Shape 37"/>
          <p:cNvSpPr/>
          <p:nvPr/>
        </p:nvSpPr>
        <p:spPr>
          <a:xfrm>
            <a:off x="4876800" y="5584627"/>
            <a:ext cx="124968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4876800" y="4682133"/>
            <a:ext cx="124968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2" name="Shape 39"/>
          <p:cNvSpPr/>
          <p:nvPr/>
        </p:nvSpPr>
        <p:spPr>
          <a:xfrm>
            <a:off x="4876800" y="4682133"/>
            <a:ext cx="38100" cy="912019"/>
          </a:xfrm>
          <a:prstGeom prst="rect">
            <a:avLst/>
          </a:prstGeom>
          <a:solidFill>
            <a:srgbClr val="0064A0"/>
          </a:solidFill>
          <a:ln>
            <a:solidFill>
              <a:srgbClr val="002E6E"/>
            </a:solidFill>
          </a:ln>
        </p:spPr>
        <p:txBody>
          <a:bodyPr>
            <a:noAutofit/>
          </a:bodyPr>
          <a:lstStyle/>
          <a:p>
            <a:endParaRPr lang="ja-JP" altLang="en-US">
              <a:solidFill>
                <a:srgbClr val="002E6E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17364075" y="4682133"/>
            <a:ext cx="9525" cy="912019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5124450" y="4863108"/>
            <a:ext cx="609600" cy="588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>
                <a:solidFill>
                  <a:srgbClr val="002E6E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01</a:t>
            </a:r>
            <a:endParaRPr lang="en-US" sz="2100">
              <a:solidFill>
                <a:srgbClr val="002E6E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5829300" y="4863108"/>
            <a:ext cx="113760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5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ブランドは構造で表現する</a:t>
            </a:r>
            <a:endParaRPr lang="en-US" sz="15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5829300" y="5177433"/>
            <a:ext cx="11664982" cy="273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1125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ロゴの「点を糸で繋ぐ」モチーフを、承認フローや「分断→一元化」の表現に転用。色は塗りより線・罫線で語る。</a:t>
            </a:r>
            <a:endParaRPr lang="en-US" sz="1125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7" name="Shape 44"/>
          <p:cNvSpPr/>
          <p:nvPr/>
        </p:nvSpPr>
        <p:spPr>
          <a:xfrm>
            <a:off x="4876800" y="5784652"/>
            <a:ext cx="12496800" cy="912019"/>
          </a:xfrm>
          <a:prstGeom prst="rect">
            <a:avLst/>
          </a:prstGeom>
          <a:solidFill>
            <a:srgbClr val="FFFFFF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8" name="Shape 45"/>
          <p:cNvSpPr/>
          <p:nvPr/>
        </p:nvSpPr>
        <p:spPr>
          <a:xfrm>
            <a:off x="4876800" y="6687145"/>
            <a:ext cx="124968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9" name="Shape 46"/>
          <p:cNvSpPr/>
          <p:nvPr/>
        </p:nvSpPr>
        <p:spPr>
          <a:xfrm>
            <a:off x="4876800" y="5784652"/>
            <a:ext cx="124968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0" name="Shape 47"/>
          <p:cNvSpPr/>
          <p:nvPr/>
        </p:nvSpPr>
        <p:spPr>
          <a:xfrm>
            <a:off x="4876800" y="5784652"/>
            <a:ext cx="38100" cy="912019"/>
          </a:xfrm>
          <a:prstGeom prst="rect">
            <a:avLst/>
          </a:prstGeom>
          <a:solidFill>
            <a:srgbClr val="0064A0"/>
          </a:solidFill>
          <a:ln>
            <a:solidFill>
              <a:srgbClr val="0064A0"/>
            </a:solidFill>
          </a:ln>
        </p:spPr>
        <p:txBody>
          <a:bodyPr>
            <a:noAutofit/>
          </a:bodyPr>
          <a:lstStyle/>
          <a:p>
            <a:endParaRPr lang="ja-JP" altLang="en-US">
              <a:solidFill>
                <a:srgbClr val="0064A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1" name="Shape 48"/>
          <p:cNvSpPr/>
          <p:nvPr/>
        </p:nvSpPr>
        <p:spPr>
          <a:xfrm>
            <a:off x="17364075" y="5784652"/>
            <a:ext cx="9525" cy="912019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2" name="Text 49"/>
          <p:cNvSpPr/>
          <p:nvPr/>
        </p:nvSpPr>
        <p:spPr>
          <a:xfrm>
            <a:off x="5124450" y="5965627"/>
            <a:ext cx="609600" cy="588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>
                <a:solidFill>
                  <a:srgbClr val="0064A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02</a:t>
            </a:r>
            <a:endParaRPr lang="en-US" sz="2100">
              <a:solidFill>
                <a:srgbClr val="0064A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5829300" y="5965627"/>
            <a:ext cx="114480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en-US" sz="15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余白と大型数字で密度を制御</a:t>
            </a:r>
            <a:endParaRPr lang="en-US" sz="15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4" name="Text 51"/>
          <p:cNvSpPr/>
          <p:nvPr/>
        </p:nvSpPr>
        <p:spPr>
          <a:xfrm>
            <a:off x="5829300" y="6279952"/>
            <a:ext cx="11664982" cy="273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en-US" sz="1125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1920×1080 / 8カラム / 余白80pxを基準。情報量の多いスライドでも、見出し・数字・本文の3階層で読み順を作る。</a:t>
            </a:r>
            <a:endParaRPr lang="en-US" sz="1125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5" name="Shape 52"/>
          <p:cNvSpPr/>
          <p:nvPr/>
        </p:nvSpPr>
        <p:spPr>
          <a:xfrm>
            <a:off x="4876800" y="6887170"/>
            <a:ext cx="12496800" cy="912019"/>
          </a:xfrm>
          <a:prstGeom prst="rect">
            <a:avLst/>
          </a:prstGeom>
          <a:solidFill>
            <a:srgbClr val="FFFFFF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6" name="Shape 53"/>
          <p:cNvSpPr/>
          <p:nvPr/>
        </p:nvSpPr>
        <p:spPr>
          <a:xfrm>
            <a:off x="4876800" y="7789664"/>
            <a:ext cx="124968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7" name="Shape 54"/>
          <p:cNvSpPr/>
          <p:nvPr/>
        </p:nvSpPr>
        <p:spPr>
          <a:xfrm>
            <a:off x="4876800" y="6887170"/>
            <a:ext cx="124968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8" name="Shape 55"/>
          <p:cNvSpPr/>
          <p:nvPr/>
        </p:nvSpPr>
        <p:spPr>
          <a:xfrm>
            <a:off x="4876800" y="6887170"/>
            <a:ext cx="38100" cy="912019"/>
          </a:xfrm>
          <a:prstGeom prst="rect">
            <a:avLst/>
          </a:prstGeom>
          <a:solidFill>
            <a:srgbClr val="14A0B4"/>
          </a:solidFill>
          <a:ln>
            <a:solidFill>
              <a:srgbClr val="14A0B4"/>
            </a:solidFill>
          </a:ln>
        </p:spPr>
        <p:txBody>
          <a:bodyPr>
            <a:noAutofit/>
          </a:bodyPr>
          <a:lstStyle/>
          <a:p>
            <a:endParaRPr lang="ja-JP" altLang="en-US">
              <a:solidFill>
                <a:srgbClr val="14A0B4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9" name="Shape 56"/>
          <p:cNvSpPr/>
          <p:nvPr/>
        </p:nvSpPr>
        <p:spPr>
          <a:xfrm>
            <a:off x="17364075" y="6887170"/>
            <a:ext cx="9525" cy="912019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0" name="Text 57"/>
          <p:cNvSpPr/>
          <p:nvPr/>
        </p:nvSpPr>
        <p:spPr>
          <a:xfrm>
            <a:off x="5124450" y="7068145"/>
            <a:ext cx="609600" cy="588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>
                <a:solidFill>
                  <a:srgbClr val="14A0B4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03</a:t>
            </a:r>
            <a:endParaRPr lang="en-US" sz="2100">
              <a:solidFill>
                <a:srgbClr val="14A0B4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1" name="Text 58"/>
          <p:cNvSpPr/>
          <p:nvPr/>
        </p:nvSpPr>
        <p:spPr>
          <a:xfrm>
            <a:off x="5829300" y="7068145"/>
            <a:ext cx="114120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r>
              <a:rPr lang="en-US" altLang="ja-JP" sz="1500" b="1" err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装飾より</a:t>
            </a:r>
            <a:r>
              <a:rPr lang="ja-JP" altLang="en-US" sz="15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階層構造</a:t>
            </a:r>
            <a:endParaRPr lang="en-US" altLang="ja-JP" sz="15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Text 59"/>
          <p:cNvSpPr/>
          <p:nvPr/>
        </p:nvSpPr>
        <p:spPr>
          <a:xfrm>
            <a:off x="5829300" y="7382470"/>
            <a:ext cx="11664982" cy="273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>
              <a:lnSpc>
                <a:spcPct val="165000"/>
              </a:lnSpc>
            </a:pPr>
            <a:r>
              <a:rPr lang="en-US" altLang="ja-JP" sz="1125" err="1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絵文字・無闇なグラデ・AI生成風アイコンを避ける。タイポ階層・罫線・カードで構造を見せ、提出物としての信頼感を担保</a:t>
            </a:r>
            <a:r>
              <a:rPr lang="en-US" altLang="ja-JP" sz="1125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。</a:t>
            </a:r>
            <a:endParaRPr lang="en-US" altLang="ja-JP" sz="1125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4" name="Shape 61"/>
          <p:cNvSpPr/>
          <p:nvPr/>
        </p:nvSpPr>
        <p:spPr>
          <a:xfrm>
            <a:off x="4876800" y="8892183"/>
            <a:ext cx="124968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5" name="Shape 62"/>
          <p:cNvSpPr/>
          <p:nvPr/>
        </p:nvSpPr>
        <p:spPr>
          <a:xfrm>
            <a:off x="4876800" y="7989689"/>
            <a:ext cx="124968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7" name="Shape 64"/>
          <p:cNvSpPr/>
          <p:nvPr/>
        </p:nvSpPr>
        <p:spPr>
          <a:xfrm>
            <a:off x="17364075" y="7989689"/>
            <a:ext cx="9525" cy="912019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1" name="Text 1">
            <a:extLst>
              <a:ext uri="{FF2B5EF4-FFF2-40B4-BE49-F238E27FC236}">
                <a16:creationId xmlns:a16="http://schemas.microsoft.com/office/drawing/2014/main" id="{0F6652B5-3167-15DC-7F70-F024688EFAA1}"/>
              </a:ext>
            </a:extLst>
          </p:cNvPr>
          <p:cNvSpPr/>
          <p:nvPr/>
        </p:nvSpPr>
        <p:spPr>
          <a:xfrm>
            <a:off x="914399" y="342899"/>
            <a:ext cx="2846439" cy="553343"/>
          </a:xfrm>
          <a:prstGeom prst="roundRect">
            <a:avLst>
              <a:gd name="adj" fmla="val 19332"/>
            </a:avLst>
          </a:prstGeom>
          <a:solidFill>
            <a:srgbClr val="E5A330"/>
          </a:solidFill>
          <a:ln/>
        </p:spPr>
        <p:txBody>
          <a:bodyPr wrap="square" lIns="25400" tIns="25400" rIns="25400" bIns="25400" rtlCol="0" anchor="ctr">
            <a:noAutofit/>
          </a:bodyPr>
          <a:lstStyle/>
          <a:p>
            <a:pPr algn="ctr"/>
            <a:r>
              <a:rPr lang="en-US" altLang="ja-JP" sz="2400">
                <a:solidFill>
                  <a:schemeClr val="bg1"/>
                </a:solidFill>
              </a:rPr>
              <a:t>Appendix </a:t>
            </a:r>
            <a:r>
              <a:rPr lang="ja-JP" altLang="en-US" sz="2400">
                <a:solidFill>
                  <a:schemeClr val="bg1"/>
                </a:solidFill>
              </a:rPr>
              <a:t>附録</a:t>
            </a:r>
            <a:endParaRPr lang="en-US" sz="2400" b="1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Text 16">
            <a:extLst>
              <a:ext uri="{FF2B5EF4-FFF2-40B4-BE49-F238E27FC236}">
                <a16:creationId xmlns:a16="http://schemas.microsoft.com/office/drawing/2014/main" id="{D7DC3961-5E1A-0AC9-B87A-8264212F4838}"/>
              </a:ext>
            </a:extLst>
          </p:cNvPr>
          <p:cNvSpPr/>
          <p:nvPr/>
        </p:nvSpPr>
        <p:spPr>
          <a:xfrm>
            <a:off x="12046315" y="1886396"/>
            <a:ext cx="2394347" cy="3699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ja-JP" altLang="en-US" b="1" kern="0" spc="176"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日揮ホールディングス</a:t>
            </a:r>
            <a:r>
              <a:rPr lang="en-US" altLang="ja-JP" b="1" kern="0" spc="176"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HP</a:t>
            </a:r>
            <a:r>
              <a:rPr lang="ja-JP" altLang="en-US" b="1" kern="0" spc="176"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より</a:t>
            </a:r>
            <a:endParaRPr lang="en-US" b="1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6" name="Text 16">
            <a:extLst>
              <a:ext uri="{FF2B5EF4-FFF2-40B4-BE49-F238E27FC236}">
                <a16:creationId xmlns:a16="http://schemas.microsoft.com/office/drawing/2014/main" id="{2F7B0E80-CEA0-CED4-A0C6-8AC772ED887E}"/>
              </a:ext>
            </a:extLst>
          </p:cNvPr>
          <p:cNvSpPr/>
          <p:nvPr/>
        </p:nvSpPr>
        <p:spPr>
          <a:xfrm>
            <a:off x="14815637" y="1886396"/>
            <a:ext cx="2394347" cy="3699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ja-JP" altLang="en-US" b="1" kern="0" spc="176"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日揮パラレルテクノロジーズ　</a:t>
            </a:r>
            <a:r>
              <a:rPr lang="en-US" altLang="ja-JP" b="1" kern="0" spc="176"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HP</a:t>
            </a:r>
            <a:r>
              <a:rPr lang="ja-JP" altLang="en-US" b="1" kern="0" spc="176"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より</a:t>
            </a:r>
            <a:endParaRPr lang="en-US" b="1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78" name="Text 6">
            <a:extLst>
              <a:ext uri="{FF2B5EF4-FFF2-40B4-BE49-F238E27FC236}">
                <a16:creationId xmlns:a16="http://schemas.microsoft.com/office/drawing/2014/main" id="{0A58E751-D028-0667-128A-CEEEDE4E7638}"/>
              </a:ext>
            </a:extLst>
          </p:cNvPr>
          <p:cNvSpPr/>
          <p:nvPr/>
        </p:nvSpPr>
        <p:spPr>
          <a:xfrm>
            <a:off x="11910243" y="1276946"/>
            <a:ext cx="353187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sz="2000" b="1"/>
              <a:t>参考</a:t>
            </a:r>
            <a:endParaRPr lang="en-US" sz="2000" b="1"/>
          </a:p>
        </p:txBody>
      </p:sp>
      <p:sp>
        <p:nvSpPr>
          <p:cNvPr id="79" name="Shape 53">
            <a:extLst>
              <a:ext uri="{FF2B5EF4-FFF2-40B4-BE49-F238E27FC236}">
                <a16:creationId xmlns:a16="http://schemas.microsoft.com/office/drawing/2014/main" id="{A29F5A78-2F80-791E-1810-89F00FB5CF55}"/>
              </a:ext>
            </a:extLst>
          </p:cNvPr>
          <p:cNvSpPr/>
          <p:nvPr/>
        </p:nvSpPr>
        <p:spPr>
          <a:xfrm>
            <a:off x="4876800" y="8892182"/>
            <a:ext cx="124968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0" name="Shape 54">
            <a:extLst>
              <a:ext uri="{FF2B5EF4-FFF2-40B4-BE49-F238E27FC236}">
                <a16:creationId xmlns:a16="http://schemas.microsoft.com/office/drawing/2014/main" id="{D358833E-6914-E3EA-3CE3-B75A31D2FC71}"/>
              </a:ext>
            </a:extLst>
          </p:cNvPr>
          <p:cNvSpPr/>
          <p:nvPr/>
        </p:nvSpPr>
        <p:spPr>
          <a:xfrm>
            <a:off x="4876800" y="7989688"/>
            <a:ext cx="124968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2" name="Shape 56">
            <a:extLst>
              <a:ext uri="{FF2B5EF4-FFF2-40B4-BE49-F238E27FC236}">
                <a16:creationId xmlns:a16="http://schemas.microsoft.com/office/drawing/2014/main" id="{895AD3F1-B601-B69F-BBEA-9248D19C441A}"/>
              </a:ext>
            </a:extLst>
          </p:cNvPr>
          <p:cNvSpPr/>
          <p:nvPr/>
        </p:nvSpPr>
        <p:spPr>
          <a:xfrm>
            <a:off x="17364075" y="7989688"/>
            <a:ext cx="9525" cy="912019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6" name="Shape 60">
            <a:extLst>
              <a:ext uri="{FF2B5EF4-FFF2-40B4-BE49-F238E27FC236}">
                <a16:creationId xmlns:a16="http://schemas.microsoft.com/office/drawing/2014/main" id="{EA9A6C20-D830-D0F5-31ED-7FC6E31641DB}"/>
              </a:ext>
            </a:extLst>
          </p:cNvPr>
          <p:cNvSpPr/>
          <p:nvPr/>
        </p:nvSpPr>
        <p:spPr>
          <a:xfrm>
            <a:off x="4876800" y="9092207"/>
            <a:ext cx="12496800" cy="912019"/>
          </a:xfrm>
          <a:prstGeom prst="rect">
            <a:avLst/>
          </a:prstGeom>
          <a:solidFill>
            <a:srgbClr val="FFFFFF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7" name="Shape 61">
            <a:extLst>
              <a:ext uri="{FF2B5EF4-FFF2-40B4-BE49-F238E27FC236}">
                <a16:creationId xmlns:a16="http://schemas.microsoft.com/office/drawing/2014/main" id="{0845A2A5-6193-829A-6CC7-32CD257CC9D4}"/>
              </a:ext>
            </a:extLst>
          </p:cNvPr>
          <p:cNvSpPr/>
          <p:nvPr/>
        </p:nvSpPr>
        <p:spPr>
          <a:xfrm>
            <a:off x="4876800" y="9994701"/>
            <a:ext cx="124968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8" name="Shape 62">
            <a:extLst>
              <a:ext uri="{FF2B5EF4-FFF2-40B4-BE49-F238E27FC236}">
                <a16:creationId xmlns:a16="http://schemas.microsoft.com/office/drawing/2014/main" id="{0EBB936A-4834-E154-CEF0-AE58F4FF9705}"/>
              </a:ext>
            </a:extLst>
          </p:cNvPr>
          <p:cNvSpPr/>
          <p:nvPr/>
        </p:nvSpPr>
        <p:spPr>
          <a:xfrm>
            <a:off x="4876800" y="9092207"/>
            <a:ext cx="12496800" cy="9525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89" name="Shape 63">
            <a:extLst>
              <a:ext uri="{FF2B5EF4-FFF2-40B4-BE49-F238E27FC236}">
                <a16:creationId xmlns:a16="http://schemas.microsoft.com/office/drawing/2014/main" id="{6723284D-4F9D-DED1-72D4-70544656916B}"/>
              </a:ext>
            </a:extLst>
          </p:cNvPr>
          <p:cNvSpPr/>
          <p:nvPr/>
        </p:nvSpPr>
        <p:spPr>
          <a:xfrm>
            <a:off x="4876800" y="9092207"/>
            <a:ext cx="38100" cy="912019"/>
          </a:xfrm>
          <a:prstGeom prst="rect">
            <a:avLst/>
          </a:prstGeom>
          <a:solidFill>
            <a:srgbClr val="E5A330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0" name="Shape 64">
            <a:extLst>
              <a:ext uri="{FF2B5EF4-FFF2-40B4-BE49-F238E27FC236}">
                <a16:creationId xmlns:a16="http://schemas.microsoft.com/office/drawing/2014/main" id="{3D7E3E15-AA47-4473-210C-45C40CF9D1E5}"/>
              </a:ext>
            </a:extLst>
          </p:cNvPr>
          <p:cNvSpPr/>
          <p:nvPr/>
        </p:nvSpPr>
        <p:spPr>
          <a:xfrm>
            <a:off x="17364075" y="9092207"/>
            <a:ext cx="9525" cy="912019"/>
          </a:xfrm>
          <a:prstGeom prst="rect">
            <a:avLst/>
          </a:prstGeom>
          <a:solidFill>
            <a:srgbClr val="DCD8CE"/>
          </a:solidFill>
          <a:ln/>
        </p:spPr>
        <p:txBody>
          <a:bodyPr>
            <a:noAutofit/>
          </a:bodyPr>
          <a:lstStyle/>
          <a:p>
            <a:endParaRPr lang="ja-JP" altLang="en-US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1" name="Text 65">
            <a:extLst>
              <a:ext uri="{FF2B5EF4-FFF2-40B4-BE49-F238E27FC236}">
                <a16:creationId xmlns:a16="http://schemas.microsoft.com/office/drawing/2014/main" id="{F4574212-E9F7-AA64-0B59-3AFB6828A441}"/>
              </a:ext>
            </a:extLst>
          </p:cNvPr>
          <p:cNvSpPr/>
          <p:nvPr/>
        </p:nvSpPr>
        <p:spPr>
          <a:xfrm>
            <a:off x="5124450" y="9273182"/>
            <a:ext cx="609600" cy="5881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100" b="1">
                <a:solidFill>
                  <a:srgbClr val="E5A330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Courier New" pitchFamily="34" charset="-120"/>
              </a:rPr>
              <a:t>05</a:t>
            </a:r>
            <a:endParaRPr lang="en-US" sz="2100">
              <a:solidFill>
                <a:srgbClr val="E5A330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2" name="Text 66">
            <a:extLst>
              <a:ext uri="{FF2B5EF4-FFF2-40B4-BE49-F238E27FC236}">
                <a16:creationId xmlns:a16="http://schemas.microsoft.com/office/drawing/2014/main" id="{C8EF3FC4-CEC8-471A-E354-9F9369BD0353}"/>
              </a:ext>
            </a:extLst>
          </p:cNvPr>
          <p:cNvSpPr/>
          <p:nvPr/>
        </p:nvSpPr>
        <p:spPr>
          <a:xfrm>
            <a:off x="5829300" y="9273182"/>
            <a:ext cx="114480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buNone/>
            </a:pPr>
            <a:r>
              <a:rPr lang="ja-JP" altLang="en-US" sz="1500" b="1">
                <a:solidFill>
                  <a:srgbClr val="15182A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アンバーは、アクセントに</a:t>
            </a:r>
            <a:endParaRPr lang="en-US" sz="150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93" name="Text 67">
            <a:extLst>
              <a:ext uri="{FF2B5EF4-FFF2-40B4-BE49-F238E27FC236}">
                <a16:creationId xmlns:a16="http://schemas.microsoft.com/office/drawing/2014/main" id="{C8AE427A-66BA-623A-4A6D-1DFDEDE5044F}"/>
              </a:ext>
            </a:extLst>
          </p:cNvPr>
          <p:cNvSpPr/>
          <p:nvPr/>
        </p:nvSpPr>
        <p:spPr>
          <a:xfrm>
            <a:off x="5829300" y="9587507"/>
            <a:ext cx="11664982" cy="273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65000"/>
              </a:lnSpc>
              <a:buNone/>
            </a:pPr>
            <a:r>
              <a:rPr lang="ja-JP" altLang="en-US" sz="1125">
                <a:solidFill>
                  <a:srgbClr val="3A3E55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itchFamily="34" charset="-120"/>
              </a:rPr>
              <a:t>重要な情報の近くにアクセントとして配置すうｒ　遊び心を表現</a:t>
            </a:r>
            <a:endParaRPr lang="en-US" sz="1125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02D0C04-37F9-490F-8850-BFFB021E2D2B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3e1e21be-e5de-49b7-bdf4-687c61e746b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5707</TotalTime>
  <Words>2566</Words>
  <Application>Microsoft Office PowerPoint</Application>
  <PresentationFormat>ユーザー設定</PresentationFormat>
  <Paragraphs>513</Paragraphs>
  <Slides>17</Slides>
  <Notes>17</Notes>
  <HiddenSlides>1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17</vt:i4>
      </vt:variant>
    </vt:vector>
  </HeadingPairs>
  <TitlesOfParts>
    <vt:vector size="21" baseType="lpstr">
      <vt:lpstr>Meiryo UI</vt:lpstr>
      <vt:lpstr>游ゴシック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rise190</cp:lastModifiedBy>
  <cp:revision>136</cp:revision>
  <cp:lastPrinted>2026-06-17T13:43:10Z</cp:lastPrinted>
  <dcterms:created xsi:type="dcterms:W3CDTF">2026-05-14T06:26:20Z</dcterms:created>
  <dcterms:modified xsi:type="dcterms:W3CDTF">2026-06-20T04:38:33Z</dcterms:modified>
</cp:coreProperties>
</file>